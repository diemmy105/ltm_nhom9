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8288000" cy="10287000"/>
  <p:notesSz cx="6858000" cy="9144000"/>
  <p:embeddedFontLst>
    <p:embeddedFont>
      <p:font typeface="Neo Sans" panose="020B0604020202020204" charset="0"/>
      <p:regular r:id="rId51"/>
    </p:embeddedFont>
    <p:embeddedFont>
      <p:font typeface="Neo Sans Bold" panose="020B0604020202020204" charset="0"/>
      <p:regular r:id="rId52"/>
    </p:embeddedFont>
    <p:embeddedFont>
      <p:font typeface="Neo Sans Bold Italics" panose="020B0604020202020204" charset="0"/>
      <p:regular r:id="rId53"/>
    </p:embeddedFont>
    <p:embeddedFont>
      <p:font typeface="Poppins" panose="00000500000000000000" pitchFamily="2" charset="0"/>
      <p:regular r:id="rId54"/>
    </p:embeddedFont>
    <p:embeddedFont>
      <p:font typeface="Poppins Bold" panose="020B0604020202020204" charset="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22" autoAdjust="0"/>
  </p:normalViewPr>
  <p:slideViewPr>
    <p:cSldViewPr>
      <p:cViewPr varScale="1">
        <p:scale>
          <a:sx n="60" d="100"/>
          <a:sy n="60" d="100"/>
        </p:scale>
        <p:origin x="37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7.svg"/></Relationships>
</file>

<file path=ppt/slides/_rels/slide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4.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a:stretch>
            </a:blipFill>
          </p:spPr>
          <p:txBody>
            <a:bodyPr/>
            <a:lstStyle/>
            <a:p>
              <a:endParaRPr lang="en-US"/>
            </a:p>
          </p:txBody>
        </p:sp>
      </p:grpSp>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E0FF">
                    <a:alpha val="55000"/>
                  </a:srgbClr>
                </a:gs>
                <a:gs pos="100000">
                  <a:srgbClr val="1E53A0">
                    <a:alpha val="55000"/>
                  </a:srgbClr>
                </a:gs>
              </a:gsLst>
              <a:path path="circle">
                <a:fillToRect l="50000" t="50000" r="50000" b="50000"/>
              </a:path>
            </a:gradFill>
          </p:spPr>
          <p:txBody>
            <a:bodyPr/>
            <a:lstStyle/>
            <a:p>
              <a:endParaRPr lang="en-US"/>
            </a:p>
          </p:txBody>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392"/>
                </a:lnSpc>
              </a:pPr>
              <a:endParaRPr/>
            </a:p>
          </p:txBody>
        </p:sp>
      </p:grpSp>
      <p:sp>
        <p:nvSpPr>
          <p:cNvPr id="7" name="Freeform 7"/>
          <p:cNvSpPr/>
          <p:nvPr/>
        </p:nvSpPr>
        <p:spPr>
          <a:xfrm flipH="1">
            <a:off x="15255366" y="2293091"/>
            <a:ext cx="4114800" cy="680812"/>
          </a:xfrm>
          <a:custGeom>
            <a:avLst/>
            <a:gdLst/>
            <a:ahLst/>
            <a:cxnLst/>
            <a:rect l="l" t="t" r="r" b="b"/>
            <a:pathLst>
              <a:path w="4114800" h="680812">
                <a:moveTo>
                  <a:pt x="4114800" y="0"/>
                </a:moveTo>
                <a:lnTo>
                  <a:pt x="0" y="0"/>
                </a:lnTo>
                <a:lnTo>
                  <a:pt x="0" y="680813"/>
                </a:lnTo>
                <a:lnTo>
                  <a:pt x="4114800" y="680813"/>
                </a:lnTo>
                <a:lnTo>
                  <a:pt x="41148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2684438" y="2404897"/>
            <a:ext cx="12222732" cy="3896868"/>
          </a:xfrm>
          <a:prstGeom prst="rect">
            <a:avLst/>
          </a:prstGeom>
        </p:spPr>
        <p:txBody>
          <a:bodyPr lIns="0" tIns="0" rIns="0" bIns="0" rtlCol="0" anchor="t">
            <a:spAutoFit/>
          </a:bodyPr>
          <a:lstStyle/>
          <a:p>
            <a:pPr algn="ctr">
              <a:lnSpc>
                <a:spcPts val="14279"/>
              </a:lnSpc>
            </a:pPr>
            <a:r>
              <a:rPr lang="en-US" sz="11899" b="1" dirty="0">
                <a:solidFill>
                  <a:srgbClr val="FFFFFF"/>
                </a:solidFill>
                <a:latin typeface="Neo Sans Bold"/>
                <a:ea typeface="Neo Sans Bold"/>
                <a:cs typeface="Neo Sans Bold"/>
                <a:sym typeface="Neo Sans Bold"/>
              </a:rPr>
              <a:t>CHAT TCP CLIENT–SERVER</a:t>
            </a:r>
          </a:p>
        </p:txBody>
      </p:sp>
      <p:sp>
        <p:nvSpPr>
          <p:cNvPr id="9" name="TextBox 9"/>
          <p:cNvSpPr txBox="1"/>
          <p:nvPr/>
        </p:nvSpPr>
        <p:spPr>
          <a:xfrm>
            <a:off x="2329942" y="6225565"/>
            <a:ext cx="12925424" cy="672846"/>
          </a:xfrm>
          <a:prstGeom prst="rect">
            <a:avLst/>
          </a:prstGeom>
        </p:spPr>
        <p:txBody>
          <a:bodyPr lIns="0" tIns="0" rIns="0" bIns="0" rtlCol="0" anchor="t">
            <a:spAutoFit/>
          </a:bodyPr>
          <a:lstStyle/>
          <a:p>
            <a:pPr algn="ctr">
              <a:lnSpc>
                <a:spcPts val="4679"/>
              </a:lnSpc>
            </a:pPr>
            <a:r>
              <a:rPr lang="en-US" sz="3899" b="1" i="1">
                <a:solidFill>
                  <a:srgbClr val="00FFFF"/>
                </a:solidFill>
                <a:latin typeface="Neo Sans Bold Italics"/>
                <a:ea typeface="Neo Sans Bold Italics"/>
                <a:cs typeface="Neo Sans Bold Italics"/>
                <a:sym typeface="Neo Sans Bold Italics"/>
              </a:rPr>
              <a:t>GROUP 9</a:t>
            </a:r>
          </a:p>
        </p:txBody>
      </p:sp>
      <p:sp>
        <p:nvSpPr>
          <p:cNvPr id="10" name="Freeform 10"/>
          <p:cNvSpPr/>
          <p:nvPr/>
        </p:nvSpPr>
        <p:spPr>
          <a:xfrm>
            <a:off x="-548267" y="8082674"/>
            <a:ext cx="4114800" cy="680812"/>
          </a:xfrm>
          <a:custGeom>
            <a:avLst/>
            <a:gdLst/>
            <a:ahLst/>
            <a:cxnLst/>
            <a:rect l="l" t="t" r="r" b="b"/>
            <a:pathLst>
              <a:path w="4114800" h="680812">
                <a:moveTo>
                  <a:pt x="0" y="0"/>
                </a:moveTo>
                <a:lnTo>
                  <a:pt x="4114800" y="0"/>
                </a:lnTo>
                <a:lnTo>
                  <a:pt x="4114800" y="680812"/>
                </a:lnTo>
                <a:lnTo>
                  <a:pt x="0" y="6808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7549687" y="7524128"/>
            <a:ext cx="12925424" cy="487313"/>
          </a:xfrm>
          <a:prstGeom prst="rect">
            <a:avLst/>
          </a:prstGeom>
        </p:spPr>
        <p:txBody>
          <a:bodyPr lIns="0" tIns="0" rIns="0" bIns="0" rtlCol="0" anchor="t">
            <a:spAutoFit/>
          </a:bodyPr>
          <a:lstStyle/>
          <a:p>
            <a:pPr algn="ctr">
              <a:lnSpc>
                <a:spcPts val="3840"/>
              </a:lnSpc>
            </a:pPr>
            <a:r>
              <a:rPr lang="en-US" sz="3200" b="1" dirty="0">
                <a:solidFill>
                  <a:srgbClr val="FFFFFF"/>
                </a:solidFill>
                <a:latin typeface="Arial" panose="020B0604020202020204" pitchFamily="34" charset="0"/>
                <a:ea typeface="Neo Sans Bold"/>
                <a:cs typeface="Arial" panose="020B0604020202020204" pitchFamily="34" charset="0"/>
                <a:sym typeface="Neo Sans Bold"/>
              </a:rPr>
              <a:t>GVHD: MAI NGỌC CHÂU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9002716">
            <a:off x="-5254607" y="-6443278"/>
            <a:ext cx="12888958" cy="9397222"/>
          </a:xfrm>
          <a:custGeom>
            <a:avLst/>
            <a:gdLst/>
            <a:ahLst/>
            <a:cxnLst/>
            <a:rect l="l" t="t" r="r" b="b"/>
            <a:pathLst>
              <a:path w="12888958" h="9397222">
                <a:moveTo>
                  <a:pt x="0" y="0"/>
                </a:moveTo>
                <a:lnTo>
                  <a:pt x="12888958" y="0"/>
                </a:lnTo>
                <a:lnTo>
                  <a:pt x="12888958" y="9397222"/>
                </a:lnTo>
                <a:lnTo>
                  <a:pt x="0" y="93972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b="1">
              <a:latin typeface="Alice"/>
            </a:endParaRPr>
          </a:p>
        </p:txBody>
      </p:sp>
      <p:sp>
        <p:nvSpPr>
          <p:cNvPr id="3" name="Freeform 3"/>
          <p:cNvSpPr/>
          <p:nvPr/>
        </p:nvSpPr>
        <p:spPr>
          <a:xfrm>
            <a:off x="605150" y="2390706"/>
            <a:ext cx="6423648" cy="6306855"/>
          </a:xfrm>
          <a:custGeom>
            <a:avLst/>
            <a:gdLst/>
            <a:ahLst/>
            <a:cxnLst/>
            <a:rect l="l" t="t" r="r" b="b"/>
            <a:pathLst>
              <a:path w="6423648" h="6306855">
                <a:moveTo>
                  <a:pt x="0" y="0"/>
                </a:moveTo>
                <a:lnTo>
                  <a:pt x="6423648" y="0"/>
                </a:lnTo>
                <a:lnTo>
                  <a:pt x="6423648" y="6306855"/>
                </a:lnTo>
                <a:lnTo>
                  <a:pt x="0" y="63068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b="1">
              <a:latin typeface="Alice"/>
            </a:endParaRPr>
          </a:p>
        </p:txBody>
      </p:sp>
      <p:grpSp>
        <p:nvGrpSpPr>
          <p:cNvPr id="4" name="Group 4"/>
          <p:cNvGrpSpPr/>
          <p:nvPr/>
        </p:nvGrpSpPr>
        <p:grpSpPr>
          <a:xfrm>
            <a:off x="1217243" y="2854274"/>
            <a:ext cx="5246370" cy="524637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53727" r="-18685"/>
              </a:stretch>
            </a:blipFill>
          </p:spPr>
          <p:txBody>
            <a:bodyPr/>
            <a:lstStyle/>
            <a:p>
              <a:endParaRPr lang="en-US" b="1">
                <a:latin typeface="Alice"/>
              </a:endParaRPr>
            </a:p>
          </p:txBody>
        </p:sp>
      </p:grpSp>
      <p:sp>
        <p:nvSpPr>
          <p:cNvPr id="6" name="TextBox 6"/>
          <p:cNvSpPr txBox="1"/>
          <p:nvPr/>
        </p:nvSpPr>
        <p:spPr>
          <a:xfrm>
            <a:off x="0" y="59055"/>
            <a:ext cx="8344894" cy="859210"/>
          </a:xfrm>
          <a:prstGeom prst="rect">
            <a:avLst/>
          </a:prstGeom>
        </p:spPr>
        <p:txBody>
          <a:bodyPr lIns="0" tIns="0" rIns="0" bIns="0" rtlCol="0" anchor="t">
            <a:spAutoFit/>
          </a:bodyPr>
          <a:lstStyle/>
          <a:p>
            <a:pPr algn="l">
              <a:lnSpc>
                <a:spcPts val="6720"/>
              </a:lnSpc>
            </a:pPr>
            <a:r>
              <a:rPr lang="en-US" sz="5600" b="1" dirty="0">
                <a:solidFill>
                  <a:srgbClr val="FFFFFF"/>
                </a:solidFill>
                <a:latin typeface="Alice"/>
                <a:ea typeface="Neo Sans Bold"/>
                <a:cs typeface="Neo Sans Bold"/>
                <a:sym typeface="Neo Sans Bold"/>
              </a:rPr>
              <a:t>THÔNG TIN DỰ ÁN</a:t>
            </a:r>
          </a:p>
        </p:txBody>
      </p:sp>
      <p:sp>
        <p:nvSpPr>
          <p:cNvPr id="7" name="TextBox 7"/>
          <p:cNvSpPr txBox="1"/>
          <p:nvPr/>
        </p:nvSpPr>
        <p:spPr>
          <a:xfrm>
            <a:off x="6118134" y="1224537"/>
            <a:ext cx="11887029" cy="3169714"/>
          </a:xfrm>
          <a:prstGeom prst="rect">
            <a:avLst/>
          </a:prstGeom>
        </p:spPr>
        <p:txBody>
          <a:bodyPr lIns="0" tIns="0" rIns="0" bIns="0" rtlCol="0" anchor="t">
            <a:spAutoFit/>
          </a:bodyPr>
          <a:lstStyle/>
          <a:p>
            <a:pPr marL="647698" lvl="1" indent="-323849" algn="l">
              <a:lnSpc>
                <a:spcPts val="4199"/>
              </a:lnSpc>
              <a:buFont typeface="Arial"/>
              <a:buChar char="•"/>
            </a:pPr>
            <a:r>
              <a:rPr lang="en-US" sz="2999" b="1" dirty="0" err="1">
                <a:solidFill>
                  <a:srgbClr val="FFFFFF"/>
                </a:solidFill>
                <a:latin typeface="Alice"/>
                <a:ea typeface="Poppins"/>
                <a:cs typeface="Poppins"/>
                <a:sym typeface="Poppins"/>
              </a:rPr>
              <a:t>Tên</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đề</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tài</a:t>
            </a:r>
            <a:r>
              <a:rPr lang="en-US" sz="2999" b="1" dirty="0">
                <a:solidFill>
                  <a:srgbClr val="FFFFFF"/>
                </a:solidFill>
                <a:latin typeface="Alice"/>
                <a:ea typeface="Poppins"/>
                <a:cs typeface="Poppins"/>
                <a:sym typeface="Poppins"/>
              </a:rPr>
              <a:t>: </a:t>
            </a:r>
            <a:r>
              <a:rPr lang="en-US" sz="2999" b="1" dirty="0">
                <a:solidFill>
                  <a:srgbClr val="FFFFFF"/>
                </a:solidFill>
                <a:latin typeface="Alice"/>
                <a:ea typeface="Poppins Bold"/>
                <a:cs typeface="Poppins Bold"/>
                <a:sym typeface="Poppins Bold"/>
              </a:rPr>
              <a:t>Chat TCP Client–Server</a:t>
            </a:r>
            <a:r>
              <a:rPr lang="en-US" sz="2999" b="1" dirty="0">
                <a:solidFill>
                  <a:srgbClr val="FFFFFF"/>
                </a:solidFill>
                <a:latin typeface="Alice"/>
                <a:ea typeface="Poppins"/>
                <a:cs typeface="Poppins"/>
                <a:sym typeface="Poppins"/>
              </a:rPr>
              <a:t> </a:t>
            </a:r>
          </a:p>
          <a:p>
            <a:pPr marL="647698" lvl="1" indent="-323849" algn="l">
              <a:lnSpc>
                <a:spcPts val="4199"/>
              </a:lnSpc>
              <a:buFont typeface="Arial"/>
              <a:buChar char="•"/>
            </a:pPr>
            <a:r>
              <a:rPr lang="en-US" sz="2999" b="1" dirty="0" err="1">
                <a:solidFill>
                  <a:srgbClr val="FFFFFF"/>
                </a:solidFill>
                <a:latin typeface="Alice"/>
                <a:ea typeface="Poppins"/>
                <a:cs typeface="Poppins"/>
                <a:sym typeface="Poppins"/>
              </a:rPr>
              <a:t>Mã</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đề</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tài</a:t>
            </a:r>
            <a:r>
              <a:rPr lang="en-US" sz="2999" b="1" dirty="0">
                <a:solidFill>
                  <a:srgbClr val="FFFFFF"/>
                </a:solidFill>
                <a:latin typeface="Alice"/>
                <a:ea typeface="Poppins"/>
                <a:cs typeface="Poppins"/>
                <a:sym typeface="Poppins"/>
              </a:rPr>
              <a:t>: </a:t>
            </a:r>
            <a:r>
              <a:rPr lang="en-US" sz="2999" b="1" dirty="0">
                <a:solidFill>
                  <a:srgbClr val="FFFFFF"/>
                </a:solidFill>
                <a:latin typeface="Alice"/>
                <a:ea typeface="Poppins Bold"/>
                <a:cs typeface="Poppins Bold"/>
                <a:sym typeface="Poppins Bold"/>
              </a:rPr>
              <a:t>UDM_08</a:t>
            </a:r>
          </a:p>
          <a:p>
            <a:pPr marL="647698" lvl="1" indent="-323849" algn="l">
              <a:lnSpc>
                <a:spcPts val="4199"/>
              </a:lnSpc>
              <a:buFont typeface="Arial"/>
              <a:buChar char="•"/>
            </a:pPr>
            <a:r>
              <a:rPr lang="en-US" sz="2999" b="1" dirty="0" err="1">
                <a:solidFill>
                  <a:srgbClr val="FFFFFF"/>
                </a:solidFill>
                <a:latin typeface="Alice"/>
                <a:ea typeface="Poppins"/>
                <a:cs typeface="Poppins"/>
                <a:sym typeface="Poppins"/>
              </a:rPr>
              <a:t>Nhóm</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thực</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hiện</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Bold"/>
                <a:cs typeface="Poppins Bold"/>
                <a:sym typeface="Poppins Bold"/>
              </a:rPr>
              <a:t>Nhóm</a:t>
            </a:r>
            <a:r>
              <a:rPr lang="en-US" sz="2999" b="1" dirty="0">
                <a:solidFill>
                  <a:srgbClr val="FFFFFF"/>
                </a:solidFill>
                <a:latin typeface="Alice"/>
                <a:ea typeface="Poppins Bold"/>
                <a:cs typeface="Poppins Bold"/>
                <a:sym typeface="Poppins Bold"/>
              </a:rPr>
              <a:t> 9 </a:t>
            </a:r>
          </a:p>
          <a:p>
            <a:pPr marL="647698" lvl="1" indent="-323849" algn="l">
              <a:lnSpc>
                <a:spcPts val="4199"/>
              </a:lnSpc>
              <a:buFont typeface="Arial"/>
              <a:buChar char="•"/>
            </a:pPr>
            <a:r>
              <a:rPr lang="en-US" sz="2999" b="1" dirty="0" err="1">
                <a:solidFill>
                  <a:srgbClr val="FFFFFF"/>
                </a:solidFill>
                <a:latin typeface="Alice"/>
                <a:ea typeface="Poppins"/>
                <a:cs typeface="Poppins"/>
                <a:sym typeface="Poppins"/>
              </a:rPr>
              <a:t>Mã</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học</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phần</a:t>
            </a:r>
            <a:r>
              <a:rPr lang="en-US" sz="2999" b="1" dirty="0">
                <a:solidFill>
                  <a:srgbClr val="FFFFFF"/>
                </a:solidFill>
                <a:latin typeface="Alice"/>
                <a:ea typeface="Poppins"/>
                <a:cs typeface="Poppins"/>
                <a:sym typeface="Poppins"/>
              </a:rPr>
              <a:t>: 012012301303</a:t>
            </a:r>
          </a:p>
          <a:p>
            <a:pPr marL="647698" lvl="1" indent="-323849" algn="l">
              <a:lnSpc>
                <a:spcPts val="4199"/>
              </a:lnSpc>
              <a:buFont typeface="Arial"/>
              <a:buChar char="•"/>
            </a:pPr>
            <a:r>
              <a:rPr lang="en-US" sz="2999" b="1" dirty="0" err="1">
                <a:solidFill>
                  <a:srgbClr val="FFFFFF"/>
                </a:solidFill>
                <a:latin typeface="Alice"/>
                <a:ea typeface="Poppins"/>
                <a:cs typeface="Poppins"/>
                <a:sym typeface="Poppins"/>
              </a:rPr>
              <a:t>Mã</a:t>
            </a:r>
            <a:r>
              <a:rPr lang="en-US" sz="2999" b="1" dirty="0">
                <a:solidFill>
                  <a:srgbClr val="FFFFFF"/>
                </a:solidFill>
                <a:latin typeface="Alice"/>
                <a:ea typeface="Poppins"/>
                <a:cs typeface="Poppins"/>
                <a:sym typeface="Poppins"/>
              </a:rPr>
              <a:t> </a:t>
            </a:r>
            <a:r>
              <a:rPr lang="en-US" sz="2999" b="1" dirty="0" err="1">
                <a:solidFill>
                  <a:srgbClr val="FFFFFF"/>
                </a:solidFill>
                <a:latin typeface="Alice"/>
                <a:ea typeface="Poppins"/>
                <a:cs typeface="Poppins"/>
                <a:sym typeface="Poppins"/>
              </a:rPr>
              <a:t>nguồn</a:t>
            </a:r>
            <a:r>
              <a:rPr lang="en-US" sz="2999" b="1" dirty="0">
                <a:solidFill>
                  <a:srgbClr val="FFFFFF"/>
                </a:solidFill>
                <a:latin typeface="Alice"/>
                <a:ea typeface="Poppins"/>
                <a:cs typeface="Poppins"/>
                <a:sym typeface="Poppins"/>
              </a:rPr>
              <a:t> (Repository): GitHub DiemMy105/LTM_Nhom9</a:t>
            </a:r>
          </a:p>
          <a:p>
            <a:pPr marL="0" lvl="0" indent="0" algn="just">
              <a:lnSpc>
                <a:spcPts val="3919"/>
              </a:lnSpc>
              <a:spcBef>
                <a:spcPct val="0"/>
              </a:spcBef>
            </a:pPr>
            <a:endParaRPr lang="en-US" sz="2999" b="1" dirty="0">
              <a:solidFill>
                <a:srgbClr val="FFFFFF"/>
              </a:solidFill>
              <a:latin typeface="Alice"/>
              <a:ea typeface="Poppins"/>
              <a:cs typeface="Poppins"/>
              <a:sym typeface="Poppins"/>
            </a:endParaRPr>
          </a:p>
        </p:txBody>
      </p:sp>
      <p:sp>
        <p:nvSpPr>
          <p:cNvPr id="8" name="TextBox 8"/>
          <p:cNvSpPr txBox="1"/>
          <p:nvPr/>
        </p:nvSpPr>
        <p:spPr>
          <a:xfrm>
            <a:off x="9144000" y="4294127"/>
            <a:ext cx="8344894" cy="859210"/>
          </a:xfrm>
          <a:prstGeom prst="rect">
            <a:avLst/>
          </a:prstGeom>
        </p:spPr>
        <p:txBody>
          <a:bodyPr lIns="0" tIns="0" rIns="0" bIns="0" rtlCol="0" anchor="t">
            <a:spAutoFit/>
          </a:bodyPr>
          <a:lstStyle/>
          <a:p>
            <a:pPr algn="l">
              <a:lnSpc>
                <a:spcPts val="6720"/>
              </a:lnSpc>
            </a:pPr>
            <a:r>
              <a:rPr lang="en-US" sz="5600" b="1">
                <a:solidFill>
                  <a:srgbClr val="FFFFFF"/>
                </a:solidFill>
                <a:latin typeface="Alice"/>
                <a:ea typeface="Neo Sans Bold"/>
                <a:cs typeface="Neo Sans Bold"/>
                <a:sym typeface="Neo Sans Bold"/>
              </a:rPr>
              <a:t>CÁC THÀNH VIÊN </a:t>
            </a:r>
          </a:p>
        </p:txBody>
      </p:sp>
      <p:sp>
        <p:nvSpPr>
          <p:cNvPr id="9" name="TextBox 9"/>
          <p:cNvSpPr txBox="1"/>
          <p:nvPr/>
        </p:nvSpPr>
        <p:spPr>
          <a:xfrm>
            <a:off x="6118134" y="5515559"/>
            <a:ext cx="11887029" cy="4039567"/>
          </a:xfrm>
          <a:prstGeom prst="rect">
            <a:avLst/>
          </a:prstGeom>
        </p:spPr>
        <p:txBody>
          <a:bodyPr lIns="0" tIns="0" rIns="0" bIns="0" rtlCol="0" anchor="t">
            <a:spAutoFit/>
          </a:bodyPr>
          <a:lstStyle/>
          <a:p>
            <a:pPr algn="ctr">
              <a:lnSpc>
                <a:spcPts val="4619"/>
              </a:lnSpc>
            </a:pPr>
            <a:r>
              <a:rPr lang="en-US" sz="3299" b="1" dirty="0">
                <a:solidFill>
                  <a:srgbClr val="FFFFFF"/>
                </a:solidFill>
                <a:latin typeface="Alice"/>
                <a:ea typeface="Poppins"/>
                <a:cs typeface="Poppins"/>
                <a:sym typeface="Poppins"/>
              </a:rPr>
              <a:t>Nguyễn </a:t>
            </a:r>
            <a:r>
              <a:rPr lang="en-US" sz="3299" b="1" dirty="0" err="1">
                <a:solidFill>
                  <a:srgbClr val="FFFFFF"/>
                </a:solidFill>
                <a:latin typeface="Alice"/>
                <a:ea typeface="Poppins"/>
                <a:cs typeface="Poppins"/>
                <a:sym typeface="Poppins"/>
              </a:rPr>
              <a:t>Hồ</a:t>
            </a:r>
            <a:r>
              <a:rPr lang="en-US" sz="3299" b="1" dirty="0">
                <a:solidFill>
                  <a:srgbClr val="FFFFFF"/>
                </a:solidFill>
                <a:latin typeface="Alice"/>
                <a:ea typeface="Poppins"/>
                <a:cs typeface="Poppins"/>
                <a:sym typeface="Poppins"/>
              </a:rPr>
              <a:t> </a:t>
            </a:r>
            <a:r>
              <a:rPr lang="en-US" sz="3299" b="1" dirty="0" err="1">
                <a:solidFill>
                  <a:srgbClr val="FFFFFF"/>
                </a:solidFill>
                <a:latin typeface="Alice"/>
                <a:ea typeface="Poppins"/>
                <a:cs typeface="Poppins"/>
                <a:sym typeface="Poppins"/>
              </a:rPr>
              <a:t>Diễm</a:t>
            </a:r>
            <a:r>
              <a:rPr lang="en-US" sz="3299" b="1" dirty="0">
                <a:solidFill>
                  <a:srgbClr val="FFFFFF"/>
                </a:solidFill>
                <a:latin typeface="Alice"/>
                <a:ea typeface="Poppins"/>
                <a:cs typeface="Poppins"/>
                <a:sym typeface="Poppins"/>
              </a:rPr>
              <a:t> My</a:t>
            </a:r>
          </a:p>
          <a:p>
            <a:pPr algn="ctr">
              <a:lnSpc>
                <a:spcPts val="4619"/>
              </a:lnSpc>
            </a:pPr>
            <a:r>
              <a:rPr lang="en-US" sz="3299" b="1" dirty="0">
                <a:solidFill>
                  <a:srgbClr val="FFFFFF"/>
                </a:solidFill>
                <a:latin typeface="Alice"/>
                <a:ea typeface="Poppins"/>
                <a:cs typeface="Poppins"/>
                <a:sym typeface="Poppins"/>
              </a:rPr>
              <a:t>Võ Tùng Sơn</a:t>
            </a:r>
          </a:p>
          <a:p>
            <a:pPr algn="ctr">
              <a:lnSpc>
                <a:spcPts val="4619"/>
              </a:lnSpc>
            </a:pPr>
            <a:r>
              <a:rPr lang="en-US" sz="3299" b="1" dirty="0">
                <a:solidFill>
                  <a:srgbClr val="FFFFFF"/>
                </a:solidFill>
                <a:latin typeface="Alice"/>
                <a:ea typeface="Poppins"/>
                <a:cs typeface="Poppins"/>
                <a:sym typeface="Poppins"/>
              </a:rPr>
              <a:t>Võ Duy Thịnh</a:t>
            </a:r>
          </a:p>
          <a:p>
            <a:pPr algn="ctr">
              <a:lnSpc>
                <a:spcPts val="4619"/>
              </a:lnSpc>
            </a:pPr>
            <a:r>
              <a:rPr lang="en-US" sz="3299" b="1" dirty="0">
                <a:solidFill>
                  <a:srgbClr val="FFFFFF"/>
                </a:solidFill>
                <a:latin typeface="Alice"/>
                <a:ea typeface="Poppins"/>
                <a:cs typeface="Poppins"/>
                <a:sym typeface="Poppins"/>
              </a:rPr>
              <a:t>Lưu Quốc </a:t>
            </a:r>
            <a:r>
              <a:rPr lang="en-US" sz="3299" b="1" dirty="0" err="1">
                <a:solidFill>
                  <a:srgbClr val="FFFFFF"/>
                </a:solidFill>
                <a:latin typeface="Alice"/>
                <a:ea typeface="Poppins"/>
                <a:cs typeface="Poppins"/>
                <a:sym typeface="Poppins"/>
              </a:rPr>
              <a:t>Phú</a:t>
            </a:r>
            <a:endParaRPr lang="en-US" sz="3299" b="1" dirty="0">
              <a:solidFill>
                <a:srgbClr val="FFFFFF"/>
              </a:solidFill>
              <a:latin typeface="Alice"/>
              <a:ea typeface="Poppins"/>
              <a:cs typeface="Poppins"/>
              <a:sym typeface="Poppins"/>
            </a:endParaRPr>
          </a:p>
          <a:p>
            <a:pPr algn="ctr">
              <a:lnSpc>
                <a:spcPts val="4619"/>
              </a:lnSpc>
            </a:pPr>
            <a:r>
              <a:rPr lang="en-US" sz="3299" b="1" dirty="0">
                <a:solidFill>
                  <a:srgbClr val="FFFFFF"/>
                </a:solidFill>
                <a:latin typeface="Alice"/>
                <a:ea typeface="Poppins"/>
                <a:cs typeface="Poppins"/>
                <a:sym typeface="Poppins"/>
              </a:rPr>
              <a:t>Nguyễn Đặng Thái Bình</a:t>
            </a:r>
          </a:p>
          <a:p>
            <a:pPr algn="ctr">
              <a:lnSpc>
                <a:spcPts val="4619"/>
              </a:lnSpc>
            </a:pPr>
            <a:r>
              <a:rPr lang="en-US" sz="3299" b="1" dirty="0">
                <a:solidFill>
                  <a:srgbClr val="FFFFFF"/>
                </a:solidFill>
                <a:latin typeface="Alice"/>
                <a:ea typeface="Poppins"/>
                <a:cs typeface="Poppins"/>
                <a:sym typeface="Poppins"/>
              </a:rPr>
              <a:t>Nguyễn </a:t>
            </a:r>
            <a:r>
              <a:rPr lang="en-US" sz="3299" b="1" dirty="0" err="1">
                <a:solidFill>
                  <a:srgbClr val="FFFFFF"/>
                </a:solidFill>
                <a:latin typeface="Alice"/>
                <a:ea typeface="Poppins"/>
                <a:cs typeface="Poppins"/>
                <a:sym typeface="Poppins"/>
              </a:rPr>
              <a:t>Hồ</a:t>
            </a:r>
            <a:r>
              <a:rPr lang="en-US" sz="3299" b="1" dirty="0">
                <a:solidFill>
                  <a:srgbClr val="FFFFFF"/>
                </a:solidFill>
                <a:latin typeface="Alice"/>
                <a:ea typeface="Poppins"/>
                <a:cs typeface="Poppins"/>
                <a:sym typeface="Poppins"/>
              </a:rPr>
              <a:t> Hùng Phương</a:t>
            </a:r>
          </a:p>
          <a:p>
            <a:pPr marL="0" lvl="0" indent="0" algn="just">
              <a:lnSpc>
                <a:spcPts val="3919"/>
              </a:lnSpc>
              <a:spcBef>
                <a:spcPct val="0"/>
              </a:spcBef>
            </a:pPr>
            <a:endParaRPr lang="en-US" sz="3299" b="1" dirty="0">
              <a:solidFill>
                <a:srgbClr val="FFFFFF"/>
              </a:solidFill>
              <a:latin typeface="Alice"/>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12" name="TextBox 12"/>
          <p:cNvSpPr txBox="1"/>
          <p:nvPr/>
        </p:nvSpPr>
        <p:spPr>
          <a:xfrm>
            <a:off x="970189" y="692440"/>
            <a:ext cx="7919102" cy="859210"/>
          </a:xfrm>
          <a:prstGeom prst="rect">
            <a:avLst/>
          </a:prstGeom>
        </p:spPr>
        <p:txBody>
          <a:bodyPr lIns="0" tIns="0" rIns="0" bIns="0" rtlCol="0" anchor="t">
            <a:spAutoFit/>
          </a:bodyPr>
          <a:lstStyle/>
          <a:p>
            <a:pPr algn="l">
              <a:lnSpc>
                <a:spcPts val="6720"/>
              </a:lnSpc>
            </a:pPr>
            <a:r>
              <a:rPr lang="en-US" sz="5600" b="1" dirty="0">
                <a:solidFill>
                  <a:srgbClr val="00FFFF"/>
                </a:solidFill>
                <a:latin typeface="Alice"/>
                <a:ea typeface="Neo Sans Bold"/>
                <a:cs typeface="Neo Sans Bold"/>
                <a:sym typeface="Neo Sans Bold"/>
              </a:rPr>
              <a:t>LÝ DO CHỌN ĐỀ TÀI</a:t>
            </a:r>
          </a:p>
        </p:txBody>
      </p:sp>
      <p:sp>
        <p:nvSpPr>
          <p:cNvPr id="13" name="TextBox 13"/>
          <p:cNvSpPr txBox="1"/>
          <p:nvPr/>
        </p:nvSpPr>
        <p:spPr>
          <a:xfrm>
            <a:off x="460770" y="2366953"/>
            <a:ext cx="8428520" cy="5512022"/>
          </a:xfrm>
          <a:prstGeom prst="rect">
            <a:avLst/>
          </a:prstGeom>
        </p:spPr>
        <p:txBody>
          <a:bodyPr lIns="0" tIns="0" rIns="0" bIns="0" rtlCol="0" anchor="t">
            <a:spAutoFit/>
          </a:bodyPr>
          <a:lstStyle/>
          <a:p>
            <a:pPr marL="557915" lvl="1" indent="-278957" algn="just">
              <a:lnSpc>
                <a:spcPts val="3617"/>
              </a:lnSpc>
              <a:buFont typeface="Arial"/>
              <a:buChar char="•"/>
            </a:pPr>
            <a:r>
              <a:rPr lang="en-US" sz="3200" dirty="0" err="1">
                <a:solidFill>
                  <a:srgbClr val="FFFFFF"/>
                </a:solidFill>
                <a:latin typeface="Alice"/>
                <a:ea typeface="Poppins"/>
                <a:cs typeface="Poppins"/>
                <a:sym typeface="Poppins"/>
              </a:rPr>
              <a:t>Củng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cố</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kiến</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thức</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Lập</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trình</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mạng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Nắm</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vững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giao</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thức</a:t>
            </a:r>
            <a:r>
              <a:rPr lang="en-US" sz="3200" dirty="0">
                <a:solidFill>
                  <a:srgbClr val="FFFFFF"/>
                </a:solidFill>
                <a:latin typeface="Alice"/>
                <a:ea typeface="Poppins"/>
                <a:cs typeface="Poppins"/>
                <a:sym typeface="Poppins"/>
              </a:rPr>
              <a:t> TCP/IP, </a:t>
            </a:r>
            <a:r>
              <a:rPr lang="en-US" sz="3200" dirty="0" err="1">
                <a:solidFill>
                  <a:srgbClr val="FFFFFF"/>
                </a:solidFill>
                <a:latin typeface="Alice"/>
                <a:ea typeface="Poppins"/>
                <a:cs typeface="Poppins"/>
                <a:sym typeface="Poppins"/>
              </a:rPr>
              <a:t>cơ</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chế</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bắt</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tay</a:t>
            </a:r>
            <a:r>
              <a:rPr lang="en-US" sz="3200" dirty="0">
                <a:solidFill>
                  <a:srgbClr val="FFFFFF"/>
                </a:solidFill>
                <a:latin typeface="Alice"/>
                <a:ea typeface="Poppins"/>
                <a:cs typeface="Poppins"/>
                <a:sym typeface="Poppins"/>
              </a:rPr>
              <a:t> 3 </a:t>
            </a:r>
            <a:r>
              <a:rPr lang="en-US" sz="3200" dirty="0" err="1">
                <a:solidFill>
                  <a:srgbClr val="FFFFFF"/>
                </a:solidFill>
                <a:latin typeface="Alice"/>
                <a:ea typeface="Poppins"/>
                <a:cs typeface="Poppins"/>
                <a:sym typeface="Poppins"/>
              </a:rPr>
              <a:t>bước</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và</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thao</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tác</a:t>
            </a:r>
            <a:r>
              <a:rPr lang="en-US" sz="3200" dirty="0">
                <a:solidFill>
                  <a:srgbClr val="FFFFFF"/>
                </a:solidFill>
                <a:latin typeface="Alice"/>
                <a:ea typeface="Poppins"/>
                <a:cs typeface="Poppins"/>
                <a:sym typeface="Poppins"/>
              </a:rPr>
              <a:t> Socket </a:t>
            </a:r>
            <a:r>
              <a:rPr lang="en-US" sz="3200" dirty="0" err="1">
                <a:solidFill>
                  <a:srgbClr val="FFFFFF"/>
                </a:solidFill>
                <a:latin typeface="Alice"/>
                <a:ea typeface="Poppins"/>
                <a:cs typeface="Poppins"/>
                <a:sym typeface="Poppins"/>
              </a:rPr>
              <a:t>cấp</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thấp</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trong</a:t>
            </a:r>
            <a:r>
              <a:rPr lang="en-US" sz="3200" dirty="0">
                <a:solidFill>
                  <a:srgbClr val="FFFFFF"/>
                </a:solidFill>
                <a:latin typeface="Alice"/>
                <a:ea typeface="Poppins"/>
                <a:cs typeface="Poppins"/>
                <a:sym typeface="Poppins"/>
              </a:rPr>
              <a:t> C#/.NET. </a:t>
            </a:r>
          </a:p>
          <a:p>
            <a:pPr marL="557915" lvl="1" indent="-278957" algn="just">
              <a:lnSpc>
                <a:spcPts val="3617"/>
              </a:lnSpc>
              <a:buFont typeface="Arial"/>
              <a:buChar char="•"/>
            </a:pPr>
            <a:r>
              <a:rPr lang="en-US" sz="3200" dirty="0" err="1">
                <a:solidFill>
                  <a:srgbClr val="FFFFFF"/>
                </a:solidFill>
                <a:latin typeface="Alice"/>
                <a:ea typeface="Poppins"/>
                <a:cs typeface="Poppins"/>
                <a:sym typeface="Poppins"/>
              </a:rPr>
              <a:t>Trải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nghiệm</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ứng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dụng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hiện</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đại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Hướng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tới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xây</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dựng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ứng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dụng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nhắn</a:t>
            </a:r>
            <a:r>
              <a:rPr lang="en-US" sz="3200" dirty="0">
                <a:solidFill>
                  <a:srgbClr val="FFFFFF"/>
                </a:solidFill>
                <a:latin typeface="Alice"/>
                <a:ea typeface="Poppins"/>
                <a:cs typeface="Poppins"/>
                <a:sym typeface="Poppins"/>
              </a:rPr>
              <a:t> tin OTT (</a:t>
            </a:r>
            <a:r>
              <a:rPr lang="en-US" sz="3200" dirty="0" err="1">
                <a:solidFill>
                  <a:srgbClr val="FFFFFF"/>
                </a:solidFill>
                <a:latin typeface="Alice"/>
                <a:ea typeface="Poppins"/>
                <a:cs typeface="Poppins"/>
                <a:sym typeface="Poppins"/>
              </a:rPr>
              <a:t>tương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tự</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Zalo</a:t>
            </a:r>
            <a:r>
              <a:rPr lang="en-US" sz="3200" dirty="0">
                <a:solidFill>
                  <a:srgbClr val="FFFFFF"/>
                </a:solidFill>
                <a:latin typeface="Alice"/>
                <a:ea typeface="Poppins"/>
                <a:cs typeface="Poppins"/>
                <a:sym typeface="Poppins"/>
              </a:rPr>
              <a:t>, Messenger, Telegram) </a:t>
            </a:r>
            <a:r>
              <a:rPr lang="en-US" sz="3200" dirty="0" err="1">
                <a:solidFill>
                  <a:srgbClr val="FFFFFF"/>
                </a:solidFill>
                <a:latin typeface="Alice"/>
                <a:ea typeface="Poppins"/>
                <a:cs typeface="Poppins"/>
                <a:sym typeface="Poppins"/>
              </a:rPr>
              <a:t>với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tính</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năng</a:t>
            </a:r>
            <a:r>
              <a:rPr lang="en-US" sz="3200" dirty="0">
                <a:solidFill>
                  <a:srgbClr val="FFFFFF"/>
                </a:solidFill>
                <a:latin typeface="Alice"/>
                <a:ea typeface="Poppins"/>
                <a:cs typeface="Poppins"/>
                <a:sym typeface="Poppins"/>
              </a:rPr>
              <a:t> Reply, Forward, Avatar </a:t>
            </a:r>
            <a:r>
              <a:rPr lang="en-US" sz="3200" dirty="0" err="1">
                <a:solidFill>
                  <a:srgbClr val="FFFFFF"/>
                </a:solidFill>
                <a:latin typeface="Alice"/>
                <a:ea typeface="Poppins"/>
                <a:cs typeface="Poppins"/>
                <a:sym typeface="Poppins"/>
              </a:rPr>
              <a:t>và</a:t>
            </a:r>
            <a:r>
              <a:rPr lang="en-US" sz="3200" dirty="0">
                <a:solidFill>
                  <a:srgbClr val="FFFFFF"/>
                </a:solidFill>
                <a:latin typeface="Alice"/>
                <a:ea typeface="Poppins"/>
                <a:cs typeface="Poppins"/>
                <a:sym typeface="Poppins"/>
              </a:rPr>
              <a:t> Emoji. </a:t>
            </a:r>
          </a:p>
          <a:p>
            <a:pPr marL="557915" lvl="1" indent="-278957" algn="just">
              <a:lnSpc>
                <a:spcPts val="3617"/>
              </a:lnSpc>
              <a:spcBef>
                <a:spcPct val="0"/>
              </a:spcBef>
              <a:buFont typeface="Arial"/>
              <a:buChar char="•"/>
            </a:pPr>
            <a:r>
              <a:rPr lang="en-US" sz="3200" dirty="0" err="1">
                <a:solidFill>
                  <a:srgbClr val="FFFFFF"/>
                </a:solidFill>
                <a:latin typeface="Alice"/>
                <a:ea typeface="Poppins"/>
                <a:cs typeface="Poppins"/>
                <a:sym typeface="Poppins"/>
              </a:rPr>
              <a:t>Thách</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thức</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tối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ưu</a:t>
            </a:r>
            <a:r>
              <a:rPr lang="en-US" sz="3200" dirty="0">
                <a:solidFill>
                  <a:srgbClr val="FFFFFF"/>
                </a:solidFill>
                <a:latin typeface="Alice"/>
                <a:ea typeface="Poppins"/>
                <a:cs typeface="Poppins"/>
                <a:sym typeface="Poppins"/>
              </a:rPr>
              <a:t> WinForms: </a:t>
            </a:r>
            <a:r>
              <a:rPr lang="en-US" sz="3200" dirty="0" err="1">
                <a:solidFill>
                  <a:srgbClr val="FFFFFF"/>
                </a:solidFill>
                <a:latin typeface="Alice"/>
                <a:ea typeface="Poppins"/>
                <a:cs typeface="Poppins"/>
                <a:sym typeface="Poppins"/>
              </a:rPr>
              <a:t>Tối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ưu</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hóa</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xử</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lý</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bất</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đồng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bộ</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giải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quyết</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bài</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toán</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đụng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độ</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luồng</a:t>
            </a:r>
            <a:r>
              <a:rPr lang="en-US" sz="3200" dirty="0">
                <a:solidFill>
                  <a:srgbClr val="FFFFFF"/>
                </a:solidFill>
                <a:latin typeface="Alice"/>
                <a:ea typeface="Poppins"/>
                <a:cs typeface="Poppins"/>
                <a:sym typeface="Poppins"/>
              </a:rPr>
              <a:t> (Cross-thread) </a:t>
            </a:r>
            <a:r>
              <a:rPr lang="en-US" sz="3200" dirty="0" err="1">
                <a:solidFill>
                  <a:srgbClr val="FFFFFF"/>
                </a:solidFill>
                <a:latin typeface="Alice"/>
                <a:ea typeface="Poppins"/>
                <a:cs typeface="Poppins"/>
                <a:sym typeface="Poppins"/>
              </a:rPr>
              <a:t>để</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tránh</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hiện</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tượng</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treo</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giao</a:t>
            </a:r>
            <a:r>
              <a:rPr lang="en-US" sz="3200" dirty="0">
                <a:solidFill>
                  <a:srgbClr val="FFFFFF"/>
                </a:solidFill>
                <a:latin typeface="Alice"/>
                <a:ea typeface="Poppins"/>
                <a:cs typeface="Poppins"/>
                <a:sym typeface="Poppins"/>
              </a:rPr>
              <a:t> </a:t>
            </a:r>
            <a:r>
              <a:rPr lang="en-US" sz="3200" dirty="0" err="1">
                <a:solidFill>
                  <a:srgbClr val="FFFFFF"/>
                </a:solidFill>
                <a:latin typeface="Alice"/>
                <a:ea typeface="Poppins"/>
                <a:cs typeface="Poppins"/>
                <a:sym typeface="Poppins"/>
              </a:rPr>
              <a:t>diện</a:t>
            </a:r>
            <a:r>
              <a:rPr lang="en-US" sz="3200" dirty="0">
                <a:solidFill>
                  <a:srgbClr val="FFFFFF"/>
                </a:solidFill>
                <a:latin typeface="Alice"/>
                <a:ea typeface="Poppins"/>
                <a:cs typeface="Poppins"/>
                <a:sym typeface="Poppins"/>
              </a:rPr>
              <a:t> (Freeze UI).</a:t>
            </a:r>
          </a:p>
          <a:p>
            <a:pPr marL="0" lvl="0" indent="0" algn="just">
              <a:lnSpc>
                <a:spcPts val="3617"/>
              </a:lnSpc>
              <a:spcBef>
                <a:spcPct val="0"/>
              </a:spcBef>
            </a:pPr>
            <a:endParaRPr lang="en-US" sz="2584" dirty="0">
              <a:solidFill>
                <a:srgbClr val="FFFFFF"/>
              </a:solidFill>
              <a:latin typeface="Alice"/>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latin typeface="Alice"/>
              </a:endParaRPr>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latin typeface="Alice"/>
            </a:endParaRPr>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12" name="TextBox 12"/>
          <p:cNvSpPr txBox="1"/>
          <p:nvPr/>
        </p:nvSpPr>
        <p:spPr>
          <a:xfrm>
            <a:off x="715480" y="553580"/>
            <a:ext cx="7919102" cy="859210"/>
          </a:xfrm>
          <a:prstGeom prst="rect">
            <a:avLst/>
          </a:prstGeom>
        </p:spPr>
        <p:txBody>
          <a:bodyPr lIns="0" tIns="0" rIns="0" bIns="0" rtlCol="0" anchor="t">
            <a:spAutoFit/>
          </a:bodyPr>
          <a:lstStyle/>
          <a:p>
            <a:pPr algn="l">
              <a:lnSpc>
                <a:spcPts val="6720"/>
              </a:lnSpc>
            </a:pPr>
            <a:r>
              <a:rPr lang="en-US" sz="5600" b="1" dirty="0">
                <a:solidFill>
                  <a:srgbClr val="00FFFF"/>
                </a:solidFill>
                <a:latin typeface="Alice"/>
                <a:ea typeface="Neo Sans Bold"/>
                <a:cs typeface="Neo Sans Bold"/>
                <a:sym typeface="Neo Sans Bold"/>
              </a:rPr>
              <a:t>MỤC ĐÍCH DỰ ÁN</a:t>
            </a:r>
          </a:p>
        </p:txBody>
      </p:sp>
      <p:sp>
        <p:nvSpPr>
          <p:cNvPr id="13" name="TextBox 13"/>
          <p:cNvSpPr txBox="1"/>
          <p:nvPr/>
        </p:nvSpPr>
        <p:spPr>
          <a:xfrm>
            <a:off x="715480" y="2466285"/>
            <a:ext cx="8428520" cy="4127027"/>
          </a:xfrm>
          <a:prstGeom prst="rect">
            <a:avLst/>
          </a:prstGeom>
        </p:spPr>
        <p:txBody>
          <a:bodyPr lIns="0" tIns="0" rIns="0" bIns="0" rtlCol="0" anchor="t">
            <a:spAutoFit/>
          </a:bodyPr>
          <a:lstStyle/>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Về</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mặt</a:t>
            </a:r>
            <a:r>
              <a:rPr lang="en-US" sz="2584" dirty="0">
                <a:solidFill>
                  <a:srgbClr val="FFFFFF"/>
                </a:solidFill>
                <a:latin typeface="Alice"/>
                <a:ea typeface="Poppins"/>
                <a:cs typeface="Poppins"/>
                <a:sym typeface="Poppins"/>
              </a:rPr>
              <a:t> Học </a:t>
            </a:r>
            <a:r>
              <a:rPr lang="en-US" sz="2584" dirty="0" err="1">
                <a:solidFill>
                  <a:srgbClr val="FFFFFF"/>
                </a:solidFill>
                <a:latin typeface="Alice"/>
                <a:ea typeface="Poppins"/>
                <a:cs typeface="Poppins"/>
                <a:sym typeface="Poppins"/>
              </a:rPr>
              <a:t>thuật</a:t>
            </a:r>
            <a:r>
              <a:rPr lang="en-US" sz="2584" dirty="0">
                <a:solidFill>
                  <a:srgbClr val="FFFFFF"/>
                </a:solidFill>
                <a:latin typeface="Alice"/>
                <a:ea typeface="Poppins"/>
                <a:cs typeface="Poppins"/>
                <a:sym typeface="Poppins"/>
              </a:rPr>
              <a:t> &amp; </a:t>
            </a:r>
            <a:r>
              <a:rPr lang="en-US" sz="2584" dirty="0" err="1">
                <a:solidFill>
                  <a:srgbClr val="FFFFFF"/>
                </a:solidFill>
                <a:latin typeface="Alice"/>
                <a:ea typeface="Poppins"/>
                <a:cs typeface="Poppins"/>
                <a:sym typeface="Poppins"/>
              </a:rPr>
              <a:t>Kỹ</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thuật</a:t>
            </a:r>
            <a:r>
              <a:rPr lang="en-US" sz="2584" dirty="0">
                <a:solidFill>
                  <a:srgbClr val="FFFFFF"/>
                </a:solidFill>
                <a:latin typeface="Alice"/>
                <a:ea typeface="Poppins"/>
                <a:cs typeface="Poppins"/>
                <a:sym typeface="Poppins"/>
              </a:rPr>
              <a:t>:</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Vận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hành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kiến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trúc</a:t>
            </a:r>
            <a:r>
              <a:rPr lang="en-US" sz="2584" dirty="0">
                <a:solidFill>
                  <a:srgbClr val="FFFFFF"/>
                </a:solidFill>
                <a:latin typeface="Alice"/>
                <a:ea typeface="Poppins"/>
                <a:cs typeface="Poppins"/>
                <a:sym typeface="Poppins"/>
              </a:rPr>
              <a:t> Client-Server </a:t>
            </a:r>
            <a:r>
              <a:rPr lang="en-US" sz="2584" dirty="0" err="1">
                <a:solidFill>
                  <a:srgbClr val="FFFFFF"/>
                </a:solidFill>
                <a:latin typeface="Alice"/>
                <a:ea typeface="Poppins"/>
                <a:cs typeface="Poppins"/>
                <a:sym typeface="Poppins"/>
              </a:rPr>
              <a:t>trong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môi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trường</a:t>
            </a:r>
            <a:r>
              <a:rPr lang="en-US" sz="2584" dirty="0">
                <a:solidFill>
                  <a:srgbClr val="FFFFFF"/>
                </a:solidFill>
                <a:latin typeface="Alice"/>
                <a:ea typeface="Poppins"/>
                <a:cs typeface="Poppins"/>
                <a:sym typeface="Poppins"/>
              </a:rPr>
              <a:t> LAN/Internet. </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Làm</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chủ</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các</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lớp</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TcpListener</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TcpClient</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và</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NetworkStream</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trong</a:t>
            </a:r>
            <a:r>
              <a:rPr lang="en-US" sz="2584" dirty="0">
                <a:solidFill>
                  <a:srgbClr val="FFFFFF"/>
                </a:solidFill>
                <a:latin typeface="Alice"/>
                <a:ea typeface="Poppins"/>
                <a:cs typeface="Poppins"/>
                <a:sym typeface="Poppins"/>
              </a:rPr>
              <a:t> C#/.NET. </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Tự</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định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nghĩa</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giao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thức</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giao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tiếp</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bằng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chuẩn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dữ</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liệu</a:t>
            </a:r>
            <a:r>
              <a:rPr lang="en-US" sz="2584" dirty="0">
                <a:solidFill>
                  <a:srgbClr val="FFFFFF"/>
                </a:solidFill>
                <a:latin typeface="Alice"/>
                <a:ea typeface="Poppins"/>
                <a:cs typeface="Poppins"/>
                <a:sym typeface="Poppins"/>
              </a:rPr>
              <a:t> JSON. </a:t>
            </a:r>
          </a:p>
          <a:p>
            <a:pPr marL="557914" lvl="1" indent="-278957" algn="l">
              <a:lnSpc>
                <a:spcPts val="3617"/>
              </a:lnSpc>
              <a:spcBef>
                <a:spcPct val="0"/>
              </a:spcBef>
              <a:buFont typeface="Arial"/>
              <a:buChar char="•"/>
            </a:pPr>
            <a:r>
              <a:rPr lang="en-US" sz="2584" dirty="0" err="1">
                <a:solidFill>
                  <a:srgbClr val="FFFFFF"/>
                </a:solidFill>
                <a:latin typeface="Alice"/>
                <a:ea typeface="Poppins"/>
                <a:cs typeface="Poppins"/>
                <a:sym typeface="Poppins"/>
              </a:rPr>
              <a:t>Lập</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trình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đa</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luồng</a:t>
            </a:r>
            <a:r>
              <a:rPr lang="en-US" sz="2584" dirty="0">
                <a:solidFill>
                  <a:srgbClr val="FFFFFF"/>
                </a:solidFill>
                <a:latin typeface="Alice"/>
                <a:ea typeface="Poppins"/>
                <a:cs typeface="Poppins"/>
                <a:sym typeface="Poppins"/>
              </a:rPr>
              <a:t> (Multithreading) </a:t>
            </a:r>
            <a:r>
              <a:rPr lang="en-US" sz="2584" dirty="0" err="1">
                <a:solidFill>
                  <a:srgbClr val="FFFFFF"/>
                </a:solidFill>
                <a:latin typeface="Alice"/>
                <a:ea typeface="Poppins"/>
                <a:cs typeface="Poppins"/>
                <a:sym typeface="Poppins"/>
              </a:rPr>
              <a:t>và</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xử</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lý</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bất</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đồng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bộ</a:t>
            </a:r>
            <a:r>
              <a:rPr lang="en-US" sz="2584" dirty="0">
                <a:solidFill>
                  <a:srgbClr val="FFFFFF"/>
                </a:solidFill>
                <a:latin typeface="Alice"/>
                <a:ea typeface="Poppins"/>
                <a:cs typeface="Poppins"/>
                <a:sym typeface="Poppins"/>
              </a:rPr>
              <a:t> (async/await). </a:t>
            </a:r>
          </a:p>
          <a:p>
            <a:pPr marL="0" lvl="0" indent="0" algn="just">
              <a:lnSpc>
                <a:spcPts val="3617"/>
              </a:lnSpc>
              <a:spcBef>
                <a:spcPct val="0"/>
              </a:spcBef>
            </a:pPr>
            <a:endParaRPr lang="en-US" sz="2584" dirty="0">
              <a:solidFill>
                <a:srgbClr val="FFFFFF"/>
              </a:solidFill>
              <a:latin typeface="Alice"/>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12" name="TextBox 12"/>
          <p:cNvSpPr txBox="1"/>
          <p:nvPr/>
        </p:nvSpPr>
        <p:spPr>
          <a:xfrm>
            <a:off x="715480" y="678412"/>
            <a:ext cx="7919102" cy="859210"/>
          </a:xfrm>
          <a:prstGeom prst="rect">
            <a:avLst/>
          </a:prstGeom>
        </p:spPr>
        <p:txBody>
          <a:bodyPr lIns="0" tIns="0" rIns="0" bIns="0" rtlCol="0" anchor="t">
            <a:spAutoFit/>
          </a:bodyPr>
          <a:lstStyle/>
          <a:p>
            <a:pPr algn="l">
              <a:lnSpc>
                <a:spcPts val="6720"/>
              </a:lnSpc>
            </a:pPr>
            <a:r>
              <a:rPr lang="en-US" sz="5600" b="1" dirty="0">
                <a:solidFill>
                  <a:srgbClr val="00FFFF"/>
                </a:solidFill>
                <a:latin typeface="Alice"/>
                <a:ea typeface="Neo Sans Bold"/>
                <a:cs typeface="Neo Sans Bold"/>
                <a:sym typeface="Neo Sans Bold"/>
              </a:rPr>
              <a:t>MỤC ĐÍCH DỰ ÁN</a:t>
            </a:r>
          </a:p>
        </p:txBody>
      </p:sp>
      <p:sp>
        <p:nvSpPr>
          <p:cNvPr id="13" name="TextBox 13"/>
          <p:cNvSpPr txBox="1"/>
          <p:nvPr/>
        </p:nvSpPr>
        <p:spPr>
          <a:xfrm>
            <a:off x="715480" y="2856991"/>
            <a:ext cx="8428520" cy="4127027"/>
          </a:xfrm>
          <a:prstGeom prst="rect">
            <a:avLst/>
          </a:prstGeom>
        </p:spPr>
        <p:txBody>
          <a:bodyPr lIns="0" tIns="0" rIns="0" bIns="0" rtlCol="0" anchor="t">
            <a:spAutoFit/>
          </a:bodyPr>
          <a:lstStyle/>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Về</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mặt</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Sản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phẩm</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Chức</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năng</a:t>
            </a:r>
            <a:r>
              <a:rPr lang="en-US" sz="2584" dirty="0">
                <a:solidFill>
                  <a:srgbClr val="FFFFFF"/>
                </a:solidFill>
                <a:latin typeface="Alice"/>
                <a:ea typeface="Poppins"/>
                <a:cs typeface="Poppins"/>
                <a:sym typeface="Poppins"/>
              </a:rPr>
              <a:t>):</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Xây</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dựng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giao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diện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đồ</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họa</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chuẩn</a:t>
            </a:r>
            <a:r>
              <a:rPr lang="en-US" sz="2584" dirty="0">
                <a:solidFill>
                  <a:srgbClr val="FFFFFF"/>
                </a:solidFill>
                <a:latin typeface="Alice"/>
                <a:ea typeface="Poppins"/>
                <a:cs typeface="Poppins"/>
                <a:sym typeface="Poppins"/>
              </a:rPr>
              <a:t> GUI </a:t>
            </a:r>
            <a:r>
              <a:rPr lang="en-US" sz="2584" dirty="0" err="1">
                <a:solidFill>
                  <a:srgbClr val="FFFFFF"/>
                </a:solidFill>
                <a:latin typeface="Alice"/>
                <a:ea typeface="Poppins"/>
                <a:cs typeface="Poppins"/>
                <a:sym typeface="Poppins"/>
              </a:rPr>
              <a:t>bằng</a:t>
            </a:r>
            <a:r>
              <a:rPr lang="en-US" sz="2584" dirty="0">
                <a:solidFill>
                  <a:srgbClr val="FFFFFF"/>
                </a:solidFill>
                <a:latin typeface="Alice"/>
                <a:ea typeface="Poppins"/>
                <a:cs typeface="Poppins"/>
                <a:sym typeface="Poppins"/>
              </a:rPr>
              <a:t> C# WinForms. </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Đảm</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bảo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truyền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nhận</a:t>
            </a:r>
            <a:r>
              <a:rPr lang="en-US" sz="2584" dirty="0">
                <a:solidFill>
                  <a:srgbClr val="FFFFFF"/>
                </a:solidFill>
                <a:latin typeface="Alice"/>
                <a:ea typeface="Poppins"/>
                <a:cs typeface="Poppins"/>
                <a:sym typeface="Poppins"/>
              </a:rPr>
              <a:t> tin </a:t>
            </a:r>
            <a:r>
              <a:rPr lang="en-US" sz="2584" dirty="0" err="1">
                <a:solidFill>
                  <a:srgbClr val="FFFFFF"/>
                </a:solidFill>
                <a:latin typeface="Alice"/>
                <a:ea typeface="Poppins"/>
                <a:cs typeface="Poppins"/>
                <a:sym typeface="Poppins"/>
              </a:rPr>
              <a:t>nhắn</a:t>
            </a:r>
            <a:r>
              <a:rPr lang="en-US" sz="2584" dirty="0">
                <a:solidFill>
                  <a:srgbClr val="FFFFFF"/>
                </a:solidFill>
                <a:latin typeface="Alice"/>
                <a:ea typeface="Poppins"/>
                <a:cs typeface="Poppins"/>
                <a:sym typeface="Poppins"/>
              </a:rPr>
              <a:t> qua </a:t>
            </a:r>
            <a:r>
              <a:rPr lang="en-US" sz="2584" dirty="0" err="1">
                <a:solidFill>
                  <a:srgbClr val="FFFFFF"/>
                </a:solidFill>
                <a:latin typeface="Alice"/>
                <a:ea typeface="Poppins"/>
                <a:cs typeface="Poppins"/>
                <a:sym typeface="Poppins"/>
              </a:rPr>
              <a:t>giao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thức</a:t>
            </a:r>
            <a:r>
              <a:rPr lang="en-US" sz="2584" dirty="0">
                <a:solidFill>
                  <a:srgbClr val="FFFFFF"/>
                </a:solidFill>
                <a:latin typeface="Alice"/>
                <a:ea typeface="Poppins"/>
                <a:cs typeface="Poppins"/>
                <a:sym typeface="Poppins"/>
              </a:rPr>
              <a:t> TCP </a:t>
            </a:r>
            <a:r>
              <a:rPr lang="en-US" sz="2584" dirty="0" err="1">
                <a:solidFill>
                  <a:srgbClr val="FFFFFF"/>
                </a:solidFill>
                <a:latin typeface="Alice"/>
                <a:ea typeface="Poppins"/>
                <a:cs typeface="Poppins"/>
                <a:sym typeface="Poppins"/>
              </a:rPr>
              <a:t>chính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xác</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đúng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thứ</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tự</a:t>
            </a:r>
            <a:r>
              <a:rPr lang="en-US" sz="2584" dirty="0">
                <a:solidFill>
                  <a:srgbClr val="FFFFFF"/>
                </a:solidFill>
                <a:latin typeface="Alice"/>
                <a:ea typeface="Poppins"/>
                <a:cs typeface="Poppins"/>
                <a:sym typeface="Poppins"/>
              </a:rPr>
              <a:t>. </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Hỗ</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trợ</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tính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năng</a:t>
            </a:r>
            <a:r>
              <a:rPr lang="en-US" sz="2584" dirty="0">
                <a:solidFill>
                  <a:srgbClr val="FFFFFF"/>
                </a:solidFill>
                <a:latin typeface="Alice"/>
                <a:ea typeface="Poppins"/>
                <a:cs typeface="Poppins"/>
                <a:sym typeface="Poppins"/>
              </a:rPr>
              <a:t> Reply (</a:t>
            </a:r>
            <a:r>
              <a:rPr lang="en-US" sz="2584" dirty="0" err="1">
                <a:solidFill>
                  <a:srgbClr val="FFFFFF"/>
                </a:solidFill>
                <a:latin typeface="Alice"/>
                <a:ea typeface="Poppins"/>
                <a:cs typeface="Poppins"/>
                <a:sym typeface="Poppins"/>
              </a:rPr>
              <a:t>trích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dẫn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và</a:t>
            </a:r>
            <a:r>
              <a:rPr lang="en-US" sz="2584" dirty="0">
                <a:solidFill>
                  <a:srgbClr val="FFFFFF"/>
                </a:solidFill>
                <a:latin typeface="Alice"/>
                <a:ea typeface="Poppins"/>
                <a:cs typeface="Poppins"/>
                <a:sym typeface="Poppins"/>
              </a:rPr>
              <a:t> Forward (</a:t>
            </a:r>
            <a:r>
              <a:rPr lang="en-US" sz="2584" dirty="0" err="1">
                <a:solidFill>
                  <a:srgbClr val="FFFFFF"/>
                </a:solidFill>
                <a:latin typeface="Alice"/>
                <a:ea typeface="Poppins"/>
                <a:cs typeface="Poppins"/>
                <a:sym typeface="Poppins"/>
              </a:rPr>
              <a:t>chuyển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tiếp</a:t>
            </a:r>
            <a:r>
              <a:rPr lang="en-US" sz="2584" dirty="0">
                <a:solidFill>
                  <a:srgbClr val="FFFFFF"/>
                </a:solidFill>
                <a:latin typeface="Alice"/>
                <a:ea typeface="Poppins"/>
                <a:cs typeface="Poppins"/>
                <a:sym typeface="Poppins"/>
              </a:rPr>
              <a:t>) tin </a:t>
            </a:r>
            <a:r>
              <a:rPr lang="en-US" sz="2584" dirty="0" err="1">
                <a:solidFill>
                  <a:srgbClr val="FFFFFF"/>
                </a:solidFill>
                <a:latin typeface="Alice"/>
                <a:ea typeface="Poppins"/>
                <a:cs typeface="Poppins"/>
                <a:sym typeface="Poppins"/>
              </a:rPr>
              <a:t>nhắn</a:t>
            </a:r>
            <a:r>
              <a:rPr lang="en-US" sz="2584" dirty="0">
                <a:solidFill>
                  <a:srgbClr val="FFFFFF"/>
                </a:solidFill>
                <a:latin typeface="Alice"/>
                <a:ea typeface="Poppins"/>
                <a:cs typeface="Poppins"/>
                <a:sym typeface="Poppins"/>
              </a:rPr>
              <a:t>. </a:t>
            </a:r>
          </a:p>
          <a:p>
            <a:pPr marL="557914" lvl="1" indent="-278957" algn="l">
              <a:lnSpc>
                <a:spcPts val="3617"/>
              </a:lnSpc>
              <a:spcBef>
                <a:spcPct val="0"/>
              </a:spcBef>
              <a:buFont typeface="Arial"/>
              <a:buChar char="•"/>
            </a:pPr>
            <a:r>
              <a:rPr lang="en-US" sz="2584" dirty="0" err="1">
                <a:solidFill>
                  <a:srgbClr val="FFFFFF"/>
                </a:solidFill>
                <a:latin typeface="Alice"/>
                <a:ea typeface="Poppins"/>
                <a:cs typeface="Poppins"/>
                <a:sym typeface="Poppins"/>
              </a:rPr>
              <a:t>Tích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hợp</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tùy</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chỉnh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ảnh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đại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diện</a:t>
            </a:r>
            <a:r>
              <a:rPr lang="en-US" sz="2584" dirty="0">
                <a:solidFill>
                  <a:srgbClr val="FFFFFF"/>
                </a:solidFill>
                <a:latin typeface="Alice"/>
                <a:ea typeface="Poppins"/>
                <a:cs typeface="Poppins"/>
                <a:sym typeface="Poppins"/>
              </a:rPr>
              <a:t> (Avatar) </a:t>
            </a:r>
            <a:r>
              <a:rPr lang="en-US" sz="2584" dirty="0" err="1">
                <a:solidFill>
                  <a:srgbClr val="FFFFFF"/>
                </a:solidFill>
                <a:latin typeface="Alice"/>
                <a:ea typeface="Poppins"/>
                <a:cs typeface="Poppins"/>
                <a:sym typeface="Poppins"/>
              </a:rPr>
              <a:t>và</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bảng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chọn</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biểu</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tượng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cảm</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xúc</a:t>
            </a:r>
            <a:r>
              <a:rPr lang="en-US" sz="2584" dirty="0">
                <a:solidFill>
                  <a:srgbClr val="FFFFFF"/>
                </a:solidFill>
                <a:latin typeface="Alice"/>
                <a:ea typeface="Poppins"/>
                <a:cs typeface="Poppins"/>
                <a:sym typeface="Poppins"/>
              </a:rPr>
              <a:t> (Emoji). </a:t>
            </a:r>
          </a:p>
          <a:p>
            <a:pPr marL="0" lvl="0" indent="0" algn="just">
              <a:lnSpc>
                <a:spcPts val="3617"/>
              </a:lnSpc>
              <a:spcBef>
                <a:spcPct val="0"/>
              </a:spcBef>
            </a:pPr>
            <a:endParaRPr lang="en-US" sz="2584" dirty="0">
              <a:solidFill>
                <a:srgbClr val="FFFFFF"/>
              </a:solidFill>
              <a:latin typeface="Alice"/>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9" name="Freeform 9"/>
          <p:cNvSpPr/>
          <p:nvPr/>
        </p:nvSpPr>
        <p:spPr>
          <a:xfrm>
            <a:off x="9738244" y="1806753"/>
            <a:ext cx="8317017" cy="5391764"/>
          </a:xfrm>
          <a:custGeom>
            <a:avLst/>
            <a:gdLst/>
            <a:ahLst/>
            <a:cxnLst/>
            <a:rect l="l" t="t" r="r" b="b"/>
            <a:pathLst>
              <a:path w="8317017" h="5391764">
                <a:moveTo>
                  <a:pt x="0" y="0"/>
                </a:moveTo>
                <a:lnTo>
                  <a:pt x="8317018" y="0"/>
                </a:lnTo>
                <a:lnTo>
                  <a:pt x="8317018" y="5391764"/>
                </a:lnTo>
                <a:lnTo>
                  <a:pt x="0" y="5391764"/>
                </a:lnTo>
                <a:lnTo>
                  <a:pt x="0" y="0"/>
                </a:lnTo>
                <a:close/>
              </a:path>
            </a:pathLst>
          </a:custGeom>
          <a:blipFill>
            <a:blip r:embed="rId3"/>
            <a:stretch>
              <a:fillRect l="-11753" r="-6716"/>
            </a:stretch>
          </a:blipFill>
        </p:spPr>
        <p:txBody>
          <a:bodyPr/>
          <a:lstStyle/>
          <a:p>
            <a:endParaRPr lang="en-US"/>
          </a:p>
        </p:txBody>
      </p:sp>
      <p:sp>
        <p:nvSpPr>
          <p:cNvPr id="10" name="TextBox 10"/>
          <p:cNvSpPr txBox="1"/>
          <p:nvPr/>
        </p:nvSpPr>
        <p:spPr>
          <a:xfrm>
            <a:off x="384075" y="726037"/>
            <a:ext cx="7951912" cy="581025"/>
          </a:xfrm>
          <a:prstGeom prst="rect">
            <a:avLst/>
          </a:prstGeom>
        </p:spPr>
        <p:txBody>
          <a:bodyPr lIns="0" tIns="0" rIns="0" bIns="0" rtlCol="0" anchor="t">
            <a:spAutoFit/>
          </a:bodyPr>
          <a:lstStyle/>
          <a:p>
            <a:pPr algn="l">
              <a:lnSpc>
                <a:spcPts val="4085"/>
              </a:lnSpc>
            </a:pPr>
            <a:r>
              <a:rPr lang="en-US" sz="3404" b="1">
                <a:solidFill>
                  <a:srgbClr val="00FFFF"/>
                </a:solidFill>
                <a:latin typeface="Neo Sans Bold"/>
                <a:ea typeface="Neo Sans Bold"/>
                <a:cs typeface="Neo Sans Bold"/>
                <a:sym typeface="Neo Sans Bold"/>
              </a:rPr>
              <a:t>MÔ HÌNH CLIENT-SERVER </a:t>
            </a:r>
          </a:p>
        </p:txBody>
      </p:sp>
      <p:sp>
        <p:nvSpPr>
          <p:cNvPr id="11" name="TextBox 11"/>
          <p:cNvSpPr txBox="1"/>
          <p:nvPr/>
        </p:nvSpPr>
        <p:spPr>
          <a:xfrm>
            <a:off x="813825" y="2718920"/>
            <a:ext cx="7951912" cy="3481705"/>
          </a:xfrm>
          <a:prstGeom prst="rect">
            <a:avLst/>
          </a:prstGeom>
        </p:spPr>
        <p:txBody>
          <a:bodyPr lIns="0" tIns="0" rIns="0" bIns="0" rtlCol="0" anchor="t">
            <a:spAutoFit/>
          </a:bodyPr>
          <a:lstStyle/>
          <a:p>
            <a:pPr marL="604521" lvl="1" indent="-302261" algn="l">
              <a:lnSpc>
                <a:spcPts val="3920"/>
              </a:lnSpc>
              <a:buFont typeface="Arial"/>
              <a:buChar char="•"/>
            </a:pPr>
            <a:r>
              <a:rPr lang="en-US" sz="2800">
                <a:solidFill>
                  <a:srgbClr val="FFFFFF"/>
                </a:solidFill>
                <a:latin typeface="Poppins"/>
                <a:ea typeface="Poppins"/>
                <a:cs typeface="Poppins"/>
                <a:sym typeface="Poppins"/>
              </a:rPr>
              <a:t>Server: Lắng nghe kết nối thụ động trên Port, quản lý danh sách kết nối và định tuyến tin nhắn giữa các Client. </a:t>
            </a:r>
          </a:p>
          <a:p>
            <a:pPr marL="604521" lvl="1" indent="-302261" algn="l">
              <a:lnSpc>
                <a:spcPts val="3920"/>
              </a:lnSpc>
              <a:spcBef>
                <a:spcPct val="0"/>
              </a:spcBef>
              <a:buFont typeface="Arial"/>
              <a:buChar char="•"/>
            </a:pPr>
            <a:r>
              <a:rPr lang="en-US" sz="2800">
                <a:solidFill>
                  <a:srgbClr val="FFFFFF"/>
                </a:solidFill>
                <a:latin typeface="Poppins"/>
                <a:ea typeface="Poppins"/>
                <a:cs typeface="Poppins"/>
                <a:sym typeface="Poppins"/>
              </a:rPr>
              <a:t>Client: Gửi yêu cầu kết nối, cung cấp giao diện đồ họa GUI cho người dùng thao tác.</a:t>
            </a:r>
          </a:p>
          <a:p>
            <a:pPr marL="0" lvl="0" indent="0" algn="just">
              <a:lnSpc>
                <a:spcPts val="3920"/>
              </a:lnSpc>
              <a:spcBef>
                <a:spcPct val="0"/>
              </a:spcBef>
            </a:pPr>
            <a:endParaRPr lang="en-US" sz="280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9" name="Freeform 9"/>
          <p:cNvSpPr/>
          <p:nvPr/>
        </p:nvSpPr>
        <p:spPr>
          <a:xfrm>
            <a:off x="9144000" y="2046532"/>
            <a:ext cx="8625770" cy="6738858"/>
          </a:xfrm>
          <a:custGeom>
            <a:avLst/>
            <a:gdLst/>
            <a:ahLst/>
            <a:cxnLst/>
            <a:rect l="l" t="t" r="r" b="b"/>
            <a:pathLst>
              <a:path w="8625770" h="6738858">
                <a:moveTo>
                  <a:pt x="0" y="0"/>
                </a:moveTo>
                <a:lnTo>
                  <a:pt x="8625770" y="0"/>
                </a:lnTo>
                <a:lnTo>
                  <a:pt x="8625770" y="6738857"/>
                </a:lnTo>
                <a:lnTo>
                  <a:pt x="0" y="6738857"/>
                </a:lnTo>
                <a:lnTo>
                  <a:pt x="0" y="0"/>
                </a:lnTo>
                <a:close/>
              </a:path>
            </a:pathLst>
          </a:custGeom>
          <a:blipFill>
            <a:blip r:embed="rId3"/>
            <a:stretch>
              <a:fillRect l="-10266" r="-15510"/>
            </a:stretch>
          </a:blipFill>
        </p:spPr>
        <p:txBody>
          <a:bodyPr/>
          <a:lstStyle/>
          <a:p>
            <a:endParaRPr lang="en-US">
              <a:latin typeface="Alice"/>
            </a:endParaRPr>
          </a:p>
        </p:txBody>
      </p:sp>
      <p:sp>
        <p:nvSpPr>
          <p:cNvPr id="10" name="TextBox 10"/>
          <p:cNvSpPr txBox="1"/>
          <p:nvPr/>
        </p:nvSpPr>
        <p:spPr>
          <a:xfrm>
            <a:off x="437794" y="601205"/>
            <a:ext cx="7951912" cy="509563"/>
          </a:xfrm>
          <a:prstGeom prst="rect">
            <a:avLst/>
          </a:prstGeom>
        </p:spPr>
        <p:txBody>
          <a:bodyPr lIns="0" tIns="0" rIns="0" bIns="0" rtlCol="0" anchor="t">
            <a:spAutoFit/>
          </a:bodyPr>
          <a:lstStyle/>
          <a:p>
            <a:pPr algn="l">
              <a:lnSpc>
                <a:spcPts val="4085"/>
              </a:lnSpc>
            </a:pPr>
            <a:r>
              <a:rPr lang="en-US" sz="3404" b="1" dirty="0">
                <a:solidFill>
                  <a:srgbClr val="00FFFF"/>
                </a:solidFill>
                <a:latin typeface="Alice"/>
                <a:ea typeface="Neo Sans Bold"/>
                <a:cs typeface="Neo Sans Bold"/>
                <a:sym typeface="Neo Sans Bold"/>
              </a:rPr>
              <a:t>SOCKET TCP/IP TRONG C#/.NET:</a:t>
            </a:r>
          </a:p>
        </p:txBody>
      </p:sp>
      <p:sp>
        <p:nvSpPr>
          <p:cNvPr id="11" name="TextBox 11"/>
          <p:cNvSpPr txBox="1"/>
          <p:nvPr/>
        </p:nvSpPr>
        <p:spPr>
          <a:xfrm>
            <a:off x="559765" y="2591458"/>
            <a:ext cx="7951912" cy="4472305"/>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FFFFFF"/>
                </a:solidFill>
                <a:latin typeface="Alice"/>
                <a:ea typeface="Poppins"/>
                <a:cs typeface="Poppins"/>
                <a:sym typeface="Poppins"/>
              </a:rPr>
              <a:t>TCP: Giao thức hướng kết nối, đảm bảo dữ liệu không bị mất mát hay lệch thứ tự. </a:t>
            </a:r>
          </a:p>
          <a:p>
            <a:pPr marL="604519" lvl="1" indent="-302260" algn="l">
              <a:lnSpc>
                <a:spcPts val="3919"/>
              </a:lnSpc>
              <a:buFont typeface="Arial"/>
              <a:buChar char="•"/>
            </a:pPr>
            <a:r>
              <a:rPr lang="en-US" sz="2799">
                <a:solidFill>
                  <a:srgbClr val="FFFFFF"/>
                </a:solidFill>
                <a:latin typeface="Alice"/>
                <a:ea typeface="Poppins"/>
                <a:cs typeface="Poppins"/>
                <a:sym typeface="Poppins"/>
              </a:rPr>
              <a:t>TcpListener: Khởi tạo và lắng nghe các kết nối từ Client. </a:t>
            </a:r>
          </a:p>
          <a:p>
            <a:pPr marL="604519" lvl="1" indent="-302260" algn="l">
              <a:lnSpc>
                <a:spcPts val="3919"/>
              </a:lnSpc>
              <a:buFont typeface="Arial"/>
              <a:buChar char="•"/>
            </a:pPr>
            <a:r>
              <a:rPr lang="en-US" sz="2799">
                <a:solidFill>
                  <a:srgbClr val="FFFFFF"/>
                </a:solidFill>
                <a:latin typeface="Alice"/>
                <a:ea typeface="Poppins"/>
                <a:cs typeface="Poppins"/>
                <a:sym typeface="Poppins"/>
              </a:rPr>
              <a:t>TcpClient: Quản lý và duy trì kết nối giữa Client và Server. </a:t>
            </a:r>
          </a:p>
          <a:p>
            <a:pPr marL="604519" lvl="1" indent="-302260" algn="l">
              <a:lnSpc>
                <a:spcPts val="3919"/>
              </a:lnSpc>
              <a:spcBef>
                <a:spcPct val="0"/>
              </a:spcBef>
              <a:buFont typeface="Arial"/>
              <a:buChar char="•"/>
            </a:pPr>
            <a:r>
              <a:rPr lang="en-US" sz="2799">
                <a:solidFill>
                  <a:srgbClr val="FFFFFF"/>
                </a:solidFill>
                <a:latin typeface="Alice"/>
                <a:ea typeface="Poppins"/>
                <a:cs typeface="Poppins"/>
                <a:sym typeface="Poppins"/>
              </a:rPr>
              <a:t>NetworkStream: Luồng dữ liệu byte truyền/nhận trực tiếp giữa 2 phía. </a:t>
            </a:r>
          </a:p>
          <a:p>
            <a:pPr marL="0" lvl="0" indent="0" algn="just">
              <a:lnSpc>
                <a:spcPts val="3919"/>
              </a:lnSpc>
              <a:spcBef>
                <a:spcPct val="0"/>
              </a:spcBef>
            </a:pPr>
            <a:endParaRPr lang="en-US" sz="2799">
              <a:solidFill>
                <a:srgbClr val="FFFFFF"/>
              </a:solidFill>
              <a:latin typeface="Alice"/>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12" name="TextBox 12"/>
          <p:cNvSpPr txBox="1"/>
          <p:nvPr/>
        </p:nvSpPr>
        <p:spPr>
          <a:xfrm>
            <a:off x="902586" y="653956"/>
            <a:ext cx="8959904" cy="615553"/>
          </a:xfrm>
          <a:prstGeom prst="rect">
            <a:avLst/>
          </a:prstGeom>
        </p:spPr>
        <p:txBody>
          <a:bodyPr lIns="0" tIns="0" rIns="0" bIns="0" rtlCol="0" anchor="t">
            <a:spAutoFit/>
          </a:bodyPr>
          <a:lstStyle/>
          <a:p>
            <a:pPr algn="l">
              <a:lnSpc>
                <a:spcPts val="4806"/>
              </a:lnSpc>
            </a:pPr>
            <a:r>
              <a:rPr lang="en-US" sz="4005" b="1" dirty="0">
                <a:solidFill>
                  <a:srgbClr val="00FFFF"/>
                </a:solidFill>
                <a:latin typeface="Alice"/>
                <a:ea typeface="Neo Sans Bold"/>
                <a:cs typeface="Neo Sans Bold"/>
                <a:sym typeface="Neo Sans Bold"/>
              </a:rPr>
              <a:t>TỔNG QUAN CÁC ĐẦU VÀO (INPUTS)</a:t>
            </a:r>
          </a:p>
        </p:txBody>
      </p:sp>
      <p:sp>
        <p:nvSpPr>
          <p:cNvPr id="13" name="TextBox 13"/>
          <p:cNvSpPr txBox="1"/>
          <p:nvPr/>
        </p:nvSpPr>
        <p:spPr>
          <a:xfrm>
            <a:off x="1028700" y="2610581"/>
            <a:ext cx="8428520" cy="3203698"/>
          </a:xfrm>
          <a:prstGeom prst="rect">
            <a:avLst/>
          </a:prstGeom>
        </p:spPr>
        <p:txBody>
          <a:bodyPr lIns="0" tIns="0" rIns="0" bIns="0" rtlCol="0" anchor="t">
            <a:spAutoFit/>
          </a:bodyPr>
          <a:lstStyle/>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Đầu</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vào</a:t>
            </a:r>
            <a:r>
              <a:rPr lang="en-US" sz="2584" dirty="0">
                <a:solidFill>
                  <a:srgbClr val="FFFFFF"/>
                </a:solidFill>
                <a:latin typeface="Alice"/>
                <a:ea typeface="Poppins"/>
                <a:cs typeface="Poppins"/>
                <a:sym typeface="Poppins"/>
              </a:rPr>
              <a:t> Giao </a:t>
            </a:r>
            <a:r>
              <a:rPr lang="en-US" sz="2584" dirty="0" err="1">
                <a:solidFill>
                  <a:srgbClr val="FFFFFF"/>
                </a:solidFill>
                <a:latin typeface="Alice"/>
                <a:ea typeface="Poppins"/>
                <a:cs typeface="Poppins"/>
                <a:sym typeface="Poppins"/>
              </a:rPr>
              <a:t>diện</a:t>
            </a:r>
            <a:r>
              <a:rPr lang="en-US" sz="2584" dirty="0">
                <a:solidFill>
                  <a:srgbClr val="FFFFFF"/>
                </a:solidFill>
                <a:latin typeface="Alice"/>
                <a:ea typeface="Poppins"/>
                <a:cs typeface="Poppins"/>
                <a:sym typeface="Poppins"/>
              </a:rPr>
              <a:t> (UI): </a:t>
            </a:r>
            <a:r>
              <a:rPr lang="en-US" sz="2584" dirty="0" err="1">
                <a:solidFill>
                  <a:srgbClr val="FFFFFF"/>
                </a:solidFill>
                <a:latin typeface="Alice"/>
                <a:ea typeface="Poppins"/>
                <a:cs typeface="Poppins"/>
                <a:sym typeface="Poppins"/>
              </a:rPr>
              <a:t>Tương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tác</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người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dùng</a:t>
            </a:r>
            <a:r>
              <a:rPr lang="en-US" sz="2584" dirty="0">
                <a:solidFill>
                  <a:srgbClr val="FFFFFF"/>
                </a:solidFill>
                <a:latin typeface="Alice"/>
                <a:ea typeface="Poppins"/>
                <a:cs typeface="Poppins"/>
                <a:sym typeface="Poppins"/>
              </a:rPr>
              <a:t> qua WinForms (</a:t>
            </a:r>
            <a:r>
              <a:rPr lang="en-US" sz="2584" dirty="0" err="1">
                <a:solidFill>
                  <a:srgbClr val="FFFFFF"/>
                </a:solidFill>
                <a:latin typeface="Alice"/>
                <a:ea typeface="Poppins"/>
                <a:cs typeface="Poppins"/>
                <a:sym typeface="Poppins"/>
              </a:rPr>
              <a:t>TextBox</a:t>
            </a:r>
            <a:r>
              <a:rPr lang="en-US" sz="2584" dirty="0">
                <a:solidFill>
                  <a:srgbClr val="FFFFFF"/>
                </a:solidFill>
                <a:latin typeface="Alice"/>
                <a:ea typeface="Poppins"/>
                <a:cs typeface="Poppins"/>
                <a:sym typeface="Poppins"/>
              </a:rPr>
              <a:t>, Button, </a:t>
            </a:r>
            <a:r>
              <a:rPr lang="en-US" sz="2584" dirty="0" err="1">
                <a:solidFill>
                  <a:srgbClr val="FFFFFF"/>
                </a:solidFill>
                <a:latin typeface="Alice"/>
                <a:ea typeface="Poppins"/>
                <a:cs typeface="Poppins"/>
                <a:sym typeface="Poppins"/>
              </a:rPr>
              <a:t>ListBox</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OpenFileDialog</a:t>
            </a:r>
            <a:r>
              <a:rPr lang="en-US" sz="2584" dirty="0">
                <a:solidFill>
                  <a:srgbClr val="FFFFFF"/>
                </a:solidFill>
                <a:latin typeface="Alice"/>
                <a:ea typeface="Poppins"/>
                <a:cs typeface="Poppins"/>
                <a:sym typeface="Poppins"/>
              </a:rPr>
              <a:t>). </a:t>
            </a:r>
          </a:p>
          <a:p>
            <a:pPr marL="557914" lvl="1" indent="-278957" algn="l">
              <a:lnSpc>
                <a:spcPts val="3617"/>
              </a:lnSpc>
              <a:buFont typeface="Arial"/>
              <a:buChar char="•"/>
            </a:pPr>
            <a:r>
              <a:rPr lang="en-US" sz="2584" dirty="0" err="1">
                <a:solidFill>
                  <a:srgbClr val="FFFFFF"/>
                </a:solidFill>
                <a:latin typeface="Alice"/>
                <a:ea typeface="Poppins"/>
                <a:cs typeface="Poppins"/>
                <a:sym typeface="Poppins"/>
              </a:rPr>
              <a:t>Đầu</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vào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Luồng</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mạng</a:t>
            </a:r>
            <a:r>
              <a:rPr lang="en-US" sz="2584" dirty="0">
                <a:solidFill>
                  <a:srgbClr val="FFFFFF"/>
                </a:solidFill>
                <a:latin typeface="Alice"/>
                <a:ea typeface="Poppins"/>
                <a:cs typeface="Poppins"/>
                <a:sym typeface="Poppins"/>
              </a:rPr>
              <a:t> (Network Stream): </a:t>
            </a:r>
            <a:r>
              <a:rPr lang="en-US" sz="2584" dirty="0" err="1">
                <a:solidFill>
                  <a:srgbClr val="FFFFFF"/>
                </a:solidFill>
                <a:latin typeface="Alice"/>
                <a:ea typeface="Poppins"/>
                <a:cs typeface="Poppins"/>
                <a:sym typeface="Poppins"/>
              </a:rPr>
              <a:t>Mảng</a:t>
            </a:r>
            <a:r>
              <a:rPr lang="en-US" sz="2584" dirty="0">
                <a:solidFill>
                  <a:srgbClr val="FFFFFF"/>
                </a:solidFill>
                <a:latin typeface="Alice"/>
                <a:ea typeface="Poppins"/>
                <a:cs typeface="Poppins"/>
                <a:sym typeface="Poppins"/>
              </a:rPr>
              <a:t> byte[] </a:t>
            </a:r>
            <a:r>
              <a:rPr lang="en-US" sz="2584" dirty="0" err="1">
                <a:solidFill>
                  <a:srgbClr val="FFFFFF"/>
                </a:solidFill>
                <a:latin typeface="Alice"/>
                <a:ea typeface="Poppins"/>
                <a:cs typeface="Poppins"/>
                <a:sym typeface="Poppins"/>
              </a:rPr>
              <a:t>nhận</a:t>
            </a:r>
            <a:r>
              <a:rPr lang="en-US" sz="2584" dirty="0">
                <a:solidFill>
                  <a:srgbClr val="FFFFFF"/>
                </a:solidFill>
                <a:latin typeface="Alice"/>
                <a:ea typeface="Poppins"/>
                <a:cs typeface="Poppins"/>
                <a:sym typeface="Poppins"/>
              </a:rPr>
              <a:t> qua </a:t>
            </a:r>
            <a:r>
              <a:rPr lang="en-US" sz="2584" dirty="0" err="1">
                <a:solidFill>
                  <a:srgbClr val="FFFFFF"/>
                </a:solidFill>
                <a:latin typeface="Alice"/>
                <a:ea typeface="Poppins"/>
                <a:cs typeface="Poppins"/>
                <a:sym typeface="Poppins"/>
              </a:rPr>
              <a:t>giao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thức</a:t>
            </a:r>
            <a:r>
              <a:rPr lang="en-US" sz="2584" dirty="0">
                <a:solidFill>
                  <a:srgbClr val="FFFFFF"/>
                </a:solidFill>
                <a:latin typeface="Alice"/>
                <a:ea typeface="Poppins"/>
                <a:cs typeface="Poppins"/>
                <a:sym typeface="Poppins"/>
              </a:rPr>
              <a:t> TCP, </a:t>
            </a:r>
            <a:r>
              <a:rPr lang="en-US" sz="2584" dirty="0" err="1">
                <a:solidFill>
                  <a:srgbClr val="FFFFFF"/>
                </a:solidFill>
                <a:latin typeface="Alice"/>
                <a:ea typeface="Poppins"/>
                <a:cs typeface="Poppins"/>
                <a:sym typeface="Poppins"/>
              </a:rPr>
              <a:t>giải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mã</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thành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đối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tượng</a:t>
            </a:r>
            <a:r>
              <a:rPr lang="en-US" sz="2584" dirty="0">
                <a:solidFill>
                  <a:srgbClr val="FFFFFF"/>
                </a:solidFill>
                <a:latin typeface="Alice"/>
                <a:ea typeface="Poppins"/>
                <a:cs typeface="Poppins"/>
                <a:sym typeface="Poppins"/>
              </a:rPr>
              <a:t> JSON. </a:t>
            </a:r>
          </a:p>
          <a:p>
            <a:pPr marL="557914" lvl="1" indent="-278957" algn="l">
              <a:lnSpc>
                <a:spcPts val="3617"/>
              </a:lnSpc>
              <a:spcBef>
                <a:spcPct val="0"/>
              </a:spcBef>
              <a:buFont typeface="Arial"/>
              <a:buChar char="•"/>
            </a:pPr>
            <a:r>
              <a:rPr lang="en-US" sz="2584" dirty="0" err="1">
                <a:solidFill>
                  <a:srgbClr val="FFFFFF"/>
                </a:solidFill>
                <a:latin typeface="Alice"/>
                <a:ea typeface="Poppins"/>
                <a:cs typeface="Poppins"/>
                <a:sym typeface="Poppins"/>
              </a:rPr>
              <a:t>Đầu</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vào</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Cấu</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hình</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Địa</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chỉ</a:t>
            </a:r>
            <a:r>
              <a:rPr lang="en-US" sz="2584" dirty="0">
                <a:solidFill>
                  <a:srgbClr val="FFFFFF"/>
                </a:solidFill>
                <a:latin typeface="Alice"/>
                <a:ea typeface="Poppins"/>
                <a:cs typeface="Poppins"/>
                <a:sym typeface="Poppins"/>
              </a:rPr>
              <a:t> IP Server, </a:t>
            </a:r>
            <a:r>
              <a:rPr lang="en-US" sz="2584" dirty="0" err="1">
                <a:solidFill>
                  <a:srgbClr val="FFFFFF"/>
                </a:solidFill>
                <a:latin typeface="Alice"/>
                <a:ea typeface="Poppins"/>
                <a:cs typeface="Poppins"/>
                <a:sym typeface="Poppins"/>
              </a:rPr>
              <a:t>Cổng</a:t>
            </a:r>
            <a:r>
              <a:rPr lang="en-US" sz="2584" dirty="0">
                <a:solidFill>
                  <a:srgbClr val="FFFFFF"/>
                </a:solidFill>
                <a:latin typeface="Alice"/>
                <a:ea typeface="Poppins"/>
                <a:cs typeface="Poppins"/>
                <a:sym typeface="Poppins"/>
              </a:rPr>
              <a:t> (Port) </a:t>
            </a:r>
            <a:r>
              <a:rPr lang="en-US" sz="2584" dirty="0" err="1">
                <a:solidFill>
                  <a:srgbClr val="FFFFFF"/>
                </a:solidFill>
                <a:latin typeface="Alice"/>
                <a:ea typeface="Poppins"/>
                <a:cs typeface="Poppins"/>
                <a:sym typeface="Poppins"/>
              </a:rPr>
              <a:t>và</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chuỗi</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kết</a:t>
            </a:r>
            <a:r>
              <a:rPr lang="en-US" sz="2584" dirty="0">
                <a:solidFill>
                  <a:srgbClr val="FFFFFF"/>
                </a:solidFill>
                <a:latin typeface="Alice"/>
                <a:ea typeface="Poppins"/>
                <a:cs typeface="Poppins"/>
                <a:sym typeface="Poppins"/>
              </a:rPr>
              <a:t> </a:t>
            </a:r>
            <a:r>
              <a:rPr lang="en-US" sz="2584" dirty="0" err="1">
                <a:solidFill>
                  <a:srgbClr val="FFFFFF"/>
                </a:solidFill>
                <a:latin typeface="Alice"/>
                <a:ea typeface="Poppins"/>
                <a:cs typeface="Poppins"/>
                <a:sym typeface="Poppins"/>
              </a:rPr>
              <a:t>nối</a:t>
            </a:r>
            <a:r>
              <a:rPr lang="en-US" sz="2584" dirty="0">
                <a:solidFill>
                  <a:srgbClr val="FFFFFF"/>
                </a:solidFill>
                <a:latin typeface="Alice"/>
                <a:ea typeface="Poppins"/>
                <a:cs typeface="Poppins"/>
                <a:sym typeface="Poppins"/>
              </a:rPr>
              <a:t> CSDL (Connection String). </a:t>
            </a:r>
          </a:p>
          <a:p>
            <a:pPr marL="0" lvl="0" indent="0" algn="just">
              <a:lnSpc>
                <a:spcPts val="3617"/>
              </a:lnSpc>
              <a:spcBef>
                <a:spcPct val="0"/>
              </a:spcBef>
            </a:pPr>
            <a:endParaRPr lang="en-US" sz="2584" dirty="0">
              <a:solidFill>
                <a:srgbClr val="FFFFFF"/>
              </a:solidFill>
              <a:latin typeface="Alice"/>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9" name="Freeform 9"/>
          <p:cNvSpPr/>
          <p:nvPr/>
        </p:nvSpPr>
        <p:spPr>
          <a:xfrm>
            <a:off x="10859207" y="2992090"/>
            <a:ext cx="6806313" cy="5056118"/>
          </a:xfrm>
          <a:custGeom>
            <a:avLst/>
            <a:gdLst/>
            <a:ahLst/>
            <a:cxnLst/>
            <a:rect l="l" t="t" r="r" b="b"/>
            <a:pathLst>
              <a:path w="6806313" h="5056118">
                <a:moveTo>
                  <a:pt x="0" y="0"/>
                </a:moveTo>
                <a:lnTo>
                  <a:pt x="6806313" y="0"/>
                </a:lnTo>
                <a:lnTo>
                  <a:pt x="6806313" y="5056118"/>
                </a:lnTo>
                <a:lnTo>
                  <a:pt x="0" y="505611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392258" y="706987"/>
            <a:ext cx="10678903" cy="700746"/>
          </a:xfrm>
          <a:prstGeom prst="rect">
            <a:avLst/>
          </a:prstGeom>
        </p:spPr>
        <p:txBody>
          <a:bodyPr lIns="0" tIns="0" rIns="0" bIns="0" rtlCol="0" anchor="t">
            <a:spAutoFit/>
          </a:bodyPr>
          <a:lstStyle/>
          <a:p>
            <a:pPr algn="l">
              <a:lnSpc>
                <a:spcPts val="4806"/>
              </a:lnSpc>
            </a:pPr>
            <a:r>
              <a:rPr lang="en-US" sz="4005" b="1">
                <a:solidFill>
                  <a:srgbClr val="00FFFF"/>
                </a:solidFill>
                <a:latin typeface="Neo Sans Bold"/>
                <a:ea typeface="Neo Sans Bold"/>
                <a:cs typeface="Neo Sans Bold"/>
                <a:sym typeface="Neo Sans Bold"/>
              </a:rPr>
              <a:t>TIÊU CHÍ 1 — ĐĂNG NHẬP, ĐĂNG KÝ &amp; CSDL</a:t>
            </a:r>
          </a:p>
        </p:txBody>
      </p:sp>
      <p:sp>
        <p:nvSpPr>
          <p:cNvPr id="11" name="TextBox 11"/>
          <p:cNvSpPr txBox="1"/>
          <p:nvPr/>
        </p:nvSpPr>
        <p:spPr>
          <a:xfrm>
            <a:off x="1060386" y="2815548"/>
            <a:ext cx="8428520" cy="5030238"/>
          </a:xfrm>
          <a:prstGeom prst="rect">
            <a:avLst/>
          </a:prstGeom>
        </p:spPr>
        <p:txBody>
          <a:bodyPr lIns="0" tIns="0" rIns="0" bIns="0" rtlCol="0" anchor="t">
            <a:spAutoFit/>
          </a:bodyPr>
          <a:lstStyle/>
          <a:p>
            <a:pPr marL="557914" lvl="1" indent="-278957" algn="just">
              <a:lnSpc>
                <a:spcPts val="3617"/>
              </a:lnSpc>
              <a:buFont typeface="Arial"/>
              <a:buChar char="•"/>
            </a:pPr>
            <a:r>
              <a:rPr lang="en-US" sz="2584" spc="129">
                <a:solidFill>
                  <a:srgbClr val="FFFFFF"/>
                </a:solidFill>
                <a:latin typeface="Poppins"/>
                <a:ea typeface="Poppins"/>
                <a:cs typeface="Poppins"/>
                <a:sym typeface="Poppins"/>
              </a:rPr>
              <a:t>Đầu vào: Thông tin tài khoản (Username, Password, DisplayName), ảnh Avatar (.jpg/.png) và tham số kết nối mạng. </a:t>
            </a:r>
          </a:p>
          <a:p>
            <a:pPr marL="557914" lvl="1" indent="-278957" algn="just">
              <a:lnSpc>
                <a:spcPts val="3617"/>
              </a:lnSpc>
              <a:buFont typeface="Arial"/>
              <a:buChar char="•"/>
            </a:pPr>
            <a:r>
              <a:rPr lang="en-US" sz="2584" spc="129">
                <a:solidFill>
                  <a:srgbClr val="FFFFFF"/>
                </a:solidFill>
                <a:latin typeface="Poppins"/>
                <a:ea typeface="Poppins"/>
                <a:cs typeface="Poppins"/>
                <a:sym typeface="Poppins"/>
              </a:rPr>
              <a:t>Thiết kế CSDL: Bảng Users lưu trữ thông tin, bảo mật mật khẩu bằng PasswordHash và lưu ảnh đại diện dạng AvatarBase64. </a:t>
            </a:r>
          </a:p>
          <a:p>
            <a:pPr marL="557914" lvl="1" indent="-278957" algn="just">
              <a:lnSpc>
                <a:spcPts val="3617"/>
              </a:lnSpc>
              <a:spcBef>
                <a:spcPct val="0"/>
              </a:spcBef>
              <a:buFont typeface="Arial"/>
              <a:buChar char="•"/>
            </a:pPr>
            <a:r>
              <a:rPr lang="en-US" sz="2584" spc="129">
                <a:solidFill>
                  <a:srgbClr val="FFFFFF"/>
                </a:solidFill>
                <a:latin typeface="Poppins"/>
                <a:ea typeface="Poppins"/>
                <a:cs typeface="Poppins"/>
                <a:sym typeface="Poppins"/>
              </a:rPr>
              <a:t>Xử lý &amp; Nghiệm thu: Client kiểm tra dữ liệu đầu vào, Server trả về kết quả AUTH_SUCCESS hoặc AUTH_FAILED kèm lý do cụ thể. </a:t>
            </a:r>
          </a:p>
          <a:p>
            <a:pPr marL="0" lvl="0" indent="0" algn="just">
              <a:lnSpc>
                <a:spcPts val="3617"/>
              </a:lnSpc>
              <a:spcBef>
                <a:spcPct val="0"/>
              </a:spcBef>
            </a:pPr>
            <a:endParaRPr lang="en-US" sz="2584" spc="129">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latin typeface="Alice"/>
              </a:endParaRPr>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latin typeface="Alice"/>
            </a:endParaRPr>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12" name="TextBox 12"/>
          <p:cNvSpPr txBox="1"/>
          <p:nvPr/>
        </p:nvSpPr>
        <p:spPr>
          <a:xfrm>
            <a:off x="491513" y="557911"/>
            <a:ext cx="12478480" cy="615553"/>
          </a:xfrm>
          <a:prstGeom prst="rect">
            <a:avLst/>
          </a:prstGeom>
        </p:spPr>
        <p:txBody>
          <a:bodyPr lIns="0" tIns="0" rIns="0" bIns="0" rtlCol="0" anchor="t">
            <a:spAutoFit/>
          </a:bodyPr>
          <a:lstStyle/>
          <a:p>
            <a:pPr algn="l">
              <a:lnSpc>
                <a:spcPts val="4806"/>
              </a:lnSpc>
            </a:pPr>
            <a:r>
              <a:rPr lang="en-US" sz="4005" b="1" dirty="0">
                <a:solidFill>
                  <a:srgbClr val="00FFFF"/>
                </a:solidFill>
                <a:latin typeface="Alice"/>
                <a:ea typeface="Neo Sans Bold"/>
                <a:cs typeface="Neo Sans Bold"/>
                <a:sym typeface="Neo Sans Bold"/>
              </a:rPr>
              <a:t>TIÊU CHÍ 2 — CHAT 1-1, CHAT NHÓM &amp; TRẠNG THÁI</a:t>
            </a:r>
          </a:p>
        </p:txBody>
      </p:sp>
      <p:sp>
        <p:nvSpPr>
          <p:cNvPr id="13" name="TextBox 13"/>
          <p:cNvSpPr txBox="1"/>
          <p:nvPr/>
        </p:nvSpPr>
        <p:spPr>
          <a:xfrm>
            <a:off x="864393" y="2087533"/>
            <a:ext cx="8279607" cy="5972148"/>
          </a:xfrm>
          <a:prstGeom prst="rect">
            <a:avLst/>
          </a:prstGeom>
        </p:spPr>
        <p:txBody>
          <a:bodyPr lIns="0" tIns="0" rIns="0" bIns="0" rtlCol="0" anchor="t">
            <a:spAutoFit/>
          </a:bodyPr>
          <a:lstStyle/>
          <a:p>
            <a:pPr marL="548058" lvl="1" indent="-274029" algn="l">
              <a:lnSpc>
                <a:spcPts val="3553"/>
              </a:lnSpc>
              <a:buFont typeface="Arial"/>
              <a:buChar char="•"/>
            </a:pPr>
            <a:r>
              <a:rPr lang="en-US" sz="2538" spc="126" dirty="0" err="1">
                <a:solidFill>
                  <a:srgbClr val="FFFFFF"/>
                </a:solidFill>
                <a:latin typeface="Alice"/>
                <a:ea typeface="Poppins"/>
                <a:cs typeface="Poppins"/>
                <a:sym typeface="Poppins"/>
              </a:rPr>
              <a:t>Trạng</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thái</a:t>
            </a:r>
            <a:r>
              <a:rPr lang="en-US" sz="2538" spc="126" dirty="0">
                <a:solidFill>
                  <a:srgbClr val="FFFFFF"/>
                </a:solidFill>
                <a:latin typeface="Alice"/>
                <a:ea typeface="Poppins"/>
                <a:cs typeface="Poppins"/>
                <a:sym typeface="Poppins"/>
              </a:rPr>
              <a:t> Online/Offline: </a:t>
            </a:r>
            <a:r>
              <a:rPr lang="en-US" sz="2538" spc="126" dirty="0" err="1">
                <a:solidFill>
                  <a:srgbClr val="FFFFFF"/>
                </a:solidFill>
                <a:latin typeface="Alice"/>
                <a:ea typeface="Poppins"/>
                <a:cs typeface="Poppins"/>
                <a:sym typeface="Poppins"/>
              </a:rPr>
              <a:t>Nhận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biết</a:t>
            </a:r>
            <a:r>
              <a:rPr lang="en-US" sz="2538" spc="126" dirty="0">
                <a:solidFill>
                  <a:srgbClr val="FFFFFF"/>
                </a:solidFill>
                <a:latin typeface="Alice"/>
                <a:ea typeface="Poppins"/>
                <a:cs typeface="Poppins"/>
                <a:sym typeface="Poppins"/>
              </a:rPr>
              <a:t> qua </a:t>
            </a:r>
            <a:r>
              <a:rPr lang="en-US" sz="2538" spc="126" dirty="0" err="1">
                <a:solidFill>
                  <a:srgbClr val="FFFFFF"/>
                </a:solidFill>
                <a:latin typeface="Alice"/>
                <a:ea typeface="Poppins"/>
                <a:cs typeface="Poppins"/>
                <a:sym typeface="Poppins"/>
              </a:rPr>
              <a:t>kết</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nối</a:t>
            </a:r>
            <a:r>
              <a:rPr lang="en-US" sz="2538" spc="126" dirty="0">
                <a:solidFill>
                  <a:srgbClr val="FFFFFF"/>
                </a:solidFill>
                <a:latin typeface="Alice"/>
                <a:ea typeface="Poppins"/>
                <a:cs typeface="Poppins"/>
                <a:sym typeface="Poppins"/>
              </a:rPr>
              <a:t> Socket; Server </a:t>
            </a:r>
            <a:r>
              <a:rPr lang="en-US" sz="2538" spc="126" dirty="0" err="1">
                <a:solidFill>
                  <a:srgbClr val="FFFFFF"/>
                </a:solidFill>
                <a:latin typeface="Alice"/>
                <a:ea typeface="Poppins"/>
                <a:cs typeface="Poppins"/>
                <a:sym typeface="Poppins"/>
              </a:rPr>
              <a:t>cập</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nhật</a:t>
            </a:r>
            <a:r>
              <a:rPr lang="en-US" sz="2538" spc="126" dirty="0">
                <a:solidFill>
                  <a:srgbClr val="FFFFFF"/>
                </a:solidFill>
                <a:latin typeface="Alice"/>
                <a:ea typeface="Poppins"/>
                <a:cs typeface="Poppins"/>
                <a:sym typeface="Poppins"/>
              </a:rPr>
              <a:t> CSDL </a:t>
            </a:r>
            <a:r>
              <a:rPr lang="en-US" sz="2538" spc="126" dirty="0" err="1">
                <a:solidFill>
                  <a:srgbClr val="FFFFFF"/>
                </a:solidFill>
                <a:latin typeface="Alice"/>
                <a:ea typeface="Poppins"/>
                <a:cs typeface="Poppins"/>
                <a:sym typeface="Poppins"/>
              </a:rPr>
              <a:t>và</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phát</a:t>
            </a:r>
            <a:r>
              <a:rPr lang="en-US" sz="2538" spc="126" dirty="0">
                <a:solidFill>
                  <a:srgbClr val="FFFFFF"/>
                </a:solidFill>
                <a:latin typeface="Alice"/>
                <a:ea typeface="Poppins"/>
                <a:cs typeface="Poppins"/>
                <a:sym typeface="Poppins"/>
              </a:rPr>
              <a:t> tin USER_STATUS_CHANGE </a:t>
            </a:r>
            <a:r>
              <a:rPr lang="en-US" sz="2538" spc="126" dirty="0" err="1">
                <a:solidFill>
                  <a:srgbClr val="FFFFFF"/>
                </a:solidFill>
                <a:latin typeface="Alice"/>
                <a:ea typeface="Poppins"/>
                <a:cs typeface="Poppins"/>
                <a:sym typeface="Poppins"/>
              </a:rPr>
              <a:t>đến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các</a:t>
            </a:r>
            <a:r>
              <a:rPr lang="en-US" sz="2538" spc="126" dirty="0">
                <a:solidFill>
                  <a:srgbClr val="FFFFFF"/>
                </a:solidFill>
                <a:latin typeface="Alice"/>
                <a:ea typeface="Poppins"/>
                <a:cs typeface="Poppins"/>
                <a:sym typeface="Poppins"/>
              </a:rPr>
              <a:t> Client </a:t>
            </a:r>
            <a:r>
              <a:rPr lang="en-US" sz="2538" spc="126" dirty="0" err="1">
                <a:solidFill>
                  <a:srgbClr val="FFFFFF"/>
                </a:solidFill>
                <a:latin typeface="Alice"/>
                <a:ea typeface="Poppins"/>
                <a:cs typeface="Poppins"/>
                <a:sym typeface="Poppins"/>
              </a:rPr>
              <a:t>để</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cập</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nhật</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giao</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diện</a:t>
            </a:r>
            <a:r>
              <a:rPr lang="en-US" sz="2538" spc="126" dirty="0">
                <a:solidFill>
                  <a:srgbClr val="FFFFFF"/>
                </a:solidFill>
                <a:latin typeface="Alice"/>
                <a:ea typeface="Poppins"/>
                <a:cs typeface="Poppins"/>
                <a:sym typeface="Poppins"/>
              </a:rPr>
              <a:t>. </a:t>
            </a:r>
          </a:p>
          <a:p>
            <a:pPr marL="548058" lvl="1" indent="-274029" algn="l">
              <a:lnSpc>
                <a:spcPts val="3553"/>
              </a:lnSpc>
              <a:buFont typeface="Arial"/>
              <a:buChar char="•"/>
            </a:pPr>
            <a:r>
              <a:rPr lang="en-US" sz="2538" spc="126" dirty="0">
                <a:solidFill>
                  <a:srgbClr val="FFFFFF"/>
                </a:solidFill>
                <a:latin typeface="Alice"/>
                <a:ea typeface="Poppins"/>
                <a:cs typeface="Poppins"/>
                <a:sym typeface="Poppins"/>
              </a:rPr>
              <a:t>Định </a:t>
            </a:r>
            <a:r>
              <a:rPr lang="en-US" sz="2538" spc="126" dirty="0" err="1">
                <a:solidFill>
                  <a:srgbClr val="FFFFFF"/>
                </a:solidFill>
                <a:latin typeface="Alice"/>
                <a:ea typeface="Poppins"/>
                <a:cs typeface="Poppins"/>
                <a:sym typeface="Poppins"/>
              </a:rPr>
              <a:t>tuyến</a:t>
            </a:r>
            <a:r>
              <a:rPr lang="en-US" sz="2538" spc="126" dirty="0">
                <a:solidFill>
                  <a:srgbClr val="FFFFFF"/>
                </a:solidFill>
                <a:latin typeface="Alice"/>
                <a:ea typeface="Poppins"/>
                <a:cs typeface="Poppins"/>
                <a:sym typeface="Poppins"/>
              </a:rPr>
              <a:t> tin </a:t>
            </a:r>
            <a:r>
              <a:rPr lang="en-US" sz="2538" spc="126" dirty="0" err="1">
                <a:solidFill>
                  <a:srgbClr val="FFFFFF"/>
                </a:solidFill>
                <a:latin typeface="Alice"/>
                <a:ea typeface="Poppins"/>
                <a:cs typeface="Poppins"/>
                <a:sym typeface="Poppins"/>
              </a:rPr>
              <a:t>nhắn</a:t>
            </a:r>
            <a:r>
              <a:rPr lang="en-US" sz="2538" spc="126" dirty="0">
                <a:solidFill>
                  <a:srgbClr val="FFFFFF"/>
                </a:solidFill>
                <a:latin typeface="Alice"/>
                <a:ea typeface="Poppins"/>
                <a:cs typeface="Poppins"/>
                <a:sym typeface="Poppins"/>
              </a:rPr>
              <a:t>: Server </a:t>
            </a:r>
            <a:r>
              <a:rPr lang="en-US" sz="2538" spc="126" dirty="0" err="1">
                <a:solidFill>
                  <a:srgbClr val="FFFFFF"/>
                </a:solidFill>
                <a:latin typeface="Alice"/>
                <a:ea typeface="Poppins"/>
                <a:cs typeface="Poppins"/>
                <a:sym typeface="Poppins"/>
              </a:rPr>
              <a:t>dùng</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ConcurrentDictionary</a:t>
            </a:r>
            <a:r>
              <a:rPr lang="en-US" sz="2538" spc="126" dirty="0">
                <a:solidFill>
                  <a:srgbClr val="FFFFFF"/>
                </a:solidFill>
                <a:latin typeface="Alice"/>
                <a:ea typeface="Poppins"/>
                <a:cs typeface="Poppins"/>
                <a:sym typeface="Poppins"/>
              </a:rPr>
              <a:t>&lt;int, </a:t>
            </a:r>
            <a:r>
              <a:rPr lang="en-US" sz="2538" spc="126" dirty="0" err="1">
                <a:solidFill>
                  <a:srgbClr val="FFFFFF"/>
                </a:solidFill>
                <a:latin typeface="Alice"/>
                <a:ea typeface="Poppins"/>
                <a:cs typeface="Poppins"/>
                <a:sym typeface="Poppins"/>
              </a:rPr>
              <a:t>TcpClient</a:t>
            </a:r>
            <a:r>
              <a:rPr lang="en-US" sz="2538" spc="126" dirty="0">
                <a:solidFill>
                  <a:srgbClr val="FFFFFF"/>
                </a:solidFill>
                <a:latin typeface="Alice"/>
                <a:ea typeface="Poppins"/>
                <a:cs typeface="Poppins"/>
                <a:sym typeface="Poppins"/>
              </a:rPr>
              <a:t>&gt; </a:t>
            </a:r>
            <a:r>
              <a:rPr lang="en-US" sz="2538" spc="126" dirty="0" err="1">
                <a:solidFill>
                  <a:srgbClr val="FFFFFF"/>
                </a:solidFill>
                <a:latin typeface="Alice"/>
                <a:ea typeface="Poppins"/>
                <a:cs typeface="Poppins"/>
                <a:sym typeface="Poppins"/>
              </a:rPr>
              <a:t>để</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quản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lý</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luồng</a:t>
            </a:r>
            <a:r>
              <a:rPr lang="en-US" sz="2538" spc="126" dirty="0">
                <a:solidFill>
                  <a:srgbClr val="FFFFFF"/>
                </a:solidFill>
                <a:latin typeface="Alice"/>
                <a:ea typeface="Poppins"/>
                <a:cs typeface="Poppins"/>
                <a:sym typeface="Poppins"/>
              </a:rPr>
              <a:t> Socket </a:t>
            </a:r>
            <a:r>
              <a:rPr lang="en-US" sz="2538" spc="126" dirty="0" err="1">
                <a:solidFill>
                  <a:srgbClr val="FFFFFF"/>
                </a:solidFill>
                <a:latin typeface="Alice"/>
                <a:ea typeface="Poppins"/>
                <a:cs typeface="Poppins"/>
                <a:sym typeface="Poppins"/>
              </a:rPr>
              <a:t>của</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từng</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tài</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khoản</a:t>
            </a:r>
            <a:r>
              <a:rPr lang="en-US" sz="2538" spc="126" dirty="0">
                <a:solidFill>
                  <a:srgbClr val="FFFFFF"/>
                </a:solidFill>
                <a:latin typeface="Alice"/>
                <a:ea typeface="Poppins"/>
                <a:cs typeface="Poppins"/>
                <a:sym typeface="Poppins"/>
              </a:rPr>
              <a:t>. </a:t>
            </a:r>
          </a:p>
          <a:p>
            <a:pPr marL="548058" lvl="1" indent="-274029" algn="l">
              <a:lnSpc>
                <a:spcPts val="3553"/>
              </a:lnSpc>
              <a:buFont typeface="Arial"/>
              <a:buChar char="•"/>
            </a:pPr>
            <a:r>
              <a:rPr lang="en-US" sz="2538" spc="126" dirty="0" err="1">
                <a:solidFill>
                  <a:srgbClr val="FFFFFF"/>
                </a:solidFill>
                <a:latin typeface="Alice"/>
                <a:ea typeface="Poppins"/>
                <a:cs typeface="Poppins"/>
                <a:sym typeface="Poppins"/>
              </a:rPr>
              <a:t>Cơ</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chế</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gửi</a:t>
            </a:r>
            <a:r>
              <a:rPr lang="en-US" sz="2538" spc="126" dirty="0">
                <a:solidFill>
                  <a:srgbClr val="FFFFFF"/>
                </a:solidFill>
                <a:latin typeface="Alice"/>
                <a:ea typeface="Poppins"/>
                <a:cs typeface="Poppins"/>
                <a:sym typeface="Poppins"/>
              </a:rPr>
              <a:t>:</a:t>
            </a:r>
          </a:p>
          <a:p>
            <a:pPr marL="548058" lvl="1" indent="-274029" algn="l">
              <a:lnSpc>
                <a:spcPts val="3553"/>
              </a:lnSpc>
              <a:buFont typeface="Arial"/>
              <a:buChar char="•"/>
            </a:pPr>
            <a:r>
              <a:rPr lang="en-US" sz="2538" spc="126" dirty="0">
                <a:solidFill>
                  <a:srgbClr val="FFFFFF"/>
                </a:solidFill>
                <a:latin typeface="Alice"/>
                <a:ea typeface="Poppins"/>
                <a:cs typeface="Poppins"/>
                <a:sym typeface="Poppins"/>
              </a:rPr>
              <a:t>Chat 1-1: Định </a:t>
            </a:r>
            <a:r>
              <a:rPr lang="en-US" sz="2538" spc="126" dirty="0" err="1">
                <a:solidFill>
                  <a:srgbClr val="FFFFFF"/>
                </a:solidFill>
                <a:latin typeface="Alice"/>
                <a:ea typeface="Poppins"/>
                <a:cs typeface="Poppins"/>
                <a:sym typeface="Poppins"/>
              </a:rPr>
              <a:t>tuyến</a:t>
            </a:r>
            <a:r>
              <a:rPr lang="en-US" sz="2538" spc="126" dirty="0">
                <a:solidFill>
                  <a:srgbClr val="FFFFFF"/>
                </a:solidFill>
                <a:latin typeface="Alice"/>
                <a:ea typeface="Poppins"/>
                <a:cs typeface="Poppins"/>
                <a:sym typeface="Poppins"/>
              </a:rPr>
              <a:t> tin </a:t>
            </a:r>
            <a:r>
              <a:rPr lang="en-US" sz="2538" spc="126" dirty="0" err="1">
                <a:solidFill>
                  <a:srgbClr val="FFFFFF"/>
                </a:solidFill>
                <a:latin typeface="Alice"/>
                <a:ea typeface="Poppins"/>
                <a:cs typeface="Poppins"/>
                <a:sym typeface="Poppins"/>
              </a:rPr>
              <a:t>nhắn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trực</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tiếp</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đến</a:t>
            </a:r>
            <a:r>
              <a:rPr lang="en-US" sz="2538" spc="126" dirty="0">
                <a:solidFill>
                  <a:srgbClr val="FFFFFF"/>
                </a:solidFill>
                <a:latin typeface="Alice"/>
                <a:ea typeface="Poppins"/>
                <a:cs typeface="Poppins"/>
                <a:sym typeface="Poppins"/>
              </a:rPr>
              <a:t> Socket </a:t>
            </a:r>
            <a:r>
              <a:rPr lang="en-US" sz="2538" spc="126" dirty="0" err="1">
                <a:solidFill>
                  <a:srgbClr val="FFFFFF"/>
                </a:solidFill>
                <a:latin typeface="Alice"/>
                <a:ea typeface="Poppins"/>
                <a:cs typeface="Poppins"/>
                <a:sym typeface="Poppins"/>
              </a:rPr>
              <a:t>người</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nhận</a:t>
            </a:r>
            <a:r>
              <a:rPr lang="en-US" sz="2538" spc="126" dirty="0">
                <a:solidFill>
                  <a:srgbClr val="FFFFFF"/>
                </a:solidFill>
                <a:latin typeface="Alice"/>
                <a:ea typeface="Poppins"/>
                <a:cs typeface="Poppins"/>
                <a:sym typeface="Poppins"/>
              </a:rPr>
              <a:t>. </a:t>
            </a:r>
          </a:p>
          <a:p>
            <a:pPr marL="548058" lvl="1" indent="-274029" algn="l">
              <a:lnSpc>
                <a:spcPts val="3553"/>
              </a:lnSpc>
              <a:spcBef>
                <a:spcPct val="0"/>
              </a:spcBef>
              <a:buFont typeface="Arial"/>
              <a:buChar char="•"/>
            </a:pPr>
            <a:r>
              <a:rPr lang="en-US" sz="2538" spc="126" dirty="0">
                <a:solidFill>
                  <a:srgbClr val="FFFFFF"/>
                </a:solidFill>
                <a:latin typeface="Alice"/>
                <a:ea typeface="Poppins"/>
                <a:cs typeface="Poppins"/>
                <a:sym typeface="Poppins"/>
              </a:rPr>
              <a:t>Chat </a:t>
            </a:r>
            <a:r>
              <a:rPr lang="en-US" sz="2538" spc="126" dirty="0" err="1">
                <a:solidFill>
                  <a:srgbClr val="FFFFFF"/>
                </a:solidFill>
                <a:latin typeface="Alice"/>
                <a:ea typeface="Poppins"/>
                <a:cs typeface="Poppins"/>
                <a:sym typeface="Poppins"/>
              </a:rPr>
              <a:t>Nhóm</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Truy</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vấn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danh</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sách</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thành</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viên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và</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đẩy</a:t>
            </a:r>
            <a:r>
              <a:rPr lang="en-US" sz="2538" spc="126" dirty="0">
                <a:solidFill>
                  <a:srgbClr val="FFFFFF"/>
                </a:solidFill>
                <a:latin typeface="Alice"/>
                <a:ea typeface="Poppins"/>
                <a:cs typeface="Poppins"/>
                <a:sym typeface="Poppins"/>
              </a:rPr>
              <a:t> tin (Multicast) </a:t>
            </a:r>
            <a:r>
              <a:rPr lang="en-US" sz="2538" spc="126" dirty="0" err="1">
                <a:solidFill>
                  <a:srgbClr val="FFFFFF"/>
                </a:solidFill>
                <a:latin typeface="Alice"/>
                <a:ea typeface="Poppins"/>
                <a:cs typeface="Poppins"/>
                <a:sym typeface="Poppins"/>
              </a:rPr>
              <a:t>đến</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các</a:t>
            </a:r>
            <a:r>
              <a:rPr lang="en-US" sz="2538" spc="126" dirty="0">
                <a:solidFill>
                  <a:srgbClr val="FFFFFF"/>
                </a:solidFill>
                <a:latin typeface="Alice"/>
                <a:ea typeface="Poppins"/>
                <a:cs typeface="Poppins"/>
                <a:sym typeface="Poppins"/>
              </a:rPr>
              <a:t> </a:t>
            </a:r>
            <a:r>
              <a:rPr lang="en-US" sz="2538" spc="126" dirty="0" err="1">
                <a:solidFill>
                  <a:srgbClr val="FFFFFF"/>
                </a:solidFill>
                <a:latin typeface="Alice"/>
                <a:ea typeface="Poppins"/>
                <a:cs typeface="Poppins"/>
                <a:sym typeface="Poppins"/>
              </a:rPr>
              <a:t>luồng</a:t>
            </a:r>
            <a:r>
              <a:rPr lang="en-US" sz="2538" spc="126" dirty="0">
                <a:solidFill>
                  <a:srgbClr val="FFFFFF"/>
                </a:solidFill>
                <a:latin typeface="Alice"/>
                <a:ea typeface="Poppins"/>
                <a:cs typeface="Poppins"/>
                <a:sym typeface="Poppins"/>
              </a:rPr>
              <a:t> Socket </a:t>
            </a:r>
            <a:r>
              <a:rPr lang="en-US" sz="2538" spc="126" dirty="0" err="1">
                <a:solidFill>
                  <a:srgbClr val="FFFFFF"/>
                </a:solidFill>
                <a:latin typeface="Alice"/>
                <a:ea typeface="Poppins"/>
                <a:cs typeface="Poppins"/>
                <a:sym typeface="Poppins"/>
              </a:rPr>
              <a:t>đang</a:t>
            </a:r>
            <a:r>
              <a:rPr lang="en-US" sz="2538" spc="126" dirty="0">
                <a:solidFill>
                  <a:srgbClr val="FFFFFF"/>
                </a:solidFill>
                <a:latin typeface="Alice"/>
                <a:ea typeface="Poppins"/>
                <a:cs typeface="Poppins"/>
                <a:sym typeface="Poppins"/>
              </a:rPr>
              <a:t> Online. </a:t>
            </a:r>
          </a:p>
          <a:p>
            <a:pPr marL="0" lvl="0" indent="0" algn="just">
              <a:lnSpc>
                <a:spcPts val="3553"/>
              </a:lnSpc>
              <a:spcBef>
                <a:spcPct val="0"/>
              </a:spcBef>
            </a:pPr>
            <a:endParaRPr lang="en-US" sz="2538" spc="126" dirty="0">
              <a:solidFill>
                <a:srgbClr val="FFFFFF"/>
              </a:solidFill>
              <a:latin typeface="Alice"/>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10618388" y="2937776"/>
            <a:ext cx="8760145" cy="8760145"/>
            <a:chOff x="0" y="0"/>
            <a:chExt cx="812800" cy="812800"/>
          </a:xfrm>
        </p:grpSpPr>
        <p:sp>
          <p:nvSpPr>
            <p:cNvPr id="4" name="Freeform 4"/>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3"/>
              <a:stretch>
                <a:fillRect l="-13624" r="-31040"/>
              </a:stretch>
            </a:blipFill>
          </p:spPr>
          <p:txBody>
            <a:bodyPr/>
            <a:lstStyle/>
            <a:p>
              <a:endParaRPr lang="en-US">
                <a:latin typeface="Alice"/>
              </a:endParaRPr>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latin typeface="Alice"/>
            </a:endParaRPr>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12" name="TextBox 12"/>
          <p:cNvSpPr txBox="1"/>
          <p:nvPr/>
        </p:nvSpPr>
        <p:spPr>
          <a:xfrm>
            <a:off x="679528" y="582155"/>
            <a:ext cx="13230542" cy="615553"/>
          </a:xfrm>
          <a:prstGeom prst="rect">
            <a:avLst/>
          </a:prstGeom>
        </p:spPr>
        <p:txBody>
          <a:bodyPr lIns="0" tIns="0" rIns="0" bIns="0" rtlCol="0" anchor="t">
            <a:spAutoFit/>
          </a:bodyPr>
          <a:lstStyle/>
          <a:p>
            <a:pPr algn="l">
              <a:lnSpc>
                <a:spcPts val="4806"/>
              </a:lnSpc>
            </a:pPr>
            <a:r>
              <a:rPr lang="en-US" sz="4005" b="1">
                <a:solidFill>
                  <a:srgbClr val="00FFFF"/>
                </a:solidFill>
                <a:latin typeface="Alice"/>
                <a:ea typeface="Neo Sans Bold"/>
                <a:cs typeface="Neo Sans Bold"/>
                <a:sym typeface="Neo Sans Bold"/>
              </a:rPr>
              <a:t>TIÊU CHÍ 3 — TÍNH NĂNG NÂNG CAO &amp; LỊCH SỬ CHAT</a:t>
            </a:r>
          </a:p>
        </p:txBody>
      </p:sp>
      <p:sp>
        <p:nvSpPr>
          <p:cNvPr id="13" name="TextBox 13"/>
          <p:cNvSpPr txBox="1"/>
          <p:nvPr/>
        </p:nvSpPr>
        <p:spPr>
          <a:xfrm>
            <a:off x="864393" y="2477111"/>
            <a:ext cx="8279607" cy="4587153"/>
          </a:xfrm>
          <a:prstGeom prst="rect">
            <a:avLst/>
          </a:prstGeom>
        </p:spPr>
        <p:txBody>
          <a:bodyPr lIns="0" tIns="0" rIns="0" bIns="0" rtlCol="0" anchor="t">
            <a:spAutoFit/>
          </a:bodyPr>
          <a:lstStyle/>
          <a:p>
            <a:pPr marL="548057" lvl="1" indent="-274029" algn="just">
              <a:lnSpc>
                <a:spcPts val="3553"/>
              </a:lnSpc>
              <a:buFont typeface="Arial"/>
              <a:buChar char="•"/>
            </a:pPr>
            <a:r>
              <a:rPr lang="en-US" sz="2538" spc="126">
                <a:solidFill>
                  <a:srgbClr val="FFFFFF"/>
                </a:solidFill>
                <a:latin typeface="Alice"/>
                <a:ea typeface="Poppins"/>
                <a:cs typeface="Poppins"/>
                <a:sym typeface="Poppins"/>
              </a:rPr>
              <a:t>Reply &amp; Forward: Nhận TargetMessageId để hiển thị khung trích dẫn (Quote Box) hoặc chuyển tiếp nội dung đến người dùng khác. </a:t>
            </a:r>
          </a:p>
          <a:p>
            <a:pPr marL="548057" lvl="1" indent="-274029" algn="just">
              <a:lnSpc>
                <a:spcPts val="3553"/>
              </a:lnSpc>
              <a:buFont typeface="Arial"/>
              <a:buChar char="•"/>
            </a:pPr>
            <a:r>
              <a:rPr lang="en-US" sz="2538" spc="126">
                <a:solidFill>
                  <a:srgbClr val="FFFFFF"/>
                </a:solidFill>
                <a:latin typeface="Alice"/>
                <a:ea typeface="Poppins"/>
                <a:cs typeface="Poppins"/>
                <a:sym typeface="Poppins"/>
              </a:rPr>
              <a:t>Avatar &amp; Emoji: Tệp ảnh chuyển thành chuỗi Base64 nhúng vào JSON; Emoji dùng mã Unicode UTF-8 hiển thị trực quan trên WinForms. </a:t>
            </a:r>
          </a:p>
          <a:p>
            <a:pPr marL="548057" lvl="1" indent="-274029" algn="just">
              <a:lnSpc>
                <a:spcPts val="3553"/>
              </a:lnSpc>
              <a:spcBef>
                <a:spcPct val="0"/>
              </a:spcBef>
              <a:buFont typeface="Arial"/>
              <a:buChar char="•"/>
            </a:pPr>
            <a:r>
              <a:rPr lang="en-US" sz="2538" spc="126">
                <a:solidFill>
                  <a:srgbClr val="FFFFFF"/>
                </a:solidFill>
                <a:latin typeface="Alice"/>
                <a:ea typeface="Poppins"/>
                <a:cs typeface="Poppins"/>
                <a:sym typeface="Poppins"/>
              </a:rPr>
              <a:t>Lưu trữ &amp; Lịch sử: Lưu toàn bộ thông điệp vào bảng Messages và tải lịch sử trò chuyện qua yêu cầu FETCH_HISTORY. </a:t>
            </a:r>
          </a:p>
          <a:p>
            <a:pPr marL="0" lvl="0" indent="0" algn="just">
              <a:lnSpc>
                <a:spcPts val="3553"/>
              </a:lnSpc>
              <a:spcBef>
                <a:spcPct val="0"/>
              </a:spcBef>
            </a:pPr>
            <a:endParaRPr lang="en-US" sz="2538" spc="126">
              <a:solidFill>
                <a:srgbClr val="FFFFFF"/>
              </a:solidFill>
              <a:latin typeface="Alice"/>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grpSp>
        <p:nvGrpSpPr>
          <p:cNvPr id="3" name="Group 3"/>
          <p:cNvGrpSpPr/>
          <p:nvPr/>
        </p:nvGrpSpPr>
        <p:grpSpPr>
          <a:xfrm>
            <a:off x="459632" y="2070608"/>
            <a:ext cx="8213786" cy="4992969"/>
            <a:chOff x="0" y="0"/>
            <a:chExt cx="1337113" cy="812800"/>
          </a:xfrm>
        </p:grpSpPr>
        <p:sp>
          <p:nvSpPr>
            <p:cNvPr id="4" name="Freeform 4"/>
            <p:cNvSpPr/>
            <p:nvPr/>
          </p:nvSpPr>
          <p:spPr>
            <a:xfrm>
              <a:off x="0" y="0"/>
              <a:ext cx="1337113" cy="812800"/>
            </a:xfrm>
            <a:custGeom>
              <a:avLst/>
              <a:gdLst/>
              <a:ahLst/>
              <a:cxnLst/>
              <a:rect l="l" t="t" r="r" b="b"/>
              <a:pathLst>
                <a:path w="1337113" h="812800">
                  <a:moveTo>
                    <a:pt x="21679" y="0"/>
                  </a:moveTo>
                  <a:lnTo>
                    <a:pt x="1315435" y="0"/>
                  </a:lnTo>
                  <a:cubicBezTo>
                    <a:pt x="1321184" y="0"/>
                    <a:pt x="1326698" y="2284"/>
                    <a:pt x="1330764" y="6350"/>
                  </a:cubicBezTo>
                  <a:cubicBezTo>
                    <a:pt x="1334829" y="10415"/>
                    <a:pt x="1337113" y="15929"/>
                    <a:pt x="1337113" y="21679"/>
                  </a:cubicBezTo>
                  <a:lnTo>
                    <a:pt x="1337113" y="791121"/>
                  </a:lnTo>
                  <a:cubicBezTo>
                    <a:pt x="1337113" y="796871"/>
                    <a:pt x="1334829" y="802385"/>
                    <a:pt x="1330764" y="806450"/>
                  </a:cubicBezTo>
                  <a:cubicBezTo>
                    <a:pt x="1326698" y="810516"/>
                    <a:pt x="1321184" y="812800"/>
                    <a:pt x="1315435" y="812800"/>
                  </a:cubicBezTo>
                  <a:lnTo>
                    <a:pt x="21679" y="812800"/>
                  </a:lnTo>
                  <a:cubicBezTo>
                    <a:pt x="15929" y="812800"/>
                    <a:pt x="10415" y="810516"/>
                    <a:pt x="6350" y="806450"/>
                  </a:cubicBezTo>
                  <a:cubicBezTo>
                    <a:pt x="2284" y="802385"/>
                    <a:pt x="0" y="796871"/>
                    <a:pt x="0" y="791121"/>
                  </a:cubicBezTo>
                  <a:lnTo>
                    <a:pt x="0" y="21679"/>
                  </a:lnTo>
                  <a:cubicBezTo>
                    <a:pt x="0" y="15929"/>
                    <a:pt x="2284" y="10415"/>
                    <a:pt x="6350" y="6350"/>
                  </a:cubicBezTo>
                  <a:cubicBezTo>
                    <a:pt x="10415" y="2284"/>
                    <a:pt x="15929" y="0"/>
                    <a:pt x="21679" y="0"/>
                  </a:cubicBezTo>
                  <a:close/>
                </a:path>
              </a:pathLst>
            </a:custGeom>
            <a:blipFill>
              <a:blip r:embed="rId3"/>
              <a:stretch>
                <a:fillRect l="-3384" r="-3384"/>
              </a:stretch>
            </a:blipFill>
          </p:spPr>
          <p:txBody>
            <a:bodyPr/>
            <a:lstStyle/>
            <a:p>
              <a:endParaRPr lang="en-US">
                <a:latin typeface="Alice"/>
              </a:endParaRPr>
            </a:p>
          </p:txBody>
        </p:sp>
      </p:grpSp>
      <p:sp>
        <p:nvSpPr>
          <p:cNvPr id="5" name="TextBox 5"/>
          <p:cNvSpPr txBox="1"/>
          <p:nvPr/>
        </p:nvSpPr>
        <p:spPr>
          <a:xfrm>
            <a:off x="9144000" y="2596179"/>
            <a:ext cx="8268973" cy="3460371"/>
          </a:xfrm>
          <a:prstGeom prst="rect">
            <a:avLst/>
          </a:prstGeom>
        </p:spPr>
        <p:txBody>
          <a:bodyPr lIns="0" tIns="0" rIns="0" bIns="0" rtlCol="0" anchor="t">
            <a:spAutoFit/>
          </a:bodyPr>
          <a:lstStyle/>
          <a:p>
            <a:pPr algn="l">
              <a:lnSpc>
                <a:spcPts val="13675"/>
              </a:lnSpc>
            </a:pPr>
            <a:r>
              <a:rPr lang="en-US" sz="11396" b="1">
                <a:solidFill>
                  <a:srgbClr val="FFFFFF"/>
                </a:solidFill>
                <a:latin typeface="Alice"/>
                <a:ea typeface="Neo Sans Bold"/>
                <a:cs typeface="Neo Sans Bold"/>
                <a:sym typeface="Neo Sans Bold"/>
              </a:rPr>
              <a:t>THIẾT KẾ GIAO DIỆN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8709" y="1385621"/>
            <a:ext cx="9503757" cy="6212338"/>
          </a:xfrm>
          <a:custGeom>
            <a:avLst/>
            <a:gdLst/>
            <a:ahLst/>
            <a:cxnLst/>
            <a:rect l="l" t="t" r="r" b="b"/>
            <a:pathLst>
              <a:path w="9503757" h="6212338">
                <a:moveTo>
                  <a:pt x="0" y="0"/>
                </a:moveTo>
                <a:lnTo>
                  <a:pt x="9503757" y="0"/>
                </a:lnTo>
                <a:lnTo>
                  <a:pt x="9503757" y="6212338"/>
                </a:lnTo>
                <a:lnTo>
                  <a:pt x="0" y="6212338"/>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188016" y="192955"/>
            <a:ext cx="9503757" cy="709681"/>
          </a:xfrm>
          <a:prstGeom prst="rect">
            <a:avLst/>
          </a:prstGeom>
        </p:spPr>
        <p:txBody>
          <a:bodyPr lIns="0" tIns="0" rIns="0" bIns="0" rtlCol="0" anchor="t">
            <a:spAutoFit/>
          </a:bodyPr>
          <a:lstStyle/>
          <a:p>
            <a:pPr algn="l">
              <a:lnSpc>
                <a:spcPts val="5880"/>
              </a:lnSpc>
              <a:spcBef>
                <a:spcPct val="0"/>
              </a:spcBef>
            </a:pPr>
            <a:r>
              <a:rPr lang="en-US" sz="4200" b="1" spc="8">
                <a:solidFill>
                  <a:srgbClr val="FFFFFF"/>
                </a:solidFill>
                <a:latin typeface="Alice"/>
                <a:ea typeface="Poppins Bold"/>
                <a:cs typeface="Poppins Bold"/>
                <a:sym typeface="Poppins Bold"/>
              </a:rPr>
              <a:t>Thiết kế giao diện Server</a:t>
            </a:r>
          </a:p>
        </p:txBody>
      </p:sp>
      <p:sp>
        <p:nvSpPr>
          <p:cNvPr id="6" name="TextBox 6"/>
          <p:cNvSpPr txBox="1"/>
          <p:nvPr/>
        </p:nvSpPr>
        <p:spPr>
          <a:xfrm>
            <a:off x="9503757" y="1356230"/>
            <a:ext cx="8784243" cy="720262"/>
          </a:xfrm>
          <a:prstGeom prst="rect">
            <a:avLst/>
          </a:prstGeom>
        </p:spPr>
        <p:txBody>
          <a:bodyPr lIns="0" tIns="0" rIns="0" bIns="0" rtlCol="0" anchor="t">
            <a:spAutoFit/>
          </a:bodyPr>
          <a:lstStyle/>
          <a:p>
            <a:pPr algn="l">
              <a:lnSpc>
                <a:spcPts val="2871"/>
              </a:lnSpc>
              <a:spcBef>
                <a:spcPct val="0"/>
              </a:spcBef>
            </a:pPr>
            <a:r>
              <a:rPr lang="en-US" sz="2051" spc="4">
                <a:solidFill>
                  <a:srgbClr val="FFFFFF"/>
                </a:solidFill>
                <a:latin typeface="Alice"/>
                <a:ea typeface="Poppins"/>
                <a:cs typeface="Poppins"/>
                <a:sym typeface="Poppins"/>
              </a:rPr>
              <a:t>Giao diện Server được xây dựng bằng C# Windows Forms, hỗ trợ người quản trị theo dõi và điều khiển hoạt động của hệ thống ChatTCP.</a:t>
            </a:r>
          </a:p>
        </p:txBody>
      </p:sp>
      <p:sp>
        <p:nvSpPr>
          <p:cNvPr id="7" name="TextBox 7"/>
          <p:cNvSpPr txBox="1"/>
          <p:nvPr/>
        </p:nvSpPr>
        <p:spPr>
          <a:xfrm>
            <a:off x="9503757" y="2580475"/>
            <a:ext cx="2959060" cy="348365"/>
          </a:xfrm>
          <a:prstGeom prst="rect">
            <a:avLst/>
          </a:prstGeom>
        </p:spPr>
        <p:txBody>
          <a:bodyPr lIns="0" tIns="0" rIns="0" bIns="0" rtlCol="0" anchor="t">
            <a:spAutoFit/>
          </a:bodyPr>
          <a:lstStyle/>
          <a:p>
            <a:pPr algn="ctr">
              <a:lnSpc>
                <a:spcPts val="2871"/>
              </a:lnSpc>
              <a:spcBef>
                <a:spcPct val="0"/>
              </a:spcBef>
            </a:pPr>
            <a:r>
              <a:rPr lang="en-US" sz="2051" spc="4">
                <a:solidFill>
                  <a:srgbClr val="FFFFFF"/>
                </a:solidFill>
                <a:latin typeface="Alice"/>
                <a:ea typeface="Poppins"/>
                <a:cs typeface="Poppins"/>
                <a:sym typeface="Poppins"/>
              </a:rPr>
              <a:t>Các thành phần chính:</a:t>
            </a:r>
          </a:p>
        </p:txBody>
      </p:sp>
      <p:sp>
        <p:nvSpPr>
          <p:cNvPr id="8" name="TextBox 8"/>
          <p:cNvSpPr txBox="1"/>
          <p:nvPr/>
        </p:nvSpPr>
        <p:spPr>
          <a:xfrm>
            <a:off x="9503757" y="3121677"/>
            <a:ext cx="8784243" cy="3695435"/>
          </a:xfrm>
          <a:prstGeom prst="rect">
            <a:avLst/>
          </a:prstGeom>
        </p:spPr>
        <p:txBody>
          <a:bodyPr lIns="0" tIns="0" rIns="0" bIns="0" rtlCol="0" anchor="t">
            <a:spAutoFit/>
          </a:bodyPr>
          <a:lstStyle/>
          <a:p>
            <a:pPr marL="442888" lvl="1" indent="-221444" algn="l">
              <a:lnSpc>
                <a:spcPts val="2871"/>
              </a:lnSpc>
              <a:buFont typeface="Arial"/>
              <a:buChar char="•"/>
            </a:pPr>
            <a:r>
              <a:rPr lang="en-US" sz="2051" spc="4">
                <a:solidFill>
                  <a:srgbClr val="FFFFFF"/>
                </a:solidFill>
                <a:latin typeface="Alice"/>
                <a:ea typeface="Poppins"/>
                <a:cs typeface="Poppins"/>
                <a:sym typeface="Poppins"/>
              </a:rPr>
              <a:t>IP và Port: Hiển thị thông tin kết nối của Server.</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Start / Stop: Khởi động và dừng Server.</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Danh sách người dùng: Hiển thị ID, Username, tên hiển thị và trạng thái Online/Offline.</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Nhóm chat (Groups): Hiển thị danh sách các nhóm chat.</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Server Logs: Theo dõi hoạt động, kết nối và yêu cầu từ Client.</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Thanh trạng thái: Hiển thị trạng thái Server và số lượng người dùng đang Online.</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Nút chức năng: Ngắt kết nối, xóa người dùng, xóa Log và lưu File Log.</a:t>
            </a:r>
          </a:p>
          <a:p>
            <a:pPr algn="l">
              <a:lnSpc>
                <a:spcPts val="2871"/>
              </a:lnSpc>
              <a:spcBef>
                <a:spcPct val="0"/>
              </a:spcBef>
            </a:pPr>
            <a:endParaRPr lang="en-US" sz="2051" spc="4">
              <a:solidFill>
                <a:srgbClr val="FFFFFF"/>
              </a:solidFill>
              <a:latin typeface="Alice"/>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0" y="1948991"/>
            <a:ext cx="8242190" cy="5964348"/>
          </a:xfrm>
          <a:custGeom>
            <a:avLst/>
            <a:gdLst/>
            <a:ahLst/>
            <a:cxnLst/>
            <a:rect l="l" t="t" r="r" b="b"/>
            <a:pathLst>
              <a:path w="8242190" h="5964348">
                <a:moveTo>
                  <a:pt x="0" y="0"/>
                </a:moveTo>
                <a:lnTo>
                  <a:pt x="8242190" y="0"/>
                </a:lnTo>
                <a:lnTo>
                  <a:pt x="8242190" y="5964348"/>
                </a:lnTo>
                <a:lnTo>
                  <a:pt x="0" y="5964348"/>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0" y="151"/>
            <a:ext cx="9503757" cy="709681"/>
          </a:xfrm>
          <a:prstGeom prst="rect">
            <a:avLst/>
          </a:prstGeom>
        </p:spPr>
        <p:txBody>
          <a:bodyPr lIns="0" tIns="0" rIns="0" bIns="0" rtlCol="0" anchor="t">
            <a:spAutoFit/>
          </a:bodyPr>
          <a:lstStyle/>
          <a:p>
            <a:pPr algn="l">
              <a:lnSpc>
                <a:spcPts val="5880"/>
              </a:lnSpc>
              <a:spcBef>
                <a:spcPct val="0"/>
              </a:spcBef>
            </a:pPr>
            <a:r>
              <a:rPr lang="en-US" sz="4200" b="1" spc="8">
                <a:solidFill>
                  <a:srgbClr val="FFFFFF"/>
                </a:solidFill>
                <a:latin typeface="Alice"/>
                <a:ea typeface="Poppins Bold"/>
                <a:cs typeface="Poppins Bold"/>
                <a:sym typeface="Poppins Bold"/>
              </a:rPr>
              <a:t>Thiết kế giao diện Client</a:t>
            </a:r>
          </a:p>
        </p:txBody>
      </p:sp>
      <p:sp>
        <p:nvSpPr>
          <p:cNvPr id="6" name="TextBox 6"/>
          <p:cNvSpPr txBox="1"/>
          <p:nvPr/>
        </p:nvSpPr>
        <p:spPr>
          <a:xfrm>
            <a:off x="0" y="1023784"/>
            <a:ext cx="8242190" cy="541174"/>
          </a:xfrm>
          <a:prstGeom prst="rect">
            <a:avLst/>
          </a:prstGeom>
        </p:spPr>
        <p:txBody>
          <a:bodyPr lIns="0" tIns="0" rIns="0" bIns="0" rtlCol="0" anchor="t">
            <a:spAutoFit/>
          </a:bodyPr>
          <a:lstStyle/>
          <a:p>
            <a:pPr algn="l">
              <a:lnSpc>
                <a:spcPts val="4480"/>
              </a:lnSpc>
              <a:spcBef>
                <a:spcPct val="0"/>
              </a:spcBef>
            </a:pPr>
            <a:r>
              <a:rPr lang="en-US" sz="3200" b="1" spc="6" dirty="0" err="1">
                <a:solidFill>
                  <a:srgbClr val="FFFFFF"/>
                </a:solidFill>
                <a:latin typeface="Alice"/>
                <a:ea typeface="Poppins Bold"/>
                <a:cs typeface="Poppins Bold"/>
                <a:sym typeface="Poppins Bold"/>
              </a:rPr>
              <a:t>Thiết</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kế</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giao</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diện</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Đăng</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ký</a:t>
            </a:r>
            <a:r>
              <a:rPr lang="en-US" sz="3200" b="1" spc="6" dirty="0">
                <a:solidFill>
                  <a:srgbClr val="FFFFFF"/>
                </a:solidFill>
                <a:latin typeface="Alice"/>
                <a:ea typeface="Poppins Bold"/>
                <a:cs typeface="Poppins Bold"/>
                <a:sym typeface="Poppins Bold"/>
              </a:rPr>
              <a:t> &amp; </a:t>
            </a:r>
            <a:r>
              <a:rPr lang="en-US" sz="3200" b="1" spc="6" dirty="0" err="1">
                <a:solidFill>
                  <a:srgbClr val="FFFFFF"/>
                </a:solidFill>
                <a:latin typeface="Alice"/>
                <a:ea typeface="Poppins Bold"/>
                <a:cs typeface="Poppins Bold"/>
                <a:sym typeface="Poppins Bold"/>
              </a:rPr>
              <a:t>Đăng</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nhập</a:t>
            </a:r>
            <a:endParaRPr lang="en-US" sz="3200" b="1" spc="6" dirty="0">
              <a:solidFill>
                <a:srgbClr val="FFFFFF"/>
              </a:solidFill>
              <a:latin typeface="Alice"/>
              <a:ea typeface="Poppins Bold"/>
              <a:cs typeface="Poppins Bold"/>
              <a:sym typeface="Poppins Bold"/>
            </a:endParaRPr>
          </a:p>
        </p:txBody>
      </p:sp>
      <p:sp>
        <p:nvSpPr>
          <p:cNvPr id="7" name="TextBox 7"/>
          <p:cNvSpPr txBox="1"/>
          <p:nvPr/>
        </p:nvSpPr>
        <p:spPr>
          <a:xfrm>
            <a:off x="8440051" y="1177262"/>
            <a:ext cx="10045810" cy="1090896"/>
          </a:xfrm>
          <a:prstGeom prst="rect">
            <a:avLst/>
          </a:prstGeom>
        </p:spPr>
        <p:txBody>
          <a:bodyPr lIns="0" tIns="0" rIns="0" bIns="0" rtlCol="0" anchor="t">
            <a:spAutoFit/>
          </a:bodyPr>
          <a:lstStyle/>
          <a:p>
            <a:pPr algn="l">
              <a:lnSpc>
                <a:spcPts val="2871"/>
              </a:lnSpc>
              <a:spcBef>
                <a:spcPct val="0"/>
              </a:spcBef>
            </a:pPr>
            <a:r>
              <a:rPr lang="en-US" sz="2051" spc="4">
                <a:solidFill>
                  <a:srgbClr val="FEFEFE"/>
                </a:solidFill>
                <a:latin typeface="Alice"/>
                <a:ea typeface="Poppins"/>
                <a:cs typeface="Poppins"/>
                <a:sym typeface="Poppins"/>
              </a:rPr>
              <a:t>Nội dung đoạn văn bGiao diện Đăng ký và Đăng nhập được xây dựng bằng C# Windows Forms, hỗ trợ người dùng tạo tài khoản, đăng nhập và thiết lập thông tin kết nối đến Server ChatTCP.ản của bạn</a:t>
            </a:r>
          </a:p>
        </p:txBody>
      </p:sp>
      <p:sp>
        <p:nvSpPr>
          <p:cNvPr id="8" name="TextBox 8"/>
          <p:cNvSpPr txBox="1"/>
          <p:nvPr/>
        </p:nvSpPr>
        <p:spPr>
          <a:xfrm>
            <a:off x="8440051" y="2550198"/>
            <a:ext cx="2959060" cy="348365"/>
          </a:xfrm>
          <a:prstGeom prst="rect">
            <a:avLst/>
          </a:prstGeom>
        </p:spPr>
        <p:txBody>
          <a:bodyPr lIns="0" tIns="0" rIns="0" bIns="0" rtlCol="0" anchor="t">
            <a:spAutoFit/>
          </a:bodyPr>
          <a:lstStyle/>
          <a:p>
            <a:pPr algn="ctr">
              <a:lnSpc>
                <a:spcPts val="2871"/>
              </a:lnSpc>
              <a:spcBef>
                <a:spcPct val="0"/>
              </a:spcBef>
            </a:pPr>
            <a:r>
              <a:rPr lang="en-US" sz="2051" spc="4">
                <a:solidFill>
                  <a:srgbClr val="FFFFFF"/>
                </a:solidFill>
                <a:latin typeface="Alice"/>
                <a:ea typeface="Poppins"/>
                <a:cs typeface="Poppins"/>
                <a:sym typeface="Poppins"/>
              </a:rPr>
              <a:t>Các thành phần chính:</a:t>
            </a:r>
          </a:p>
        </p:txBody>
      </p:sp>
      <p:sp>
        <p:nvSpPr>
          <p:cNvPr id="9" name="TextBox 9"/>
          <p:cNvSpPr txBox="1"/>
          <p:nvPr/>
        </p:nvSpPr>
        <p:spPr>
          <a:xfrm>
            <a:off x="8440051" y="3202944"/>
            <a:ext cx="9591616" cy="3695435"/>
          </a:xfrm>
          <a:prstGeom prst="rect">
            <a:avLst/>
          </a:prstGeom>
        </p:spPr>
        <p:txBody>
          <a:bodyPr lIns="0" tIns="0" rIns="0" bIns="0" rtlCol="0" anchor="t">
            <a:spAutoFit/>
          </a:bodyPr>
          <a:lstStyle/>
          <a:p>
            <a:pPr algn="l">
              <a:lnSpc>
                <a:spcPts val="2871"/>
              </a:lnSpc>
              <a:spcBef>
                <a:spcPct val="0"/>
              </a:spcBef>
            </a:pPr>
            <a:r>
              <a:rPr lang="en-US" sz="2051" spc="4">
                <a:solidFill>
                  <a:srgbClr val="FFFFFF"/>
                </a:solidFill>
                <a:latin typeface="Alice"/>
                <a:ea typeface="Poppins"/>
                <a:cs typeface="Poppins"/>
                <a:sym typeface="Poppins"/>
              </a:rPr>
              <a:t>Nội dung đoạn văn bản • Thông tin kết nối: Nhập Địa chỉ Server (IP/Host) và Port để Client kết nối đến Server.</a:t>
            </a:r>
          </a:p>
          <a:p>
            <a:pPr algn="l">
              <a:lnSpc>
                <a:spcPts val="2871"/>
              </a:lnSpc>
              <a:spcBef>
                <a:spcPct val="0"/>
              </a:spcBef>
            </a:pPr>
            <a:r>
              <a:rPr lang="en-US" sz="2051" spc="4">
                <a:solidFill>
                  <a:srgbClr val="FFFFFF"/>
                </a:solidFill>
                <a:latin typeface="Alice"/>
                <a:ea typeface="Poppins"/>
                <a:cs typeface="Poppins"/>
                <a:sym typeface="Poppins"/>
              </a:rPr>
              <a:t>• Đăng nhập: Nhập Tên đăng nhập và Mật khẩu để xác thực tài khoản.</a:t>
            </a:r>
          </a:p>
          <a:p>
            <a:pPr algn="l">
              <a:lnSpc>
                <a:spcPts val="2871"/>
              </a:lnSpc>
              <a:spcBef>
                <a:spcPct val="0"/>
              </a:spcBef>
            </a:pPr>
            <a:r>
              <a:rPr lang="en-US" sz="2051" spc="4">
                <a:solidFill>
                  <a:srgbClr val="FFFFFF"/>
                </a:solidFill>
                <a:latin typeface="Alice"/>
                <a:ea typeface="Poppins"/>
                <a:cs typeface="Poppins"/>
                <a:sym typeface="Poppins"/>
              </a:rPr>
              <a:t>• Đăng ký tài khoản: Nhập Tên đăng nhập, Tên hiển thị, Mật khẩu và Xác nhận mật khẩu.</a:t>
            </a:r>
          </a:p>
          <a:p>
            <a:pPr algn="l">
              <a:lnSpc>
                <a:spcPts val="2871"/>
              </a:lnSpc>
              <a:spcBef>
                <a:spcPct val="0"/>
              </a:spcBef>
            </a:pPr>
            <a:r>
              <a:rPr lang="en-US" sz="2051" spc="4">
                <a:solidFill>
                  <a:srgbClr val="FFFFFF"/>
                </a:solidFill>
                <a:latin typeface="Alice"/>
                <a:ea typeface="Poppins"/>
                <a:cs typeface="Poppins"/>
                <a:sym typeface="Poppins"/>
              </a:rPr>
              <a:t>• Avatar: Hiển thị avatar mặc định và nút Chọn ảnh để người dùng tải ảnh đại diện lên.</a:t>
            </a:r>
          </a:p>
          <a:p>
            <a:pPr algn="l">
              <a:lnSpc>
                <a:spcPts val="2871"/>
              </a:lnSpc>
              <a:spcBef>
                <a:spcPct val="0"/>
              </a:spcBef>
            </a:pPr>
            <a:r>
              <a:rPr lang="en-US" sz="2051" spc="4">
                <a:solidFill>
                  <a:srgbClr val="FFFFFF"/>
                </a:solidFill>
                <a:latin typeface="Alice"/>
                <a:ea typeface="Poppins"/>
                <a:cs typeface="Poppins"/>
                <a:sym typeface="Poppins"/>
              </a:rPr>
              <a:t>• Hiển thị mật khẩu: Checkbox Hiện mật khẩu giúp người dùng xem hoặc ẩn mật khẩu khi nhập.</a:t>
            </a:r>
          </a:p>
          <a:p>
            <a:pPr algn="l">
              <a:lnSpc>
                <a:spcPts val="2871"/>
              </a:lnSpc>
              <a:spcBef>
                <a:spcPct val="0"/>
              </a:spcBef>
            </a:pPr>
            <a:r>
              <a:rPr lang="en-US" sz="2051" spc="4">
                <a:solidFill>
                  <a:srgbClr val="FFFFFF"/>
                </a:solidFill>
                <a:latin typeface="Alice"/>
                <a:ea typeface="Poppins"/>
                <a:cs typeface="Poppins"/>
                <a:sym typeface="Poppins"/>
              </a:rPr>
              <a:t>• Nút chức năng: Gồm Đăng nhập, Đăng ký và Hủy để thực hiện các thao tác tương ứng.</a:t>
            </a:r>
          </a:p>
          <a:p>
            <a:pPr algn="l">
              <a:lnSpc>
                <a:spcPts val="2871"/>
              </a:lnSpc>
              <a:spcBef>
                <a:spcPct val="0"/>
              </a:spcBef>
            </a:pPr>
            <a:r>
              <a:rPr lang="en-US" sz="2051" spc="4">
                <a:solidFill>
                  <a:srgbClr val="FFFFFF"/>
                </a:solidFill>
                <a:latin typeface="Alice"/>
                <a:ea typeface="Poppins"/>
                <a:cs typeface="Poppins"/>
                <a:sym typeface="Poppins"/>
              </a:rPr>
              <a:t>• Chuyển đổi giao diện: Từ giao diện Đăng nhập có thể chọn “Đăng ký ngay” để chuyển sang giao diện tạo tài khoản.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0" y="1478297"/>
            <a:ext cx="8910110" cy="5953774"/>
          </a:xfrm>
          <a:custGeom>
            <a:avLst/>
            <a:gdLst/>
            <a:ahLst/>
            <a:cxnLst/>
            <a:rect l="l" t="t" r="r" b="b"/>
            <a:pathLst>
              <a:path w="8910110" h="5953774">
                <a:moveTo>
                  <a:pt x="0" y="0"/>
                </a:moveTo>
                <a:lnTo>
                  <a:pt x="8910110" y="0"/>
                </a:lnTo>
                <a:lnTo>
                  <a:pt x="8910110" y="5953774"/>
                </a:lnTo>
                <a:lnTo>
                  <a:pt x="0" y="5953774"/>
                </a:lnTo>
                <a:lnTo>
                  <a:pt x="0" y="0"/>
                </a:lnTo>
                <a:close/>
              </a:path>
            </a:pathLst>
          </a:custGeom>
          <a:blipFill>
            <a:blip r:embed="rId4"/>
            <a:stretch>
              <a:fillRect r="-117"/>
            </a:stretch>
          </a:blipFill>
        </p:spPr>
        <p:txBody>
          <a:bodyPr/>
          <a:lstStyle/>
          <a:p>
            <a:endParaRPr lang="en-US">
              <a:latin typeface="Alice"/>
            </a:endParaRPr>
          </a:p>
        </p:txBody>
      </p:sp>
      <p:sp>
        <p:nvSpPr>
          <p:cNvPr id="5" name="TextBox 5"/>
          <p:cNvSpPr txBox="1"/>
          <p:nvPr/>
        </p:nvSpPr>
        <p:spPr>
          <a:xfrm>
            <a:off x="0" y="151"/>
            <a:ext cx="9503757" cy="709681"/>
          </a:xfrm>
          <a:prstGeom prst="rect">
            <a:avLst/>
          </a:prstGeom>
        </p:spPr>
        <p:txBody>
          <a:bodyPr lIns="0" tIns="0" rIns="0" bIns="0" rtlCol="0" anchor="t">
            <a:spAutoFit/>
          </a:bodyPr>
          <a:lstStyle/>
          <a:p>
            <a:pPr algn="l">
              <a:lnSpc>
                <a:spcPts val="5880"/>
              </a:lnSpc>
              <a:spcBef>
                <a:spcPct val="0"/>
              </a:spcBef>
            </a:pPr>
            <a:r>
              <a:rPr lang="en-US" sz="4200" b="1" spc="8">
                <a:solidFill>
                  <a:srgbClr val="FFFFFF"/>
                </a:solidFill>
                <a:latin typeface="Alice"/>
                <a:ea typeface="Poppins Bold"/>
                <a:cs typeface="Poppins Bold"/>
                <a:sym typeface="Poppins Bold"/>
              </a:rPr>
              <a:t>Thiết kế giao diện Client</a:t>
            </a:r>
          </a:p>
        </p:txBody>
      </p:sp>
      <p:sp>
        <p:nvSpPr>
          <p:cNvPr id="6" name="TextBox 6"/>
          <p:cNvSpPr txBox="1"/>
          <p:nvPr/>
        </p:nvSpPr>
        <p:spPr>
          <a:xfrm>
            <a:off x="0" y="788052"/>
            <a:ext cx="8242190" cy="541174"/>
          </a:xfrm>
          <a:prstGeom prst="rect">
            <a:avLst/>
          </a:prstGeom>
        </p:spPr>
        <p:txBody>
          <a:bodyPr lIns="0" tIns="0" rIns="0" bIns="0" rtlCol="0" anchor="t">
            <a:spAutoFit/>
          </a:bodyPr>
          <a:lstStyle/>
          <a:p>
            <a:pPr algn="l">
              <a:lnSpc>
                <a:spcPts val="4480"/>
              </a:lnSpc>
              <a:spcBef>
                <a:spcPct val="0"/>
              </a:spcBef>
            </a:pPr>
            <a:r>
              <a:rPr lang="en-US" sz="3200" b="1" spc="6" dirty="0" err="1">
                <a:solidFill>
                  <a:srgbClr val="FFFFFF"/>
                </a:solidFill>
                <a:latin typeface="Alice"/>
                <a:ea typeface="Poppins Bold"/>
                <a:cs typeface="Poppins Bold"/>
                <a:sym typeface="Poppins Bold"/>
              </a:rPr>
              <a:t>Thiết</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kế</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giao</a:t>
            </a:r>
            <a:r>
              <a:rPr lang="en-US" sz="3200" b="1" spc="6" dirty="0">
                <a:solidFill>
                  <a:srgbClr val="FFFFFF"/>
                </a:solidFill>
                <a:latin typeface="Alice"/>
                <a:ea typeface="Poppins Bold"/>
                <a:cs typeface="Poppins Bold"/>
                <a:sym typeface="Poppins Bold"/>
              </a:rPr>
              <a:t> </a:t>
            </a:r>
            <a:r>
              <a:rPr lang="en-US" sz="3200" b="1" spc="6" dirty="0" err="1">
                <a:solidFill>
                  <a:srgbClr val="FFFFFF"/>
                </a:solidFill>
                <a:latin typeface="Alice"/>
                <a:ea typeface="Poppins Bold"/>
                <a:cs typeface="Poppins Bold"/>
                <a:sym typeface="Poppins Bold"/>
              </a:rPr>
              <a:t>diện</a:t>
            </a:r>
            <a:r>
              <a:rPr lang="en-US" sz="3200" b="1" spc="6" dirty="0">
                <a:solidFill>
                  <a:srgbClr val="FFFFFF"/>
                </a:solidFill>
                <a:latin typeface="Alice"/>
                <a:ea typeface="Poppins Bold"/>
                <a:cs typeface="Poppins Bold"/>
                <a:sym typeface="Poppins Bold"/>
              </a:rPr>
              <a:t> Chat Client</a:t>
            </a:r>
          </a:p>
        </p:txBody>
      </p:sp>
      <p:sp>
        <p:nvSpPr>
          <p:cNvPr id="7" name="TextBox 7"/>
          <p:cNvSpPr txBox="1"/>
          <p:nvPr/>
        </p:nvSpPr>
        <p:spPr>
          <a:xfrm>
            <a:off x="9144000" y="1368216"/>
            <a:ext cx="9144000" cy="720262"/>
          </a:xfrm>
          <a:prstGeom prst="rect">
            <a:avLst/>
          </a:prstGeom>
        </p:spPr>
        <p:txBody>
          <a:bodyPr lIns="0" tIns="0" rIns="0" bIns="0" rtlCol="0" anchor="t">
            <a:spAutoFit/>
          </a:bodyPr>
          <a:lstStyle/>
          <a:p>
            <a:pPr algn="l">
              <a:lnSpc>
                <a:spcPts val="2871"/>
              </a:lnSpc>
              <a:spcBef>
                <a:spcPct val="0"/>
              </a:spcBef>
            </a:pPr>
            <a:r>
              <a:rPr lang="en-US" sz="2051" spc="4">
                <a:solidFill>
                  <a:srgbClr val="FFFFFF"/>
                </a:solidFill>
                <a:latin typeface="Alice"/>
                <a:ea typeface="Poppins"/>
                <a:cs typeface="Poppins"/>
                <a:sym typeface="Poppins"/>
              </a:rPr>
              <a:t>Giao diện Chat Client được xây dựng bằng C# Windows Forms, hỗ trợ người dùng kết nối, trò chuyện và quản lý các cuộc hội thoại trong hệ thống ChatTCP.</a:t>
            </a:r>
          </a:p>
        </p:txBody>
      </p:sp>
      <p:sp>
        <p:nvSpPr>
          <p:cNvPr id="8" name="TextBox 8"/>
          <p:cNvSpPr txBox="1"/>
          <p:nvPr/>
        </p:nvSpPr>
        <p:spPr>
          <a:xfrm>
            <a:off x="9144000" y="2401962"/>
            <a:ext cx="2959060" cy="348365"/>
          </a:xfrm>
          <a:prstGeom prst="rect">
            <a:avLst/>
          </a:prstGeom>
        </p:spPr>
        <p:txBody>
          <a:bodyPr lIns="0" tIns="0" rIns="0" bIns="0" rtlCol="0" anchor="t">
            <a:spAutoFit/>
          </a:bodyPr>
          <a:lstStyle/>
          <a:p>
            <a:pPr algn="ctr">
              <a:lnSpc>
                <a:spcPts val="2871"/>
              </a:lnSpc>
              <a:spcBef>
                <a:spcPct val="0"/>
              </a:spcBef>
            </a:pPr>
            <a:r>
              <a:rPr lang="en-US" sz="2051" spc="4">
                <a:solidFill>
                  <a:srgbClr val="FFFFFF"/>
                </a:solidFill>
                <a:latin typeface="Alice"/>
                <a:ea typeface="Poppins"/>
                <a:cs typeface="Poppins"/>
                <a:sym typeface="Poppins"/>
              </a:rPr>
              <a:t>Các thành phần chính:</a:t>
            </a:r>
          </a:p>
        </p:txBody>
      </p:sp>
      <p:sp>
        <p:nvSpPr>
          <p:cNvPr id="9" name="TextBox 9"/>
          <p:cNvSpPr txBox="1"/>
          <p:nvPr/>
        </p:nvSpPr>
        <p:spPr>
          <a:xfrm>
            <a:off x="9144000" y="2738154"/>
            <a:ext cx="9144000" cy="5554919"/>
          </a:xfrm>
          <a:prstGeom prst="rect">
            <a:avLst/>
          </a:prstGeom>
        </p:spPr>
        <p:txBody>
          <a:bodyPr lIns="0" tIns="0" rIns="0" bIns="0" rtlCol="0" anchor="t">
            <a:spAutoFit/>
          </a:bodyPr>
          <a:lstStyle/>
          <a:p>
            <a:pPr algn="l">
              <a:lnSpc>
                <a:spcPts val="2871"/>
              </a:lnSpc>
            </a:pPr>
            <a:r>
              <a:rPr lang="en-US" sz="2051" spc="4">
                <a:solidFill>
                  <a:srgbClr val="FFFFFF"/>
                </a:solidFill>
                <a:latin typeface="Alice"/>
                <a:ea typeface="Poppins"/>
                <a:cs typeface="Poppins"/>
                <a:sym typeface="Poppins"/>
              </a:rPr>
              <a:t>• Thông tin người dùng: Hiển thị avatar, tên người dùng và trạng thái Online của tài khoản đang đăng nhập.</a:t>
            </a:r>
          </a:p>
          <a:p>
            <a:pPr algn="l">
              <a:lnSpc>
                <a:spcPts val="2871"/>
              </a:lnSpc>
              <a:spcBef>
                <a:spcPct val="0"/>
              </a:spcBef>
            </a:pPr>
            <a:r>
              <a:rPr lang="en-US" sz="2051" spc="4">
                <a:solidFill>
                  <a:srgbClr val="FFFFFF"/>
                </a:solidFill>
                <a:latin typeface="Alice"/>
                <a:ea typeface="Poppins"/>
                <a:cs typeface="Poppins"/>
                <a:sym typeface="Poppins"/>
              </a:rPr>
              <a:t>• Nút Đăng xuất: Cho phép người dùng đăng xuất khỏi tài khoản và kết thúc phiên làm việc quay lại giao diện đăng nhập.</a:t>
            </a:r>
          </a:p>
          <a:p>
            <a:pPr algn="l">
              <a:lnSpc>
                <a:spcPts val="2871"/>
              </a:lnSpc>
              <a:spcBef>
                <a:spcPct val="0"/>
              </a:spcBef>
            </a:pPr>
            <a:r>
              <a:rPr lang="en-US" sz="2051" spc="4">
                <a:solidFill>
                  <a:srgbClr val="FFFFFF"/>
                </a:solidFill>
                <a:latin typeface="Alice"/>
                <a:ea typeface="Poppins"/>
                <a:cs typeface="Poppins"/>
                <a:sym typeface="Poppins"/>
              </a:rPr>
              <a:t>• Danh sách Users: Hiển thị danh sách người dùng đang có trong hệ thống để lựa chọn người muốn trò chuyện.</a:t>
            </a:r>
          </a:p>
          <a:p>
            <a:pPr algn="l">
              <a:lnSpc>
                <a:spcPts val="2871"/>
              </a:lnSpc>
              <a:spcBef>
                <a:spcPct val="0"/>
              </a:spcBef>
            </a:pPr>
            <a:r>
              <a:rPr lang="en-US" sz="2051" spc="4">
                <a:solidFill>
                  <a:srgbClr val="FFFFFF"/>
                </a:solidFill>
                <a:latin typeface="Alice"/>
                <a:ea typeface="Poppins"/>
                <a:cs typeface="Poppins"/>
                <a:sym typeface="Poppins"/>
              </a:rPr>
              <a:t>• Danh sách Groups: Cho phép chuyển sang danh sách nhóm chat và lựa chọn nhóm để trò chuyện.</a:t>
            </a:r>
          </a:p>
          <a:p>
            <a:pPr algn="l">
              <a:lnSpc>
                <a:spcPts val="2871"/>
              </a:lnSpc>
              <a:spcBef>
                <a:spcPct val="0"/>
              </a:spcBef>
            </a:pPr>
            <a:r>
              <a:rPr lang="en-US" sz="2051" spc="4">
                <a:solidFill>
                  <a:srgbClr val="FFFFFF"/>
                </a:solidFill>
                <a:latin typeface="Alice"/>
                <a:ea typeface="Poppins"/>
                <a:cs typeface="Poppins"/>
                <a:sym typeface="Poppins"/>
              </a:rPr>
              <a:t>• Khu vực cuộc trò chuyện: Hiển thị avatar, tên người dùng/nhóm và nội dung tin nhắn của cuộc trò chuyện được chọn.</a:t>
            </a:r>
          </a:p>
          <a:p>
            <a:pPr algn="l">
              <a:lnSpc>
                <a:spcPts val="2871"/>
              </a:lnSpc>
              <a:spcBef>
                <a:spcPct val="0"/>
              </a:spcBef>
            </a:pPr>
            <a:r>
              <a:rPr lang="en-US" sz="2051" spc="4">
                <a:solidFill>
                  <a:srgbClr val="FFFFFF"/>
                </a:solidFill>
                <a:latin typeface="Alice"/>
                <a:ea typeface="Poppins"/>
                <a:cs typeface="Poppins"/>
                <a:sym typeface="Poppins"/>
              </a:rPr>
              <a:t>• Ô nhập tin nhắn: Cho phép người dùng nhập nội dung tin nhắn trước khi gửi.</a:t>
            </a:r>
          </a:p>
          <a:p>
            <a:pPr algn="l">
              <a:lnSpc>
                <a:spcPts val="2871"/>
              </a:lnSpc>
              <a:spcBef>
                <a:spcPct val="0"/>
              </a:spcBef>
            </a:pPr>
            <a:r>
              <a:rPr lang="en-US" sz="2051" spc="4">
                <a:solidFill>
                  <a:srgbClr val="FFFFFF"/>
                </a:solidFill>
                <a:latin typeface="Alice"/>
                <a:ea typeface="Poppins"/>
                <a:cs typeface="Poppins"/>
                <a:sym typeface="Poppins"/>
              </a:rPr>
              <a:t>• Nút Emoji: Hỗ trợ chọn và gửi biểu tượng cảm xúc trong tin nhắn.</a:t>
            </a:r>
          </a:p>
          <a:p>
            <a:pPr algn="l">
              <a:lnSpc>
                <a:spcPts val="2871"/>
              </a:lnSpc>
              <a:spcBef>
                <a:spcPct val="0"/>
              </a:spcBef>
            </a:pPr>
            <a:r>
              <a:rPr lang="en-US" sz="2051" spc="4">
                <a:solidFill>
                  <a:srgbClr val="FFFFFF"/>
                </a:solidFill>
                <a:latin typeface="Alice"/>
                <a:ea typeface="Poppins"/>
                <a:cs typeface="Poppins"/>
                <a:sym typeface="Poppins"/>
              </a:rPr>
              <a:t>• Nút Gửi: Thực hiện gửi tin nhắn đến người dùng hoặc nhóm đang được chọn.</a:t>
            </a:r>
          </a:p>
          <a:p>
            <a:pPr algn="l">
              <a:lnSpc>
                <a:spcPts val="2871"/>
              </a:lnSpc>
              <a:spcBef>
                <a:spcPct val="0"/>
              </a:spcBef>
            </a:pPr>
            <a:r>
              <a:rPr lang="en-US" sz="2051" spc="4">
                <a:solidFill>
                  <a:srgbClr val="FFFFFF"/>
                </a:solidFill>
                <a:latin typeface="Alice"/>
                <a:ea typeface="Poppins"/>
                <a:cs typeface="Poppins"/>
                <a:sym typeface="Poppins"/>
              </a:rPr>
              <a:t>• Tạo nhóm mới: Cho phép người dùng tạo một nhóm chat mới từ danh sách bên trái.</a:t>
            </a:r>
          </a:p>
          <a:p>
            <a:pPr algn="l">
              <a:lnSpc>
                <a:spcPts val="2871"/>
              </a:lnSpc>
              <a:spcBef>
                <a:spcPct val="0"/>
              </a:spcBef>
            </a:pPr>
            <a:endParaRPr lang="en-US" sz="2051" spc="4">
              <a:solidFill>
                <a:srgbClr val="FFFFFF"/>
              </a:solidFill>
              <a:latin typeface="Alice"/>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628987" y="1704471"/>
            <a:ext cx="4854878" cy="5516907"/>
          </a:xfrm>
          <a:custGeom>
            <a:avLst/>
            <a:gdLst/>
            <a:ahLst/>
            <a:cxnLst/>
            <a:rect l="l" t="t" r="r" b="b"/>
            <a:pathLst>
              <a:path w="4854878" h="5516907">
                <a:moveTo>
                  <a:pt x="0" y="0"/>
                </a:moveTo>
                <a:lnTo>
                  <a:pt x="4854878" y="0"/>
                </a:lnTo>
                <a:lnTo>
                  <a:pt x="4854878" y="5516907"/>
                </a:lnTo>
                <a:lnTo>
                  <a:pt x="0" y="551690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569334" y="3377261"/>
            <a:ext cx="8268973" cy="1703480"/>
          </a:xfrm>
          <a:prstGeom prst="rect">
            <a:avLst/>
          </a:prstGeom>
        </p:spPr>
        <p:txBody>
          <a:bodyPr lIns="0" tIns="0" rIns="0" bIns="0" rtlCol="0" anchor="t">
            <a:spAutoFit/>
          </a:bodyPr>
          <a:lstStyle/>
          <a:p>
            <a:pPr algn="l">
              <a:lnSpc>
                <a:spcPts val="13675"/>
              </a:lnSpc>
            </a:pPr>
            <a:r>
              <a:rPr lang="en-US" sz="11396" b="1" dirty="0">
                <a:solidFill>
                  <a:srgbClr val="FFFFFF"/>
                </a:solidFill>
                <a:latin typeface="Alice"/>
                <a:ea typeface="Neo Sans Bold"/>
                <a:cs typeface="Neo Sans Bold"/>
                <a:sym typeface="Neo Sans Bold"/>
              </a:rPr>
              <a:t>ĐĂNG KÝ</a:t>
            </a:r>
            <a:r>
              <a:rPr lang="en-US" sz="11396" dirty="0">
                <a:solidFill>
                  <a:srgbClr val="FFFFFF"/>
                </a:solidFill>
                <a:latin typeface="Alice"/>
                <a:ea typeface="Neo Sans"/>
                <a:cs typeface="Neo Sans"/>
                <a:sym typeface="Neo Sans"/>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3335607" y="533883"/>
            <a:ext cx="10965936" cy="4163285"/>
          </a:xfrm>
          <a:custGeom>
            <a:avLst/>
            <a:gdLst/>
            <a:ahLst/>
            <a:cxnLst/>
            <a:rect l="l" t="t" r="r" b="b"/>
            <a:pathLst>
              <a:path w="10965936" h="4163285">
                <a:moveTo>
                  <a:pt x="0" y="0"/>
                </a:moveTo>
                <a:lnTo>
                  <a:pt x="10965936" y="0"/>
                </a:lnTo>
                <a:lnTo>
                  <a:pt x="10965936" y="4163285"/>
                </a:lnTo>
                <a:lnTo>
                  <a:pt x="0" y="4163285"/>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46799" y="5278068"/>
            <a:ext cx="17594402" cy="2532040"/>
          </a:xfrm>
          <a:prstGeom prst="rect">
            <a:avLst/>
          </a:prstGeom>
        </p:spPr>
        <p:txBody>
          <a:bodyPr lIns="0" tIns="0" rIns="0" bIns="0" rtlCol="0" anchor="t">
            <a:spAutoFit/>
          </a:bodyPr>
          <a:lstStyle/>
          <a:p>
            <a:pPr algn="just">
              <a:lnSpc>
                <a:spcPts val="4799"/>
              </a:lnSpc>
            </a:pPr>
            <a:r>
              <a:rPr lang="en-US" sz="3999" b="1" dirty="0">
                <a:solidFill>
                  <a:srgbClr val="FFFFFF"/>
                </a:solidFill>
                <a:latin typeface="Alice"/>
                <a:ea typeface="Neo Sans Bold"/>
                <a:cs typeface="Neo Sans Bold"/>
                <a:sym typeface="Neo Sans Bold"/>
              </a:rPr>
              <a:t>Khi ĐĂNG KÍ, SỬ DỤNG HÀM REGISTERUSER , KIỂM TRA CÁC TRƯỜNG HỢP ĐỂ TRỐNG, CÓ KHOẢNG TRẮNG TRONG USERNAME VÀ PASSWORD, KIỂM TRA ĐỘ DÀI MẬT KHẨU CÓ PHÙ HỢP HAY KHÔNG</a:t>
            </a:r>
          </a:p>
          <a:p>
            <a:pPr algn="l">
              <a:lnSpc>
                <a:spcPts val="6000"/>
              </a:lnSpc>
            </a:pPr>
            <a:endParaRPr lang="en-US" sz="3999" b="1" dirty="0">
              <a:solidFill>
                <a:srgbClr val="FFFFFF"/>
              </a:solidFill>
              <a:latin typeface="Neo Sans Bold"/>
              <a:ea typeface="Neo Sans Bold"/>
              <a:cs typeface="Neo Sans Bold"/>
              <a:sym typeface="Neo Sans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3306330" y="209587"/>
            <a:ext cx="10952172" cy="5144680"/>
          </a:xfrm>
          <a:custGeom>
            <a:avLst/>
            <a:gdLst/>
            <a:ahLst/>
            <a:cxnLst/>
            <a:rect l="l" t="t" r="r" b="b"/>
            <a:pathLst>
              <a:path w="10952172" h="5144680">
                <a:moveTo>
                  <a:pt x="0" y="0"/>
                </a:moveTo>
                <a:lnTo>
                  <a:pt x="10952172" y="0"/>
                </a:lnTo>
                <a:lnTo>
                  <a:pt x="10952172" y="5144681"/>
                </a:lnTo>
                <a:lnTo>
                  <a:pt x="0" y="514468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93598" y="6200106"/>
            <a:ext cx="17594402" cy="1300934"/>
          </a:xfrm>
          <a:prstGeom prst="rect">
            <a:avLst/>
          </a:prstGeom>
        </p:spPr>
        <p:txBody>
          <a:bodyPr lIns="0" tIns="0" rIns="0" bIns="0" rtlCol="0" anchor="t">
            <a:spAutoFit/>
          </a:bodyPr>
          <a:lstStyle/>
          <a:p>
            <a:pPr algn="just">
              <a:lnSpc>
                <a:spcPts val="4799"/>
              </a:lnSpc>
            </a:pPr>
            <a:r>
              <a:rPr lang="en-US" sz="3999" b="1" dirty="0">
                <a:solidFill>
                  <a:srgbClr val="FFFFFF"/>
                </a:solidFill>
                <a:latin typeface="Alice"/>
                <a:ea typeface="Neo Sans Bold"/>
                <a:cs typeface="Neo Sans Bold"/>
                <a:sym typeface="Neo Sans Bold"/>
              </a:rPr>
              <a:t>Sau ĐÓ SẼ KIỂM TRA XEM USERNAME CÓ TỒN TẠI CHƯA</a:t>
            </a:r>
          </a:p>
          <a:p>
            <a:pPr algn="l">
              <a:lnSpc>
                <a:spcPts val="6000"/>
              </a:lnSpc>
            </a:pPr>
            <a:endParaRPr lang="en-US" sz="3999" b="1" dirty="0">
              <a:solidFill>
                <a:srgbClr val="FFFFFF"/>
              </a:solidFill>
              <a:latin typeface="Neo Sans Bold"/>
              <a:ea typeface="Neo Sans Bold"/>
              <a:cs typeface="Neo Sans Bold"/>
              <a:sym typeface="Neo San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sp>
        <p:nvSpPr>
          <p:cNvPr id="3" name="Freeform 3"/>
          <p:cNvSpPr/>
          <p:nvPr/>
        </p:nvSpPr>
        <p:spPr>
          <a:xfrm>
            <a:off x="256403" y="829829"/>
            <a:ext cx="10962500" cy="1069512"/>
          </a:xfrm>
          <a:custGeom>
            <a:avLst/>
            <a:gdLst/>
            <a:ahLst/>
            <a:cxnLst/>
            <a:rect l="l" t="t" r="r" b="b"/>
            <a:pathLst>
              <a:path w="10962500" h="1069512">
                <a:moveTo>
                  <a:pt x="0" y="0"/>
                </a:moveTo>
                <a:lnTo>
                  <a:pt x="10962500" y="0"/>
                </a:lnTo>
                <a:lnTo>
                  <a:pt x="10962500" y="1069512"/>
                </a:lnTo>
                <a:lnTo>
                  <a:pt x="0" y="1069512"/>
                </a:lnTo>
                <a:lnTo>
                  <a:pt x="0" y="0"/>
                </a:lnTo>
                <a:close/>
              </a:path>
            </a:pathLst>
          </a:custGeom>
          <a:blipFill>
            <a:blip r:embed="rId3"/>
            <a:stretch>
              <a:fillRect/>
            </a:stretch>
          </a:blipFill>
        </p:spPr>
        <p:txBody>
          <a:bodyPr/>
          <a:lstStyle/>
          <a:p>
            <a:endParaRPr lang="en-US">
              <a:latin typeface="Alice"/>
            </a:endParaRPr>
          </a:p>
        </p:txBody>
      </p:sp>
      <p:sp>
        <p:nvSpPr>
          <p:cNvPr id="4" name="Freeform 4"/>
          <p:cNvSpPr/>
          <p:nvPr/>
        </p:nvSpPr>
        <p:spPr>
          <a:xfrm>
            <a:off x="263285" y="2203611"/>
            <a:ext cx="10955618" cy="5879778"/>
          </a:xfrm>
          <a:custGeom>
            <a:avLst/>
            <a:gdLst/>
            <a:ahLst/>
            <a:cxnLst/>
            <a:rect l="l" t="t" r="r" b="b"/>
            <a:pathLst>
              <a:path w="10955618" h="5879778">
                <a:moveTo>
                  <a:pt x="0" y="0"/>
                </a:moveTo>
                <a:lnTo>
                  <a:pt x="10955618" y="0"/>
                </a:lnTo>
                <a:lnTo>
                  <a:pt x="10955618" y="5879778"/>
                </a:lnTo>
                <a:lnTo>
                  <a:pt x="0" y="5879778"/>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11450714" y="753629"/>
            <a:ext cx="6837286" cy="6868034"/>
          </a:xfrm>
          <a:prstGeom prst="rect">
            <a:avLst/>
          </a:prstGeom>
        </p:spPr>
        <p:txBody>
          <a:bodyPr lIns="0" tIns="0" rIns="0" bIns="0" rtlCol="0" anchor="t">
            <a:spAutoFit/>
          </a:bodyPr>
          <a:lstStyle/>
          <a:p>
            <a:pPr algn="just">
              <a:lnSpc>
                <a:spcPts val="4799"/>
              </a:lnSpc>
            </a:pPr>
            <a:r>
              <a:rPr lang="en-US" sz="3999" b="1">
                <a:solidFill>
                  <a:srgbClr val="FFFFFF"/>
                </a:solidFill>
                <a:latin typeface="Alice"/>
                <a:ea typeface="Neo Sans Bold"/>
                <a:cs typeface="Neo Sans Bold"/>
                <a:sym typeface="Neo Sans Bold"/>
              </a:rPr>
              <a:t>Sau KHI KHÔNG CÒN TRƯỜNG HỢP NÀO LỖI VÀ NHẤN NÚT ĐĂNG KÍ THÀNH CÔNG, TIẾN HÀNH BĂM PASSWORD </a:t>
            </a:r>
          </a:p>
          <a:p>
            <a:pPr algn="just">
              <a:lnSpc>
                <a:spcPts val="4799"/>
              </a:lnSpc>
            </a:pPr>
            <a:endParaRPr lang="en-US" sz="3999" b="1">
              <a:solidFill>
                <a:srgbClr val="FFFFFF"/>
              </a:solidFill>
              <a:latin typeface="Alice"/>
              <a:ea typeface="Neo Sans Bold"/>
              <a:cs typeface="Neo Sans Bold"/>
              <a:sym typeface="Neo Sans Bold"/>
            </a:endParaRPr>
          </a:p>
          <a:p>
            <a:pPr algn="just">
              <a:lnSpc>
                <a:spcPts val="4799"/>
              </a:lnSpc>
            </a:pPr>
            <a:endParaRPr lang="en-US" sz="3999" b="1">
              <a:solidFill>
                <a:srgbClr val="FFFFFF"/>
              </a:solidFill>
              <a:latin typeface="Alice"/>
              <a:ea typeface="Neo Sans Bold"/>
              <a:cs typeface="Neo Sans Bold"/>
              <a:sym typeface="Neo Sans Bold"/>
            </a:endParaRPr>
          </a:p>
          <a:p>
            <a:pPr algn="just">
              <a:lnSpc>
                <a:spcPts val="4799"/>
              </a:lnSpc>
            </a:pPr>
            <a:r>
              <a:rPr lang="en-US" sz="3999" b="1">
                <a:solidFill>
                  <a:srgbClr val="FFFFFF"/>
                </a:solidFill>
                <a:latin typeface="Alice"/>
                <a:ea typeface="Neo Sans Bold"/>
                <a:cs typeface="Neo Sans Bold"/>
                <a:sym typeface="Neo Sans Bold"/>
              </a:rPr>
              <a:t>SỬ DỤNG HÀM MÃ HÓA SHA256 ĐỂ TIẾN HÀNH BĂM PASSWORD THÀNH CHUỖI HEX</a:t>
            </a:r>
          </a:p>
          <a:p>
            <a:pPr algn="just">
              <a:lnSpc>
                <a:spcPts val="4799"/>
              </a:lnSpc>
            </a:pPr>
            <a:endParaRPr lang="en-US" sz="3999" b="1">
              <a:solidFill>
                <a:srgbClr val="FFFFFF"/>
              </a:solidFill>
              <a:latin typeface="Alice"/>
              <a:ea typeface="Neo Sans Bold"/>
              <a:cs typeface="Neo Sans Bold"/>
              <a:sym typeface="Neo Sans Bold"/>
            </a:endParaRPr>
          </a:p>
          <a:p>
            <a:pPr algn="l">
              <a:lnSpc>
                <a:spcPts val="6000"/>
              </a:lnSpc>
            </a:pPr>
            <a:endParaRPr lang="en-US" sz="3999" b="1">
              <a:solidFill>
                <a:srgbClr val="FFFFFF"/>
              </a:solidFill>
              <a:latin typeface="Alice"/>
              <a:ea typeface="Neo Sans Bold"/>
              <a:cs typeface="Neo Sans Bold"/>
              <a:sym typeface="Neo Sans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3239190" y="240381"/>
            <a:ext cx="10941818" cy="5177966"/>
          </a:xfrm>
          <a:custGeom>
            <a:avLst/>
            <a:gdLst/>
            <a:ahLst/>
            <a:cxnLst/>
            <a:rect l="l" t="t" r="r" b="b"/>
            <a:pathLst>
              <a:path w="10941818" h="5177966">
                <a:moveTo>
                  <a:pt x="0" y="0"/>
                </a:moveTo>
                <a:lnTo>
                  <a:pt x="10941819" y="0"/>
                </a:lnTo>
                <a:lnTo>
                  <a:pt x="10941819" y="5177966"/>
                </a:lnTo>
                <a:lnTo>
                  <a:pt x="0" y="517796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93598" y="6171531"/>
            <a:ext cx="16762759" cy="874395"/>
          </a:xfrm>
          <a:prstGeom prst="rect">
            <a:avLst/>
          </a:prstGeom>
        </p:spPr>
        <p:txBody>
          <a:bodyPr lIns="0" tIns="0" rIns="0" bIns="0" rtlCol="0" anchor="t">
            <a:spAutoFit/>
          </a:bodyPr>
          <a:lstStyle/>
          <a:p>
            <a:pPr algn="l">
              <a:lnSpc>
                <a:spcPts val="6000"/>
              </a:lnSpc>
            </a:pPr>
            <a:r>
              <a:rPr lang="en-US" sz="5000" b="1">
                <a:solidFill>
                  <a:srgbClr val="FFFFFF"/>
                </a:solidFill>
                <a:latin typeface="Neo Sans Bold"/>
                <a:ea typeface="Neo Sans Bold"/>
                <a:cs typeface="Neo Sans Bold"/>
                <a:sym typeface="Neo Sans Bold"/>
              </a:rPr>
              <a:t>Server SẼ TIẾN HÀNH LƯU THÔNG TIN VÀO DATABASE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628987" y="1704471"/>
            <a:ext cx="4854878" cy="5516907"/>
          </a:xfrm>
          <a:custGeom>
            <a:avLst/>
            <a:gdLst/>
            <a:ahLst/>
            <a:cxnLst/>
            <a:rect l="l" t="t" r="r" b="b"/>
            <a:pathLst>
              <a:path w="4854878" h="5516907">
                <a:moveTo>
                  <a:pt x="0" y="0"/>
                </a:moveTo>
                <a:lnTo>
                  <a:pt x="4854878" y="0"/>
                </a:lnTo>
                <a:lnTo>
                  <a:pt x="4854878" y="5516907"/>
                </a:lnTo>
                <a:lnTo>
                  <a:pt x="0" y="551690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569334" y="3377261"/>
            <a:ext cx="9353724" cy="1975485"/>
          </a:xfrm>
          <a:prstGeom prst="rect">
            <a:avLst/>
          </a:prstGeom>
        </p:spPr>
        <p:txBody>
          <a:bodyPr lIns="0" tIns="0" rIns="0" bIns="0" rtlCol="0" anchor="t">
            <a:spAutoFit/>
          </a:bodyPr>
          <a:lstStyle/>
          <a:p>
            <a:pPr algn="l">
              <a:lnSpc>
                <a:spcPts val="13675"/>
              </a:lnSpc>
            </a:pPr>
            <a:r>
              <a:rPr lang="en-US" sz="11396" b="1">
                <a:solidFill>
                  <a:srgbClr val="FFFFFF"/>
                </a:solidFill>
                <a:latin typeface="Neo Sans Bold"/>
                <a:ea typeface="Neo Sans Bold"/>
                <a:cs typeface="Neo Sans Bold"/>
                <a:sym typeface="Neo Sans Bold"/>
              </a:rPr>
              <a:t>ĐĂNG NHẬP</a:t>
            </a:r>
            <a:r>
              <a:rPr lang="en-US" sz="11396">
                <a:solidFill>
                  <a:srgbClr val="FFFFFF"/>
                </a:solidFill>
                <a:latin typeface="Neo Sans"/>
                <a:ea typeface="Neo Sans"/>
                <a:cs typeface="Neo Sans"/>
                <a:sym typeface="Neo Sans"/>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3" name="Freeform 3"/>
          <p:cNvSpPr/>
          <p:nvPr/>
        </p:nvSpPr>
        <p:spPr>
          <a:xfrm>
            <a:off x="3494028" y="1028700"/>
            <a:ext cx="10938361" cy="2251083"/>
          </a:xfrm>
          <a:custGeom>
            <a:avLst/>
            <a:gdLst/>
            <a:ahLst/>
            <a:cxnLst/>
            <a:rect l="l" t="t" r="r" b="b"/>
            <a:pathLst>
              <a:path w="10938361" h="2251083">
                <a:moveTo>
                  <a:pt x="0" y="0"/>
                </a:moveTo>
                <a:lnTo>
                  <a:pt x="10938360" y="0"/>
                </a:lnTo>
                <a:lnTo>
                  <a:pt x="10938360" y="2251083"/>
                </a:lnTo>
                <a:lnTo>
                  <a:pt x="0" y="225108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42283" y="4833671"/>
            <a:ext cx="16003433" cy="2406015"/>
          </a:xfrm>
          <a:prstGeom prst="rect">
            <a:avLst/>
          </a:prstGeom>
        </p:spPr>
        <p:txBody>
          <a:bodyPr lIns="0" tIns="0" rIns="0" bIns="0" rtlCol="0" anchor="t">
            <a:spAutoFit/>
          </a:bodyPr>
          <a:lstStyle/>
          <a:p>
            <a:pPr algn="l">
              <a:lnSpc>
                <a:spcPts val="6000"/>
              </a:lnSpc>
            </a:pPr>
            <a:r>
              <a:rPr lang="en-US" sz="5000" b="1">
                <a:solidFill>
                  <a:srgbClr val="FFFFFF"/>
                </a:solidFill>
                <a:latin typeface="Neo Sans Bold"/>
                <a:ea typeface="Neo Sans Bold"/>
                <a:cs typeface="Neo Sans Bold"/>
                <a:sym typeface="Neo Sans Bold"/>
              </a:rPr>
              <a:t>Khi ĐĂNG NHẬP, TIẾN HÀNH KIỂM TRA TRƯỜNG HỢP ĐỂ TRỐNG</a:t>
            </a:r>
          </a:p>
          <a:p>
            <a:pPr algn="l">
              <a:lnSpc>
                <a:spcPts val="6000"/>
              </a:lnSpc>
            </a:pPr>
            <a:endParaRPr lang="en-US" sz="5000" b="1">
              <a:solidFill>
                <a:srgbClr val="FFFFFF"/>
              </a:solidFill>
              <a:latin typeface="Neo Sans Bold"/>
              <a:ea typeface="Neo Sans Bold"/>
              <a:cs typeface="Neo Sans Bold"/>
              <a:sym typeface="Neo Sans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sp>
        <p:nvSpPr>
          <p:cNvPr id="3" name="Freeform 3"/>
          <p:cNvSpPr/>
          <p:nvPr/>
        </p:nvSpPr>
        <p:spPr>
          <a:xfrm>
            <a:off x="3358845" y="368922"/>
            <a:ext cx="10955618" cy="4161558"/>
          </a:xfrm>
          <a:custGeom>
            <a:avLst/>
            <a:gdLst/>
            <a:ahLst/>
            <a:cxnLst/>
            <a:rect l="l" t="t" r="r" b="b"/>
            <a:pathLst>
              <a:path w="10955618" h="4161558">
                <a:moveTo>
                  <a:pt x="0" y="0"/>
                </a:moveTo>
                <a:lnTo>
                  <a:pt x="10955618" y="0"/>
                </a:lnTo>
                <a:lnTo>
                  <a:pt x="10955618" y="4161559"/>
                </a:lnTo>
                <a:lnTo>
                  <a:pt x="0" y="4161559"/>
                </a:lnTo>
                <a:lnTo>
                  <a:pt x="0" y="0"/>
                </a:lnTo>
                <a:close/>
              </a:path>
            </a:pathLst>
          </a:custGeom>
          <a:blipFill>
            <a:blip r:embed="rId3"/>
            <a:stretch>
              <a:fillRect/>
            </a:stretch>
          </a:blipFill>
        </p:spPr>
        <p:txBody>
          <a:bodyPr/>
          <a:lstStyle/>
          <a:p>
            <a:endParaRPr lang="en-US">
              <a:latin typeface="Alice"/>
            </a:endParaRPr>
          </a:p>
        </p:txBody>
      </p:sp>
      <p:sp>
        <p:nvSpPr>
          <p:cNvPr id="4" name="TextBox 4"/>
          <p:cNvSpPr txBox="1"/>
          <p:nvPr/>
        </p:nvSpPr>
        <p:spPr>
          <a:xfrm>
            <a:off x="1142283" y="4833671"/>
            <a:ext cx="16003433" cy="3175635"/>
          </a:xfrm>
          <a:prstGeom prst="rect">
            <a:avLst/>
          </a:prstGeom>
        </p:spPr>
        <p:txBody>
          <a:bodyPr lIns="0" tIns="0" rIns="0" bIns="0" rtlCol="0" anchor="t">
            <a:spAutoFit/>
          </a:bodyPr>
          <a:lstStyle/>
          <a:p>
            <a:pPr algn="just">
              <a:lnSpc>
                <a:spcPts val="6000"/>
              </a:lnSpc>
            </a:pPr>
            <a:r>
              <a:rPr lang="en-US" sz="5000" b="1" dirty="0">
                <a:solidFill>
                  <a:srgbClr val="FFFFFF"/>
                </a:solidFill>
                <a:latin typeface="Alice"/>
                <a:ea typeface="Neo Sans Bold"/>
                <a:cs typeface="Neo Sans Bold"/>
                <a:sym typeface="Neo Sans Bold"/>
              </a:rPr>
              <a:t>Khi NHẬP ĐẦY ĐỦ 2 Ô VÀ NHẤN ĐĂNG NHẬP, SERVER SẼ KIỂM TRA TÊN ĐĂNG NHẬP VÀ TIẾN HÀNH XÁC NHẬN MẬT KHẨU, NẾU SAI THÌ BÁO LỖI</a:t>
            </a:r>
          </a:p>
          <a:p>
            <a:pPr algn="just">
              <a:lnSpc>
                <a:spcPts val="6000"/>
              </a:lnSpc>
            </a:pPr>
            <a:endParaRPr lang="en-US" sz="5000" b="1" dirty="0">
              <a:solidFill>
                <a:srgbClr val="FFFFFF"/>
              </a:solidFill>
              <a:latin typeface="Alice"/>
              <a:ea typeface="Neo Sans Bold"/>
              <a:cs typeface="Neo Sans Bold"/>
              <a:sym typeface="Neo Sans 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sp>
        <p:nvSpPr>
          <p:cNvPr id="3" name="Freeform 3"/>
          <p:cNvSpPr/>
          <p:nvPr/>
        </p:nvSpPr>
        <p:spPr>
          <a:xfrm>
            <a:off x="3214211" y="2040660"/>
            <a:ext cx="10955618" cy="2553684"/>
          </a:xfrm>
          <a:custGeom>
            <a:avLst/>
            <a:gdLst/>
            <a:ahLst/>
            <a:cxnLst/>
            <a:rect l="l" t="t" r="r" b="b"/>
            <a:pathLst>
              <a:path w="10955618" h="2553684">
                <a:moveTo>
                  <a:pt x="0" y="0"/>
                </a:moveTo>
                <a:lnTo>
                  <a:pt x="10955618" y="0"/>
                </a:lnTo>
                <a:lnTo>
                  <a:pt x="10955618" y="2553684"/>
                </a:lnTo>
                <a:lnTo>
                  <a:pt x="0" y="2553684"/>
                </a:lnTo>
                <a:lnTo>
                  <a:pt x="0" y="0"/>
                </a:lnTo>
                <a:close/>
              </a:path>
            </a:pathLst>
          </a:custGeom>
          <a:blipFill>
            <a:blip r:embed="rId3"/>
            <a:stretch>
              <a:fillRect/>
            </a:stretch>
          </a:blipFill>
        </p:spPr>
        <p:txBody>
          <a:bodyPr/>
          <a:lstStyle/>
          <a:p>
            <a:endParaRPr lang="en-US">
              <a:latin typeface="Alice"/>
            </a:endParaRPr>
          </a:p>
        </p:txBody>
      </p:sp>
      <p:sp>
        <p:nvSpPr>
          <p:cNvPr id="4" name="TextBox 4"/>
          <p:cNvSpPr txBox="1"/>
          <p:nvPr/>
        </p:nvSpPr>
        <p:spPr>
          <a:xfrm>
            <a:off x="1010621" y="5638359"/>
            <a:ext cx="16003433" cy="1538883"/>
          </a:xfrm>
          <a:prstGeom prst="rect">
            <a:avLst/>
          </a:prstGeom>
        </p:spPr>
        <p:txBody>
          <a:bodyPr lIns="0" tIns="0" rIns="0" bIns="0" rtlCol="0" anchor="t">
            <a:spAutoFit/>
          </a:bodyPr>
          <a:lstStyle/>
          <a:p>
            <a:pPr algn="just">
              <a:lnSpc>
                <a:spcPts val="6000"/>
              </a:lnSpc>
            </a:pPr>
            <a:r>
              <a:rPr lang="en-US" sz="5000" b="1">
                <a:solidFill>
                  <a:srgbClr val="FFFFFF"/>
                </a:solidFill>
                <a:latin typeface="Alice"/>
                <a:ea typeface="Neo Sans Bold"/>
                <a:cs typeface="Neo Sans Bold"/>
                <a:sym typeface="Neo Sans Bold"/>
              </a:rPr>
              <a:t>Khi XÁC NHẬN TÊN ĐĂNG NHẬP CÓ TỒN TẠI, TIẾN HÀNH XÁC NHẬN MẬT KHẨU</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sp>
        <p:nvSpPr>
          <p:cNvPr id="3" name="Freeform 3"/>
          <p:cNvSpPr/>
          <p:nvPr/>
        </p:nvSpPr>
        <p:spPr>
          <a:xfrm>
            <a:off x="3537976" y="181731"/>
            <a:ext cx="10948724" cy="3270398"/>
          </a:xfrm>
          <a:custGeom>
            <a:avLst/>
            <a:gdLst/>
            <a:ahLst/>
            <a:cxnLst/>
            <a:rect l="l" t="t" r="r" b="b"/>
            <a:pathLst>
              <a:path w="10948724" h="3270398">
                <a:moveTo>
                  <a:pt x="0" y="0"/>
                </a:moveTo>
                <a:lnTo>
                  <a:pt x="10948723" y="0"/>
                </a:lnTo>
                <a:lnTo>
                  <a:pt x="10948723" y="3270398"/>
                </a:lnTo>
                <a:lnTo>
                  <a:pt x="0" y="3270398"/>
                </a:lnTo>
                <a:lnTo>
                  <a:pt x="0" y="0"/>
                </a:lnTo>
                <a:close/>
              </a:path>
            </a:pathLst>
          </a:custGeom>
          <a:blipFill>
            <a:blip r:embed="rId3"/>
            <a:stretch>
              <a:fillRect/>
            </a:stretch>
          </a:blipFill>
        </p:spPr>
        <p:txBody>
          <a:bodyPr/>
          <a:lstStyle/>
          <a:p>
            <a:endParaRPr lang="en-US">
              <a:latin typeface="Alice"/>
            </a:endParaRPr>
          </a:p>
        </p:txBody>
      </p:sp>
      <p:sp>
        <p:nvSpPr>
          <p:cNvPr id="4" name="Freeform 4"/>
          <p:cNvSpPr/>
          <p:nvPr/>
        </p:nvSpPr>
        <p:spPr>
          <a:xfrm>
            <a:off x="3534527" y="5193950"/>
            <a:ext cx="10952172" cy="647030"/>
          </a:xfrm>
          <a:custGeom>
            <a:avLst/>
            <a:gdLst/>
            <a:ahLst/>
            <a:cxnLst/>
            <a:rect l="l" t="t" r="r" b="b"/>
            <a:pathLst>
              <a:path w="10952172" h="647030">
                <a:moveTo>
                  <a:pt x="0" y="0"/>
                </a:moveTo>
                <a:lnTo>
                  <a:pt x="10952172" y="0"/>
                </a:lnTo>
                <a:lnTo>
                  <a:pt x="10952172" y="647030"/>
                </a:lnTo>
                <a:lnTo>
                  <a:pt x="0" y="647030"/>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865987" y="3541395"/>
            <a:ext cx="16560858" cy="1577355"/>
          </a:xfrm>
          <a:prstGeom prst="rect">
            <a:avLst/>
          </a:prstGeom>
        </p:spPr>
        <p:txBody>
          <a:bodyPr lIns="0" tIns="0" rIns="0" bIns="0" rtlCol="0" anchor="t">
            <a:spAutoFit/>
          </a:bodyPr>
          <a:lstStyle/>
          <a:p>
            <a:pPr algn="just">
              <a:lnSpc>
                <a:spcPts val="4134"/>
              </a:lnSpc>
            </a:pPr>
            <a:r>
              <a:rPr lang="en-US" sz="3445" b="1">
                <a:solidFill>
                  <a:srgbClr val="FFFFFF"/>
                </a:solidFill>
                <a:latin typeface="Alice"/>
                <a:ea typeface="Neo Sans Bold"/>
                <a:cs typeface="Neo Sans Bold"/>
                <a:sym typeface="Neo Sans Bold"/>
              </a:rPr>
              <a:t>Tiến hành băm password ĐÃ NHẬP VÀ SO SÁNH VỚI PASSWORD ĐÃ LƯU TRONG DATABASE, NẾU TRÙNG KHỚP THÌ TRẢ VỀ KẾT QUẢ THÀNH CÔNG. </a:t>
            </a:r>
          </a:p>
          <a:p>
            <a:pPr algn="just">
              <a:lnSpc>
                <a:spcPts val="4134"/>
              </a:lnSpc>
            </a:pPr>
            <a:endParaRPr lang="en-US" sz="3445" b="1">
              <a:solidFill>
                <a:srgbClr val="FFFFFF"/>
              </a:solidFill>
              <a:latin typeface="Alice"/>
              <a:ea typeface="Neo Sans Bold"/>
              <a:cs typeface="Neo Sans Bold"/>
              <a:sym typeface="Neo Sans Bold"/>
            </a:endParaRPr>
          </a:p>
        </p:txBody>
      </p:sp>
      <p:sp>
        <p:nvSpPr>
          <p:cNvPr id="6" name="TextBox 6"/>
          <p:cNvSpPr txBox="1"/>
          <p:nvPr/>
        </p:nvSpPr>
        <p:spPr>
          <a:xfrm>
            <a:off x="865987" y="6539373"/>
            <a:ext cx="15857689" cy="1025922"/>
          </a:xfrm>
          <a:prstGeom prst="rect">
            <a:avLst/>
          </a:prstGeom>
        </p:spPr>
        <p:txBody>
          <a:bodyPr lIns="0" tIns="0" rIns="0" bIns="0" rtlCol="0" anchor="t">
            <a:spAutoFit/>
          </a:bodyPr>
          <a:lstStyle/>
          <a:p>
            <a:pPr algn="just">
              <a:lnSpc>
                <a:spcPts val="4033"/>
              </a:lnSpc>
            </a:pPr>
            <a:r>
              <a:rPr lang="en-US" sz="3361" b="1">
                <a:solidFill>
                  <a:srgbClr val="FFFFFF"/>
                </a:solidFill>
                <a:latin typeface="Alice"/>
                <a:ea typeface="Neo Sans Bold"/>
                <a:cs typeface="Neo Sans Bold"/>
                <a:sym typeface="Neo Sans Bold"/>
              </a:rPr>
              <a:t>Cập nhật trạng THÁI THÀNH ONLINE KHI ĐĂNG NHẬP THÀNH CÔNG</a:t>
            </a:r>
          </a:p>
          <a:p>
            <a:pPr algn="just">
              <a:lnSpc>
                <a:spcPts val="4033"/>
              </a:lnSpc>
            </a:pPr>
            <a:endParaRPr lang="en-US" sz="3361" b="1">
              <a:solidFill>
                <a:srgbClr val="FFFFFF"/>
              </a:solidFill>
              <a:latin typeface="Alice"/>
              <a:ea typeface="Neo Sans Bold"/>
              <a:cs typeface="Neo Sans Bold"/>
              <a:sym typeface="Neo Sans 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p>
          </p:txBody>
        </p:sp>
      </p:grpSp>
      <p:grpSp>
        <p:nvGrpSpPr>
          <p:cNvPr id="4" name="Group 4"/>
          <p:cNvGrpSpPr/>
          <p:nvPr/>
        </p:nvGrpSpPr>
        <p:grpSpPr>
          <a:xfrm>
            <a:off x="1560881" y="3132734"/>
            <a:ext cx="4101084" cy="4968621"/>
            <a:chOff x="0" y="0"/>
            <a:chExt cx="5468112" cy="6624828"/>
          </a:xfrm>
        </p:grpSpPr>
        <p:sp>
          <p:nvSpPr>
            <p:cNvPr id="5" name="Freeform 5"/>
            <p:cNvSpPr/>
            <p:nvPr/>
          </p:nvSpPr>
          <p:spPr>
            <a:xfrm>
              <a:off x="0" y="0"/>
              <a:ext cx="5468112" cy="6624828"/>
            </a:xfrm>
            <a:custGeom>
              <a:avLst/>
              <a:gdLst/>
              <a:ahLst/>
              <a:cxnLst/>
              <a:rect l="l" t="t" r="r" b="b"/>
              <a:pathLst>
                <a:path w="5468112" h="6624828">
                  <a:moveTo>
                    <a:pt x="0" y="462661"/>
                  </a:moveTo>
                  <a:cubicBezTo>
                    <a:pt x="0" y="207137"/>
                    <a:pt x="207137" y="0"/>
                    <a:pt x="462661" y="0"/>
                  </a:cubicBezTo>
                  <a:lnTo>
                    <a:pt x="5005451" y="0"/>
                  </a:lnTo>
                  <a:cubicBezTo>
                    <a:pt x="5260975" y="0"/>
                    <a:pt x="5468112" y="207137"/>
                    <a:pt x="5468112" y="462661"/>
                  </a:cubicBezTo>
                  <a:lnTo>
                    <a:pt x="5468112" y="6162167"/>
                  </a:lnTo>
                  <a:cubicBezTo>
                    <a:pt x="5468112" y="6417691"/>
                    <a:pt x="5260975" y="6624828"/>
                    <a:pt x="5005451" y="6624828"/>
                  </a:cubicBezTo>
                  <a:lnTo>
                    <a:pt x="462661" y="6624828"/>
                  </a:lnTo>
                  <a:cubicBezTo>
                    <a:pt x="207137" y="6624828"/>
                    <a:pt x="0" y="6417691"/>
                    <a:pt x="0" y="6162167"/>
                  </a:cubicBezTo>
                  <a:close/>
                </a:path>
              </a:pathLst>
            </a:custGeom>
            <a:solidFill>
              <a:srgbClr val="0A2E6B"/>
            </a:solidFill>
          </p:spPr>
          <p:txBody>
            <a:bodyPr/>
            <a:lstStyle/>
            <a:p>
              <a:endParaRPr lang="en-US">
                <a:latin typeface="Alice"/>
              </a:endParaRPr>
            </a:p>
          </p:txBody>
        </p:sp>
      </p:grpSp>
      <p:grpSp>
        <p:nvGrpSpPr>
          <p:cNvPr id="6" name="Group 6"/>
          <p:cNvGrpSpPr/>
          <p:nvPr/>
        </p:nvGrpSpPr>
        <p:grpSpPr>
          <a:xfrm>
            <a:off x="1371600" y="2880360"/>
            <a:ext cx="4101084" cy="4968621"/>
            <a:chOff x="0" y="0"/>
            <a:chExt cx="5468112" cy="6624828"/>
          </a:xfrm>
        </p:grpSpPr>
        <p:sp>
          <p:nvSpPr>
            <p:cNvPr id="7" name="Freeform 7"/>
            <p:cNvSpPr/>
            <p:nvPr/>
          </p:nvSpPr>
          <p:spPr>
            <a:xfrm>
              <a:off x="0" y="0"/>
              <a:ext cx="5468112" cy="6624828"/>
            </a:xfrm>
            <a:custGeom>
              <a:avLst/>
              <a:gdLst/>
              <a:ahLst/>
              <a:cxnLst/>
              <a:rect l="l" t="t" r="r" b="b"/>
              <a:pathLst>
                <a:path w="5468112" h="6624828">
                  <a:moveTo>
                    <a:pt x="0" y="462661"/>
                  </a:moveTo>
                  <a:cubicBezTo>
                    <a:pt x="0" y="207137"/>
                    <a:pt x="207137" y="0"/>
                    <a:pt x="462661" y="0"/>
                  </a:cubicBezTo>
                  <a:lnTo>
                    <a:pt x="5005451" y="0"/>
                  </a:lnTo>
                  <a:cubicBezTo>
                    <a:pt x="5260975" y="0"/>
                    <a:pt x="5468112" y="207137"/>
                    <a:pt x="5468112" y="462661"/>
                  </a:cubicBezTo>
                  <a:lnTo>
                    <a:pt x="5468112" y="6162167"/>
                  </a:lnTo>
                  <a:cubicBezTo>
                    <a:pt x="5468112" y="6417691"/>
                    <a:pt x="5260975" y="6624828"/>
                    <a:pt x="5005451" y="6624828"/>
                  </a:cubicBezTo>
                  <a:lnTo>
                    <a:pt x="462661" y="6624828"/>
                  </a:lnTo>
                  <a:cubicBezTo>
                    <a:pt x="207137" y="6624828"/>
                    <a:pt x="0" y="6417691"/>
                    <a:pt x="0" y="6162167"/>
                  </a:cubicBezTo>
                  <a:close/>
                </a:path>
              </a:pathLst>
            </a:custGeom>
            <a:solidFill>
              <a:srgbClr val="1C63E6"/>
            </a:solidFill>
          </p:spPr>
          <p:txBody>
            <a:bodyPr/>
            <a:lstStyle/>
            <a:p>
              <a:endParaRPr lang="en-US">
                <a:latin typeface="Alice"/>
              </a:endParaRPr>
            </a:p>
          </p:txBody>
        </p:sp>
      </p:grpSp>
      <p:grpSp>
        <p:nvGrpSpPr>
          <p:cNvPr id="8" name="Group 8"/>
          <p:cNvGrpSpPr/>
          <p:nvPr/>
        </p:nvGrpSpPr>
        <p:grpSpPr>
          <a:xfrm>
            <a:off x="1371600" y="2880360"/>
            <a:ext cx="4101084" cy="867537"/>
            <a:chOff x="0" y="0"/>
            <a:chExt cx="5468112" cy="1156716"/>
          </a:xfrm>
        </p:grpSpPr>
        <p:sp>
          <p:nvSpPr>
            <p:cNvPr id="9" name="Freeform 9"/>
            <p:cNvSpPr/>
            <p:nvPr/>
          </p:nvSpPr>
          <p:spPr>
            <a:xfrm>
              <a:off x="0" y="0"/>
              <a:ext cx="5468112" cy="1156716"/>
            </a:xfrm>
            <a:custGeom>
              <a:avLst/>
              <a:gdLst/>
              <a:ahLst/>
              <a:cxnLst/>
              <a:rect l="l" t="t" r="r" b="b"/>
              <a:pathLst>
                <a:path w="5468112" h="1156716">
                  <a:moveTo>
                    <a:pt x="0" y="462661"/>
                  </a:moveTo>
                  <a:cubicBezTo>
                    <a:pt x="0" y="207137"/>
                    <a:pt x="207137" y="0"/>
                    <a:pt x="462661" y="0"/>
                  </a:cubicBezTo>
                  <a:lnTo>
                    <a:pt x="5005451" y="0"/>
                  </a:lnTo>
                  <a:cubicBezTo>
                    <a:pt x="5260975" y="0"/>
                    <a:pt x="5468112" y="207137"/>
                    <a:pt x="5468112" y="462661"/>
                  </a:cubicBezTo>
                  <a:lnTo>
                    <a:pt x="5468112" y="694055"/>
                  </a:lnTo>
                  <a:cubicBezTo>
                    <a:pt x="5468112" y="949579"/>
                    <a:pt x="5260975" y="1156716"/>
                    <a:pt x="5005451" y="1156716"/>
                  </a:cubicBezTo>
                  <a:lnTo>
                    <a:pt x="462661" y="1156716"/>
                  </a:lnTo>
                  <a:cubicBezTo>
                    <a:pt x="207137" y="1156716"/>
                    <a:pt x="0" y="949579"/>
                    <a:pt x="0" y="694055"/>
                  </a:cubicBezTo>
                  <a:close/>
                </a:path>
              </a:pathLst>
            </a:custGeom>
            <a:solidFill>
              <a:srgbClr val="184FBD"/>
            </a:solidFill>
          </p:spPr>
          <p:txBody>
            <a:bodyPr/>
            <a:lstStyle/>
            <a:p>
              <a:endParaRPr lang="en-US">
                <a:latin typeface="Alice"/>
              </a:endParaRPr>
            </a:p>
          </p:txBody>
        </p:sp>
      </p:grpSp>
      <p:grpSp>
        <p:nvGrpSpPr>
          <p:cNvPr id="10" name="Group 10"/>
          <p:cNvGrpSpPr/>
          <p:nvPr/>
        </p:nvGrpSpPr>
        <p:grpSpPr>
          <a:xfrm>
            <a:off x="2554605" y="4378833"/>
            <a:ext cx="1735074" cy="1735074"/>
            <a:chOff x="0" y="0"/>
            <a:chExt cx="2313432" cy="2313432"/>
          </a:xfrm>
        </p:grpSpPr>
        <p:sp>
          <p:nvSpPr>
            <p:cNvPr id="11" name="Freeform 11"/>
            <p:cNvSpPr/>
            <p:nvPr/>
          </p:nvSpPr>
          <p:spPr>
            <a:xfrm>
              <a:off x="0" y="0"/>
              <a:ext cx="2313432" cy="2313432"/>
            </a:xfrm>
            <a:custGeom>
              <a:avLst/>
              <a:gdLst/>
              <a:ahLst/>
              <a:cxnLst/>
              <a:rect l="l" t="t" r="r" b="b"/>
              <a:pathLst>
                <a:path w="2313432" h="2313432">
                  <a:moveTo>
                    <a:pt x="0" y="1156716"/>
                  </a:moveTo>
                  <a:cubicBezTo>
                    <a:pt x="0" y="517906"/>
                    <a:pt x="517906" y="0"/>
                    <a:pt x="1156716" y="0"/>
                  </a:cubicBezTo>
                  <a:cubicBezTo>
                    <a:pt x="1795526" y="0"/>
                    <a:pt x="2313432" y="517906"/>
                    <a:pt x="2313432" y="1156716"/>
                  </a:cubicBezTo>
                  <a:cubicBezTo>
                    <a:pt x="2313432" y="1795526"/>
                    <a:pt x="1795526" y="2313432"/>
                    <a:pt x="1156716" y="2313432"/>
                  </a:cubicBezTo>
                  <a:cubicBezTo>
                    <a:pt x="517906" y="2313432"/>
                    <a:pt x="0" y="1795526"/>
                    <a:pt x="0" y="1156716"/>
                  </a:cubicBezTo>
                  <a:close/>
                </a:path>
              </a:pathLst>
            </a:custGeom>
            <a:solidFill>
              <a:srgbClr val="5C93F0"/>
            </a:solidFill>
          </p:spPr>
          <p:txBody>
            <a:bodyPr/>
            <a:lstStyle/>
            <a:p>
              <a:endParaRPr lang="en-US">
                <a:latin typeface="Alice"/>
              </a:endParaRPr>
            </a:p>
          </p:txBody>
        </p:sp>
      </p:grpSp>
      <p:grpSp>
        <p:nvGrpSpPr>
          <p:cNvPr id="12" name="Group 12"/>
          <p:cNvGrpSpPr/>
          <p:nvPr/>
        </p:nvGrpSpPr>
        <p:grpSpPr>
          <a:xfrm>
            <a:off x="2870073" y="4615434"/>
            <a:ext cx="1104138" cy="1104138"/>
            <a:chOff x="0" y="0"/>
            <a:chExt cx="1472184" cy="1472184"/>
          </a:xfrm>
        </p:grpSpPr>
        <p:sp>
          <p:nvSpPr>
            <p:cNvPr id="13" name="Freeform 13"/>
            <p:cNvSpPr/>
            <p:nvPr/>
          </p:nvSpPr>
          <p:spPr>
            <a:xfrm>
              <a:off x="0" y="0"/>
              <a:ext cx="1472184" cy="1472184"/>
            </a:xfrm>
            <a:custGeom>
              <a:avLst/>
              <a:gdLst/>
              <a:ahLst/>
              <a:cxnLst/>
              <a:rect l="l" t="t" r="r" b="b"/>
              <a:pathLst>
                <a:path w="1472184" h="1472184">
                  <a:moveTo>
                    <a:pt x="0" y="736092"/>
                  </a:moveTo>
                  <a:cubicBezTo>
                    <a:pt x="0" y="329565"/>
                    <a:pt x="329565" y="0"/>
                    <a:pt x="736092" y="0"/>
                  </a:cubicBezTo>
                  <a:cubicBezTo>
                    <a:pt x="1142619" y="0"/>
                    <a:pt x="1472184" y="329565"/>
                    <a:pt x="1472184" y="736092"/>
                  </a:cubicBezTo>
                  <a:cubicBezTo>
                    <a:pt x="1472184" y="1142619"/>
                    <a:pt x="1142619" y="1472184"/>
                    <a:pt x="736092" y="1472184"/>
                  </a:cubicBezTo>
                  <a:cubicBezTo>
                    <a:pt x="329565" y="1472184"/>
                    <a:pt x="0" y="1142619"/>
                    <a:pt x="0" y="736092"/>
                  </a:cubicBezTo>
                  <a:close/>
                </a:path>
              </a:pathLst>
            </a:custGeom>
            <a:solidFill>
              <a:srgbClr val="BFD7FF"/>
            </a:solidFill>
          </p:spPr>
          <p:txBody>
            <a:bodyPr/>
            <a:lstStyle/>
            <a:p>
              <a:endParaRPr lang="en-US">
                <a:latin typeface="Alice"/>
              </a:endParaRPr>
            </a:p>
          </p:txBody>
        </p:sp>
      </p:grpSp>
      <p:grpSp>
        <p:nvGrpSpPr>
          <p:cNvPr id="14" name="Group 14"/>
          <p:cNvGrpSpPr/>
          <p:nvPr/>
        </p:nvGrpSpPr>
        <p:grpSpPr>
          <a:xfrm>
            <a:off x="4762881" y="4221099"/>
            <a:ext cx="504749" cy="252374"/>
            <a:chOff x="0" y="0"/>
            <a:chExt cx="672998" cy="336499"/>
          </a:xfrm>
        </p:grpSpPr>
        <p:sp>
          <p:nvSpPr>
            <p:cNvPr id="15" name="Freeform 15"/>
            <p:cNvSpPr/>
            <p:nvPr/>
          </p:nvSpPr>
          <p:spPr>
            <a:xfrm>
              <a:off x="0" y="0"/>
              <a:ext cx="673100" cy="336550"/>
            </a:xfrm>
            <a:custGeom>
              <a:avLst/>
              <a:gdLst/>
              <a:ahLst/>
              <a:cxnLst/>
              <a:rect l="l" t="t" r="r" b="b"/>
              <a:pathLst>
                <a:path w="673100" h="336550">
                  <a:moveTo>
                    <a:pt x="0" y="168275"/>
                  </a:moveTo>
                  <a:cubicBezTo>
                    <a:pt x="0" y="75311"/>
                    <a:pt x="75311" y="0"/>
                    <a:pt x="168275" y="0"/>
                  </a:cubicBezTo>
                  <a:lnTo>
                    <a:pt x="504825" y="0"/>
                  </a:lnTo>
                  <a:cubicBezTo>
                    <a:pt x="597789" y="0"/>
                    <a:pt x="673100" y="75311"/>
                    <a:pt x="673100" y="168275"/>
                  </a:cubicBezTo>
                  <a:cubicBezTo>
                    <a:pt x="673100" y="261239"/>
                    <a:pt x="597662" y="336550"/>
                    <a:pt x="504698" y="336550"/>
                  </a:cubicBezTo>
                  <a:lnTo>
                    <a:pt x="168275" y="336550"/>
                  </a:lnTo>
                  <a:cubicBezTo>
                    <a:pt x="75311" y="336550"/>
                    <a:pt x="0" y="261112"/>
                    <a:pt x="0" y="168275"/>
                  </a:cubicBezTo>
                  <a:close/>
                </a:path>
              </a:pathLst>
            </a:custGeom>
            <a:solidFill>
              <a:srgbClr val="35E0D0"/>
            </a:solidFill>
          </p:spPr>
          <p:txBody>
            <a:bodyPr/>
            <a:lstStyle/>
            <a:p>
              <a:endParaRPr lang="en-US">
                <a:latin typeface="Alice"/>
              </a:endParaRPr>
            </a:p>
          </p:txBody>
        </p:sp>
      </p:grpSp>
      <p:grpSp>
        <p:nvGrpSpPr>
          <p:cNvPr id="16" name="Group 16"/>
          <p:cNvGrpSpPr/>
          <p:nvPr/>
        </p:nvGrpSpPr>
        <p:grpSpPr>
          <a:xfrm>
            <a:off x="4762881" y="5088636"/>
            <a:ext cx="504749" cy="252374"/>
            <a:chOff x="0" y="0"/>
            <a:chExt cx="672998" cy="336499"/>
          </a:xfrm>
        </p:grpSpPr>
        <p:sp>
          <p:nvSpPr>
            <p:cNvPr id="17" name="Freeform 17"/>
            <p:cNvSpPr/>
            <p:nvPr/>
          </p:nvSpPr>
          <p:spPr>
            <a:xfrm>
              <a:off x="0" y="0"/>
              <a:ext cx="673100" cy="336550"/>
            </a:xfrm>
            <a:custGeom>
              <a:avLst/>
              <a:gdLst/>
              <a:ahLst/>
              <a:cxnLst/>
              <a:rect l="l" t="t" r="r" b="b"/>
              <a:pathLst>
                <a:path w="673100" h="336550">
                  <a:moveTo>
                    <a:pt x="0" y="168275"/>
                  </a:moveTo>
                  <a:cubicBezTo>
                    <a:pt x="0" y="75311"/>
                    <a:pt x="75311" y="0"/>
                    <a:pt x="168275" y="0"/>
                  </a:cubicBezTo>
                  <a:lnTo>
                    <a:pt x="504825" y="0"/>
                  </a:lnTo>
                  <a:cubicBezTo>
                    <a:pt x="597789" y="0"/>
                    <a:pt x="673100" y="75311"/>
                    <a:pt x="673100" y="168275"/>
                  </a:cubicBezTo>
                  <a:cubicBezTo>
                    <a:pt x="673100" y="261239"/>
                    <a:pt x="597662" y="336550"/>
                    <a:pt x="504698" y="336550"/>
                  </a:cubicBezTo>
                  <a:lnTo>
                    <a:pt x="168275" y="336550"/>
                  </a:lnTo>
                  <a:cubicBezTo>
                    <a:pt x="75311" y="336550"/>
                    <a:pt x="0" y="261112"/>
                    <a:pt x="0" y="168275"/>
                  </a:cubicBezTo>
                  <a:close/>
                </a:path>
              </a:pathLst>
            </a:custGeom>
            <a:solidFill>
              <a:srgbClr val="35E0D0"/>
            </a:solidFill>
          </p:spPr>
          <p:txBody>
            <a:bodyPr/>
            <a:lstStyle/>
            <a:p>
              <a:endParaRPr lang="en-US">
                <a:latin typeface="Alice"/>
              </a:endParaRPr>
            </a:p>
          </p:txBody>
        </p:sp>
      </p:grpSp>
      <p:grpSp>
        <p:nvGrpSpPr>
          <p:cNvPr id="18" name="Group 18"/>
          <p:cNvGrpSpPr/>
          <p:nvPr/>
        </p:nvGrpSpPr>
        <p:grpSpPr>
          <a:xfrm>
            <a:off x="4762881" y="5956173"/>
            <a:ext cx="504749" cy="252374"/>
            <a:chOff x="0" y="0"/>
            <a:chExt cx="672998" cy="336499"/>
          </a:xfrm>
        </p:grpSpPr>
        <p:sp>
          <p:nvSpPr>
            <p:cNvPr id="19" name="Freeform 19"/>
            <p:cNvSpPr/>
            <p:nvPr/>
          </p:nvSpPr>
          <p:spPr>
            <a:xfrm>
              <a:off x="0" y="0"/>
              <a:ext cx="673100" cy="336550"/>
            </a:xfrm>
            <a:custGeom>
              <a:avLst/>
              <a:gdLst/>
              <a:ahLst/>
              <a:cxnLst/>
              <a:rect l="l" t="t" r="r" b="b"/>
              <a:pathLst>
                <a:path w="673100" h="336550">
                  <a:moveTo>
                    <a:pt x="0" y="168275"/>
                  </a:moveTo>
                  <a:cubicBezTo>
                    <a:pt x="0" y="75311"/>
                    <a:pt x="75311" y="0"/>
                    <a:pt x="168275" y="0"/>
                  </a:cubicBezTo>
                  <a:lnTo>
                    <a:pt x="504825" y="0"/>
                  </a:lnTo>
                  <a:cubicBezTo>
                    <a:pt x="597789" y="0"/>
                    <a:pt x="673100" y="75311"/>
                    <a:pt x="673100" y="168275"/>
                  </a:cubicBezTo>
                  <a:cubicBezTo>
                    <a:pt x="673100" y="261239"/>
                    <a:pt x="597662" y="336550"/>
                    <a:pt x="504698" y="336550"/>
                  </a:cubicBezTo>
                  <a:lnTo>
                    <a:pt x="168275" y="336550"/>
                  </a:lnTo>
                  <a:cubicBezTo>
                    <a:pt x="75311" y="336550"/>
                    <a:pt x="0" y="261112"/>
                    <a:pt x="0" y="168275"/>
                  </a:cubicBezTo>
                  <a:close/>
                </a:path>
              </a:pathLst>
            </a:custGeom>
            <a:solidFill>
              <a:srgbClr val="35E0D0"/>
            </a:solidFill>
          </p:spPr>
          <p:txBody>
            <a:bodyPr/>
            <a:lstStyle/>
            <a:p>
              <a:endParaRPr lang="en-US">
                <a:latin typeface="Alice"/>
              </a:endParaRPr>
            </a:p>
          </p:txBody>
        </p:sp>
      </p:grpSp>
      <p:grpSp>
        <p:nvGrpSpPr>
          <p:cNvPr id="20" name="Group 20"/>
          <p:cNvGrpSpPr/>
          <p:nvPr/>
        </p:nvGrpSpPr>
        <p:grpSpPr>
          <a:xfrm>
            <a:off x="4414552" y="6869716"/>
            <a:ext cx="728205" cy="728205"/>
            <a:chOff x="0" y="0"/>
            <a:chExt cx="970940" cy="970940"/>
          </a:xfrm>
        </p:grpSpPr>
        <p:sp>
          <p:nvSpPr>
            <p:cNvPr id="21" name="Freeform 21"/>
            <p:cNvSpPr/>
            <p:nvPr/>
          </p:nvSpPr>
          <p:spPr>
            <a:xfrm>
              <a:off x="0" y="0"/>
              <a:ext cx="970915" cy="970915"/>
            </a:xfrm>
            <a:custGeom>
              <a:avLst/>
              <a:gdLst/>
              <a:ahLst/>
              <a:cxnLst/>
              <a:rect l="l" t="t" r="r" b="b"/>
              <a:pathLst>
                <a:path w="970915" h="970915">
                  <a:moveTo>
                    <a:pt x="0" y="485521"/>
                  </a:moveTo>
                  <a:cubicBezTo>
                    <a:pt x="0" y="217297"/>
                    <a:pt x="217297" y="0"/>
                    <a:pt x="485521" y="0"/>
                  </a:cubicBezTo>
                  <a:cubicBezTo>
                    <a:pt x="753745" y="0"/>
                    <a:pt x="970915" y="217297"/>
                    <a:pt x="970915" y="485521"/>
                  </a:cubicBezTo>
                  <a:cubicBezTo>
                    <a:pt x="970915" y="753745"/>
                    <a:pt x="753618" y="970915"/>
                    <a:pt x="485521" y="970915"/>
                  </a:cubicBezTo>
                  <a:cubicBezTo>
                    <a:pt x="217424" y="970915"/>
                    <a:pt x="0" y="753618"/>
                    <a:pt x="0" y="485521"/>
                  </a:cubicBezTo>
                  <a:close/>
                </a:path>
              </a:pathLst>
            </a:custGeom>
            <a:solidFill>
              <a:srgbClr val="2ECC71"/>
            </a:solidFill>
            <a:ln w="65723" cap="sq">
              <a:solidFill>
                <a:srgbClr val="1C63E6"/>
              </a:solidFill>
              <a:prstDash val="solid"/>
              <a:miter/>
            </a:ln>
          </p:spPr>
          <p:txBody>
            <a:bodyPr/>
            <a:lstStyle/>
            <a:p>
              <a:endParaRPr lang="en-US">
                <a:latin typeface="Alice"/>
              </a:endParaRPr>
            </a:p>
          </p:txBody>
        </p:sp>
      </p:grpSp>
      <p:grpSp>
        <p:nvGrpSpPr>
          <p:cNvPr id="22" name="Group 22"/>
          <p:cNvGrpSpPr/>
          <p:nvPr/>
        </p:nvGrpSpPr>
        <p:grpSpPr>
          <a:xfrm>
            <a:off x="3802190" y="2424417"/>
            <a:ext cx="896112" cy="896112"/>
            <a:chOff x="0" y="0"/>
            <a:chExt cx="1194816" cy="1194816"/>
          </a:xfrm>
        </p:grpSpPr>
        <p:sp>
          <p:nvSpPr>
            <p:cNvPr id="23" name="Freeform 23"/>
            <p:cNvSpPr/>
            <p:nvPr/>
          </p:nvSpPr>
          <p:spPr>
            <a:xfrm>
              <a:off x="0" y="0"/>
              <a:ext cx="1194816" cy="1194816"/>
            </a:xfrm>
            <a:custGeom>
              <a:avLst/>
              <a:gdLst/>
              <a:ahLst/>
              <a:cxnLst/>
              <a:rect l="l" t="t" r="r" b="b"/>
              <a:pathLst>
                <a:path w="1194816" h="1194816">
                  <a:moveTo>
                    <a:pt x="0" y="597408"/>
                  </a:moveTo>
                  <a:cubicBezTo>
                    <a:pt x="0" y="267462"/>
                    <a:pt x="267462" y="0"/>
                    <a:pt x="597408" y="0"/>
                  </a:cubicBezTo>
                  <a:cubicBezTo>
                    <a:pt x="927354" y="0"/>
                    <a:pt x="1194816" y="267462"/>
                    <a:pt x="1194816" y="597408"/>
                  </a:cubicBezTo>
                  <a:cubicBezTo>
                    <a:pt x="1194816" y="927354"/>
                    <a:pt x="927354" y="1194816"/>
                    <a:pt x="597408" y="1194816"/>
                  </a:cubicBezTo>
                  <a:cubicBezTo>
                    <a:pt x="267462" y="1194816"/>
                    <a:pt x="0" y="927354"/>
                    <a:pt x="0" y="597408"/>
                  </a:cubicBezTo>
                  <a:close/>
                </a:path>
              </a:pathLst>
            </a:custGeom>
            <a:solidFill>
              <a:srgbClr val="C0392B"/>
            </a:solidFill>
            <a:ln w="28575" cap="sq">
              <a:solidFill>
                <a:srgbClr val="FFFFFF"/>
              </a:solidFill>
              <a:prstDash val="solid"/>
              <a:miter/>
            </a:ln>
          </p:spPr>
          <p:txBody>
            <a:bodyPr/>
            <a:lstStyle/>
            <a:p>
              <a:endParaRPr lang="en-US">
                <a:latin typeface="Alice"/>
              </a:endParaRPr>
            </a:p>
          </p:txBody>
        </p:sp>
      </p:grpSp>
      <p:grpSp>
        <p:nvGrpSpPr>
          <p:cNvPr id="24" name="Group 24"/>
          <p:cNvGrpSpPr/>
          <p:nvPr/>
        </p:nvGrpSpPr>
        <p:grpSpPr>
          <a:xfrm>
            <a:off x="3816477" y="2438705"/>
            <a:ext cx="867537" cy="867537"/>
            <a:chOff x="0" y="0"/>
            <a:chExt cx="1156716" cy="1156716"/>
          </a:xfrm>
        </p:grpSpPr>
        <p:sp>
          <p:nvSpPr>
            <p:cNvPr id="25" name="Freeform 25"/>
            <p:cNvSpPr/>
            <p:nvPr/>
          </p:nvSpPr>
          <p:spPr>
            <a:xfrm>
              <a:off x="0" y="0"/>
              <a:ext cx="1156716" cy="1156716"/>
            </a:xfrm>
            <a:custGeom>
              <a:avLst/>
              <a:gdLst/>
              <a:ahLst/>
              <a:cxnLst/>
              <a:rect l="l" t="t" r="r" b="b"/>
              <a:pathLst>
                <a:path w="1156716" h="1156716">
                  <a:moveTo>
                    <a:pt x="0" y="0"/>
                  </a:moveTo>
                  <a:lnTo>
                    <a:pt x="1156716" y="0"/>
                  </a:lnTo>
                  <a:lnTo>
                    <a:pt x="1156716" y="1156716"/>
                  </a:lnTo>
                  <a:lnTo>
                    <a:pt x="0" y="1156716"/>
                  </a:lnTo>
                  <a:close/>
                </a:path>
              </a:pathLst>
            </a:custGeom>
            <a:blipFill>
              <a:blip r:embed="rId3">
                <a:alphaModFix amt="0"/>
              </a:blip>
              <a:stretch>
                <a:fillRect l="-78303" r="-78303"/>
              </a:stretch>
            </a:blipFill>
          </p:spPr>
          <p:txBody>
            <a:bodyPr/>
            <a:lstStyle/>
            <a:p>
              <a:endParaRPr lang="en-US">
                <a:latin typeface="Alice"/>
              </a:endParaRPr>
            </a:p>
          </p:txBody>
        </p:sp>
        <p:sp>
          <p:nvSpPr>
            <p:cNvPr id="26" name="TextBox 26"/>
            <p:cNvSpPr txBox="1"/>
            <p:nvPr/>
          </p:nvSpPr>
          <p:spPr>
            <a:xfrm>
              <a:off x="0" y="-9525"/>
              <a:ext cx="1156716" cy="1166241"/>
            </a:xfrm>
            <a:prstGeom prst="rect">
              <a:avLst/>
            </a:prstGeom>
          </p:spPr>
          <p:txBody>
            <a:bodyPr lIns="0" tIns="0" rIns="0" bIns="0" rtlCol="0" anchor="ctr"/>
            <a:lstStyle/>
            <a:p>
              <a:pPr algn="ctr">
                <a:lnSpc>
                  <a:spcPts val="2690"/>
                </a:lnSpc>
              </a:pPr>
              <a:r>
                <a:rPr lang="en-US" sz="2242" b="1">
                  <a:solidFill>
                    <a:srgbClr val="FFFFFF"/>
                  </a:solidFill>
                  <a:latin typeface="Alice"/>
                  <a:ea typeface="Arial Bold"/>
                  <a:cs typeface="Arial Bold"/>
                  <a:sym typeface="Arial Bold"/>
                </a:rPr>
                <a:t>2</a:t>
              </a:r>
            </a:p>
          </p:txBody>
        </p:sp>
      </p:grpSp>
      <p:grpSp>
        <p:nvGrpSpPr>
          <p:cNvPr id="27" name="Group 27"/>
          <p:cNvGrpSpPr/>
          <p:nvPr/>
        </p:nvGrpSpPr>
        <p:grpSpPr>
          <a:xfrm>
            <a:off x="6172200" y="3909060"/>
            <a:ext cx="10972800" cy="1783080"/>
            <a:chOff x="0" y="0"/>
            <a:chExt cx="14630400" cy="2377440"/>
          </a:xfrm>
        </p:grpSpPr>
        <p:sp>
          <p:nvSpPr>
            <p:cNvPr id="28" name="Freeform 28"/>
            <p:cNvSpPr/>
            <p:nvPr/>
          </p:nvSpPr>
          <p:spPr>
            <a:xfrm>
              <a:off x="0" y="0"/>
              <a:ext cx="14630400" cy="2377440"/>
            </a:xfrm>
            <a:custGeom>
              <a:avLst/>
              <a:gdLst/>
              <a:ahLst/>
              <a:cxnLst/>
              <a:rect l="l" t="t" r="r" b="b"/>
              <a:pathLst>
                <a:path w="14630400" h="2377440">
                  <a:moveTo>
                    <a:pt x="0" y="0"/>
                  </a:moveTo>
                  <a:lnTo>
                    <a:pt x="14630400" y="0"/>
                  </a:lnTo>
                  <a:lnTo>
                    <a:pt x="14630400" y="2377440"/>
                  </a:lnTo>
                  <a:lnTo>
                    <a:pt x="0" y="2377440"/>
                  </a:lnTo>
                  <a:close/>
                </a:path>
              </a:pathLst>
            </a:custGeom>
            <a:blipFill>
              <a:blip r:embed="rId3">
                <a:alphaModFix amt="0"/>
              </a:blip>
              <a:stretch>
                <a:fillRect t="-69907" b="-69907"/>
              </a:stretch>
            </a:blipFill>
          </p:spPr>
          <p:txBody>
            <a:bodyPr/>
            <a:lstStyle/>
            <a:p>
              <a:endParaRPr lang="en-US">
                <a:latin typeface="Alice"/>
              </a:endParaRPr>
            </a:p>
          </p:txBody>
        </p:sp>
        <p:sp>
          <p:nvSpPr>
            <p:cNvPr id="29" name="TextBox 29"/>
            <p:cNvSpPr txBox="1"/>
            <p:nvPr/>
          </p:nvSpPr>
          <p:spPr>
            <a:xfrm>
              <a:off x="0" y="-47625"/>
              <a:ext cx="14630400" cy="2425065"/>
            </a:xfrm>
            <a:prstGeom prst="rect">
              <a:avLst/>
            </a:prstGeom>
          </p:spPr>
          <p:txBody>
            <a:bodyPr lIns="0" tIns="0" rIns="0" bIns="0" rtlCol="0" anchor="ctr"/>
            <a:lstStyle/>
            <a:p>
              <a:pPr algn="l">
                <a:lnSpc>
                  <a:spcPts val="9000"/>
                </a:lnSpc>
              </a:pPr>
              <a:r>
                <a:rPr lang="en-US" sz="7500" b="1">
                  <a:solidFill>
                    <a:srgbClr val="FFFFFF"/>
                  </a:solidFill>
                  <a:latin typeface="Alice"/>
                  <a:ea typeface="Arial Bold"/>
                  <a:cs typeface="Arial Bold"/>
                  <a:sym typeface="Arial Bold"/>
                </a:rPr>
                <a:t>HIỂN THỊ NGƯỜI DÙNG</a:t>
              </a:r>
            </a:p>
          </p:txBody>
        </p:sp>
      </p:grpSp>
      <p:grpSp>
        <p:nvGrpSpPr>
          <p:cNvPr id="30" name="Group 30"/>
          <p:cNvGrpSpPr/>
          <p:nvPr/>
        </p:nvGrpSpPr>
        <p:grpSpPr>
          <a:xfrm>
            <a:off x="6240780" y="5417820"/>
            <a:ext cx="10424160" cy="822960"/>
            <a:chOff x="0" y="0"/>
            <a:chExt cx="13898880" cy="1097280"/>
          </a:xfrm>
        </p:grpSpPr>
        <p:sp>
          <p:nvSpPr>
            <p:cNvPr id="31" name="Freeform 31"/>
            <p:cNvSpPr/>
            <p:nvPr/>
          </p:nvSpPr>
          <p:spPr>
            <a:xfrm>
              <a:off x="0" y="0"/>
              <a:ext cx="13898880" cy="1097280"/>
            </a:xfrm>
            <a:custGeom>
              <a:avLst/>
              <a:gdLst/>
              <a:ahLst/>
              <a:cxnLst/>
              <a:rect l="l" t="t" r="r" b="b"/>
              <a:pathLst>
                <a:path w="13898880" h="1097280">
                  <a:moveTo>
                    <a:pt x="0" y="0"/>
                  </a:moveTo>
                  <a:lnTo>
                    <a:pt x="13898880" y="0"/>
                  </a:lnTo>
                  <a:lnTo>
                    <a:pt x="13898880" y="1097280"/>
                  </a:lnTo>
                  <a:lnTo>
                    <a:pt x="0" y="1097280"/>
                  </a:lnTo>
                  <a:close/>
                </a:path>
              </a:pathLst>
            </a:custGeom>
            <a:blipFill>
              <a:blip r:embed="rId3">
                <a:alphaModFix amt="0"/>
              </a:blip>
              <a:stretch>
                <a:fillRect t="-196810" b="-196810"/>
              </a:stretch>
            </a:blipFill>
          </p:spPr>
          <p:txBody>
            <a:bodyPr/>
            <a:lstStyle/>
            <a:p>
              <a:endParaRPr lang="en-US">
                <a:latin typeface="Alice"/>
              </a:endParaRPr>
            </a:p>
          </p:txBody>
        </p:sp>
        <p:sp>
          <p:nvSpPr>
            <p:cNvPr id="32" name="TextBox 32"/>
            <p:cNvSpPr txBox="1"/>
            <p:nvPr/>
          </p:nvSpPr>
          <p:spPr>
            <a:xfrm>
              <a:off x="0" y="-19050"/>
              <a:ext cx="13898880" cy="1116330"/>
            </a:xfrm>
            <a:prstGeom prst="rect">
              <a:avLst/>
            </a:prstGeom>
          </p:spPr>
          <p:txBody>
            <a:bodyPr lIns="0" tIns="0" rIns="0" bIns="0" rtlCol="0" anchor="ctr"/>
            <a:lstStyle/>
            <a:p>
              <a:pPr algn="l">
                <a:lnSpc>
                  <a:spcPts val="3240"/>
                </a:lnSpc>
              </a:pPr>
              <a:r>
                <a:rPr lang="en-US" sz="2700">
                  <a:solidFill>
                    <a:srgbClr val="D6E7FF"/>
                  </a:solidFill>
                  <a:latin typeface="Alice"/>
                  <a:ea typeface="Arial"/>
                  <a:cs typeface="Arial"/>
                  <a:sym typeface="Arial"/>
                </a:rPr>
                <a:t>Avatar, trạng thái Online/Offline và huy hiệu tin nhắn chưa đọc</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latin typeface="Alice"/>
              </a:endParaRPr>
            </a:p>
          </p:txBody>
        </p:sp>
      </p:grpSp>
      <p:grpSp>
        <p:nvGrpSpPr>
          <p:cNvPr id="4" name="Group 4"/>
          <p:cNvGrpSpPr/>
          <p:nvPr/>
        </p:nvGrpSpPr>
        <p:grpSpPr>
          <a:xfrm>
            <a:off x="1371600" y="1371600"/>
            <a:ext cx="15499080" cy="3595878"/>
            <a:chOff x="0" y="0"/>
            <a:chExt cx="20665440" cy="4794504"/>
          </a:xfrm>
        </p:grpSpPr>
        <p:sp>
          <p:nvSpPr>
            <p:cNvPr id="5" name="Freeform 5"/>
            <p:cNvSpPr/>
            <p:nvPr/>
          </p:nvSpPr>
          <p:spPr>
            <a:xfrm>
              <a:off x="0" y="0"/>
              <a:ext cx="20665439" cy="4794504"/>
            </a:xfrm>
            <a:custGeom>
              <a:avLst/>
              <a:gdLst/>
              <a:ahLst/>
              <a:cxnLst/>
              <a:rect l="l" t="t" r="r" b="b"/>
              <a:pathLst>
                <a:path w="20665439" h="4794504">
                  <a:moveTo>
                    <a:pt x="0" y="164592"/>
                  </a:moveTo>
                  <a:cubicBezTo>
                    <a:pt x="0" y="73660"/>
                    <a:pt x="73660" y="0"/>
                    <a:pt x="164592" y="0"/>
                  </a:cubicBezTo>
                  <a:lnTo>
                    <a:pt x="20500848" y="0"/>
                  </a:lnTo>
                  <a:cubicBezTo>
                    <a:pt x="20591780" y="0"/>
                    <a:pt x="20665439" y="73660"/>
                    <a:pt x="20665439" y="164592"/>
                  </a:cubicBezTo>
                  <a:lnTo>
                    <a:pt x="20665439" y="4629912"/>
                  </a:lnTo>
                  <a:cubicBezTo>
                    <a:pt x="20665439" y="4720844"/>
                    <a:pt x="20591780" y="4794504"/>
                    <a:pt x="20500848" y="4794504"/>
                  </a:cubicBezTo>
                  <a:lnTo>
                    <a:pt x="164592" y="4794504"/>
                  </a:lnTo>
                  <a:cubicBezTo>
                    <a:pt x="73660" y="4794504"/>
                    <a:pt x="0" y="4720844"/>
                    <a:pt x="0" y="4629912"/>
                  </a:cubicBezTo>
                  <a:close/>
                </a:path>
              </a:pathLst>
            </a:custGeom>
            <a:solidFill>
              <a:srgbClr val="0B0B0D"/>
            </a:solidFill>
          </p:spPr>
          <p:txBody>
            <a:bodyPr/>
            <a:lstStyle/>
            <a:p>
              <a:endParaRPr lang="en-US">
                <a:latin typeface="Alice"/>
              </a:endParaRPr>
            </a:p>
          </p:txBody>
        </p:sp>
      </p:grpSp>
      <p:sp>
        <p:nvSpPr>
          <p:cNvPr id="6" name="TextBox 6"/>
          <p:cNvSpPr txBox="1"/>
          <p:nvPr/>
        </p:nvSpPr>
        <p:spPr>
          <a:xfrm>
            <a:off x="1755648" y="1578102"/>
            <a:ext cx="14730984" cy="3462294"/>
          </a:xfrm>
          <a:prstGeom prst="rect">
            <a:avLst/>
          </a:prstGeom>
        </p:spPr>
        <p:txBody>
          <a:bodyPr lIns="0" tIns="0" rIns="0" bIns="0" rtlCol="0" anchor="t">
            <a:spAutoFit/>
          </a:bodyPr>
          <a:lstStyle/>
          <a:p>
            <a:pPr algn="l">
              <a:lnSpc>
                <a:spcPts val="3916"/>
              </a:lnSpc>
            </a:pPr>
            <a:r>
              <a:rPr lang="en-US" sz="2550">
                <a:solidFill>
                  <a:srgbClr val="569CD6"/>
                </a:solidFill>
                <a:latin typeface="Alice"/>
                <a:ea typeface="Courier New"/>
                <a:cs typeface="Courier New"/>
                <a:sym typeface="Courier New"/>
              </a:rPr>
              <a:t>public class </a:t>
            </a:r>
            <a:r>
              <a:rPr lang="en-US" sz="2550">
                <a:solidFill>
                  <a:srgbClr val="4EC9B0"/>
                </a:solidFill>
                <a:latin typeface="Alice"/>
                <a:ea typeface="Courier New"/>
                <a:cs typeface="Courier New"/>
                <a:sym typeface="Courier New"/>
              </a:rPr>
              <a:t>UserItem</a:t>
            </a:r>
            <a:r>
              <a:rPr lang="en-US" sz="2550">
                <a:solidFill>
                  <a:srgbClr val="9AA0A6"/>
                </a:solidFill>
                <a:latin typeface="Alice"/>
                <a:ea typeface="Courier New"/>
                <a:cs typeface="Courier New"/>
                <a:sym typeface="Courier New"/>
              </a:rPr>
              <a:t> : </a:t>
            </a:r>
            <a:r>
              <a:rPr lang="en-US" sz="2550">
                <a:solidFill>
                  <a:srgbClr val="4EC9B0"/>
                </a:solidFill>
                <a:latin typeface="Alice"/>
                <a:ea typeface="Courier New"/>
                <a:cs typeface="Courier New"/>
                <a:sym typeface="Courier New"/>
              </a:rPr>
              <a:t>UserControl</a:t>
            </a:r>
          </a:p>
          <a:p>
            <a:pPr algn="l">
              <a:lnSpc>
                <a:spcPts val="3916"/>
              </a:lnSpc>
            </a:pPr>
            <a:r>
              <a:rPr lang="en-US" sz="2550">
                <a:solidFill>
                  <a:srgbClr val="9AA0A6"/>
                </a:solidFill>
                <a:latin typeface="Alice"/>
                <a:ea typeface="Courier New"/>
                <a:cs typeface="Courier New"/>
                <a:sym typeface="Courier New"/>
              </a:rPr>
              <a:t>{</a:t>
            </a:r>
          </a:p>
          <a:p>
            <a:pPr algn="l">
              <a:lnSpc>
                <a:spcPts val="3916"/>
              </a:lnSpc>
            </a:pPr>
            <a:r>
              <a:rPr lang="en-US" sz="2550">
                <a:solidFill>
                  <a:srgbClr val="569CD6"/>
                </a:solidFill>
                <a:latin typeface="Alice"/>
                <a:ea typeface="Courier New"/>
                <a:cs typeface="Courier New"/>
                <a:sym typeface="Courier New"/>
              </a:rPr>
              <a:t>    private </a:t>
            </a:r>
            <a:r>
              <a:rPr lang="en-US" sz="2550">
                <a:solidFill>
                  <a:srgbClr val="4EC9B0"/>
                </a:solidFill>
                <a:latin typeface="Alice"/>
                <a:ea typeface="Courier New"/>
                <a:cs typeface="Courier New"/>
                <a:sym typeface="Courier New"/>
              </a:rPr>
              <a:t>PictureBox</a:t>
            </a:r>
            <a:r>
              <a:rPr lang="en-US" sz="2550">
                <a:solidFill>
                  <a:srgbClr val="9AA0A6"/>
                </a:solidFill>
                <a:latin typeface="Alice"/>
                <a:ea typeface="Courier New"/>
                <a:cs typeface="Courier New"/>
                <a:sym typeface="Courier New"/>
              </a:rPr>
              <a:t> </a:t>
            </a:r>
            <a:r>
              <a:rPr lang="en-US" sz="2550">
                <a:solidFill>
                  <a:srgbClr val="9CDCFE"/>
                </a:solidFill>
                <a:latin typeface="Alice"/>
                <a:ea typeface="Courier New"/>
                <a:cs typeface="Courier New"/>
                <a:sym typeface="Courier New"/>
              </a:rPr>
              <a:t>picAvatar</a:t>
            </a:r>
            <a:r>
              <a:rPr lang="en-US" sz="2550">
                <a:solidFill>
                  <a:srgbClr val="9AA0A6"/>
                </a:solidFill>
                <a:latin typeface="Alice"/>
                <a:ea typeface="Courier New"/>
                <a:cs typeface="Courier New"/>
                <a:sym typeface="Courier New"/>
              </a:rPr>
              <a:t>;</a:t>
            </a:r>
          </a:p>
          <a:p>
            <a:pPr algn="l">
              <a:lnSpc>
                <a:spcPts val="3916"/>
              </a:lnSpc>
            </a:pPr>
            <a:r>
              <a:rPr lang="en-US" sz="2550">
                <a:solidFill>
                  <a:srgbClr val="569CD6"/>
                </a:solidFill>
                <a:latin typeface="Alice"/>
                <a:ea typeface="Courier New"/>
                <a:cs typeface="Courier New"/>
                <a:sym typeface="Courier New"/>
              </a:rPr>
              <a:t>    private </a:t>
            </a:r>
            <a:r>
              <a:rPr lang="en-US" sz="2550">
                <a:solidFill>
                  <a:srgbClr val="4EC9B0"/>
                </a:solidFill>
                <a:latin typeface="Alice"/>
                <a:ea typeface="Courier New"/>
                <a:cs typeface="Courier New"/>
                <a:sym typeface="Courier New"/>
              </a:rPr>
              <a:t>Label</a:t>
            </a:r>
            <a:r>
              <a:rPr lang="en-US" sz="2550">
                <a:solidFill>
                  <a:srgbClr val="9AA0A6"/>
                </a:solidFill>
                <a:latin typeface="Alice"/>
                <a:ea typeface="Courier New"/>
                <a:cs typeface="Courier New"/>
                <a:sym typeface="Courier New"/>
              </a:rPr>
              <a:t> </a:t>
            </a:r>
            <a:r>
              <a:rPr lang="en-US" sz="2550">
                <a:solidFill>
                  <a:srgbClr val="9CDCFE"/>
                </a:solidFill>
                <a:latin typeface="Alice"/>
                <a:ea typeface="Courier New"/>
                <a:cs typeface="Courier New"/>
                <a:sym typeface="Courier New"/>
              </a:rPr>
              <a:t>lblName</a:t>
            </a:r>
            <a:r>
              <a:rPr lang="en-US" sz="2550">
                <a:solidFill>
                  <a:srgbClr val="9AA0A6"/>
                </a:solidFill>
                <a:latin typeface="Alice"/>
                <a:ea typeface="Courier New"/>
                <a:cs typeface="Courier New"/>
                <a:sym typeface="Courier New"/>
              </a:rPr>
              <a:t>;</a:t>
            </a:r>
          </a:p>
          <a:p>
            <a:pPr algn="l">
              <a:lnSpc>
                <a:spcPts val="3916"/>
              </a:lnSpc>
            </a:pPr>
            <a:r>
              <a:rPr lang="en-US" sz="2550">
                <a:solidFill>
                  <a:srgbClr val="569CD6"/>
                </a:solidFill>
                <a:latin typeface="Alice"/>
                <a:ea typeface="Courier New"/>
                <a:cs typeface="Courier New"/>
                <a:sym typeface="Courier New"/>
              </a:rPr>
              <a:t>    private </a:t>
            </a:r>
            <a:r>
              <a:rPr lang="en-US" sz="2550">
                <a:solidFill>
                  <a:srgbClr val="4EC9B0"/>
                </a:solidFill>
                <a:latin typeface="Alice"/>
                <a:ea typeface="Courier New"/>
                <a:cs typeface="Courier New"/>
                <a:sym typeface="Courier New"/>
              </a:rPr>
              <a:t>Panel</a:t>
            </a:r>
            <a:r>
              <a:rPr lang="en-US" sz="2550">
                <a:solidFill>
                  <a:srgbClr val="9AA0A6"/>
                </a:solidFill>
                <a:latin typeface="Alice"/>
                <a:ea typeface="Courier New"/>
                <a:cs typeface="Courier New"/>
                <a:sym typeface="Courier New"/>
              </a:rPr>
              <a:t> </a:t>
            </a:r>
            <a:r>
              <a:rPr lang="en-US" sz="2550">
                <a:solidFill>
                  <a:srgbClr val="9CDCFE"/>
                </a:solidFill>
                <a:latin typeface="Alice"/>
                <a:ea typeface="Courier New"/>
                <a:cs typeface="Courier New"/>
                <a:sym typeface="Courier New"/>
              </a:rPr>
              <a:t>pnlStatus</a:t>
            </a:r>
            <a:r>
              <a:rPr lang="en-US" sz="2550">
                <a:solidFill>
                  <a:srgbClr val="9AA0A6"/>
                </a:solidFill>
                <a:latin typeface="Alice"/>
                <a:ea typeface="Courier New"/>
                <a:cs typeface="Courier New"/>
                <a:sym typeface="Courier New"/>
              </a:rPr>
              <a:t>;</a:t>
            </a:r>
          </a:p>
          <a:p>
            <a:pPr algn="l">
              <a:lnSpc>
                <a:spcPts val="3916"/>
              </a:lnSpc>
            </a:pPr>
            <a:r>
              <a:rPr lang="en-US" sz="2550">
                <a:solidFill>
                  <a:srgbClr val="569CD6"/>
                </a:solidFill>
                <a:latin typeface="Alice"/>
                <a:ea typeface="Courier New"/>
                <a:cs typeface="Courier New"/>
                <a:sym typeface="Courier New"/>
              </a:rPr>
              <a:t>    private </a:t>
            </a:r>
            <a:r>
              <a:rPr lang="en-US" sz="2550">
                <a:solidFill>
                  <a:srgbClr val="4EC9B0"/>
                </a:solidFill>
                <a:latin typeface="Alice"/>
                <a:ea typeface="Courier New"/>
                <a:cs typeface="Courier New"/>
                <a:sym typeface="Courier New"/>
              </a:rPr>
              <a:t>Label</a:t>
            </a:r>
            <a:r>
              <a:rPr lang="en-US" sz="2550">
                <a:solidFill>
                  <a:srgbClr val="9AA0A6"/>
                </a:solidFill>
                <a:latin typeface="Alice"/>
                <a:ea typeface="Courier New"/>
                <a:cs typeface="Courier New"/>
                <a:sym typeface="Courier New"/>
              </a:rPr>
              <a:t> </a:t>
            </a:r>
            <a:r>
              <a:rPr lang="en-US" sz="2550">
                <a:solidFill>
                  <a:srgbClr val="9CDCFE"/>
                </a:solidFill>
                <a:latin typeface="Alice"/>
                <a:ea typeface="Courier New"/>
                <a:cs typeface="Courier New"/>
                <a:sym typeface="Courier New"/>
              </a:rPr>
              <a:t>lblBadge</a:t>
            </a:r>
            <a:r>
              <a:rPr lang="en-US" sz="2550">
                <a:solidFill>
                  <a:srgbClr val="9AA0A6"/>
                </a:solidFill>
                <a:latin typeface="Alice"/>
                <a:ea typeface="Courier New"/>
                <a:cs typeface="Courier New"/>
                <a:sym typeface="Courier New"/>
              </a:rPr>
              <a:t>;</a:t>
            </a:r>
          </a:p>
          <a:p>
            <a:pPr algn="l">
              <a:lnSpc>
                <a:spcPts val="3916"/>
              </a:lnSpc>
            </a:pPr>
            <a:r>
              <a:rPr lang="en-US" sz="2550">
                <a:solidFill>
                  <a:srgbClr val="9AA0A6"/>
                </a:solidFill>
                <a:latin typeface="Alice"/>
                <a:ea typeface="Courier New"/>
                <a:cs typeface="Courier New"/>
                <a:sym typeface="Courier New"/>
              </a:rPr>
              <a:t>}</a:t>
            </a:r>
          </a:p>
        </p:txBody>
      </p:sp>
      <p:sp>
        <p:nvSpPr>
          <p:cNvPr id="7" name="TextBox 7"/>
          <p:cNvSpPr txBox="1"/>
          <p:nvPr/>
        </p:nvSpPr>
        <p:spPr>
          <a:xfrm>
            <a:off x="1371600" y="5636133"/>
            <a:ext cx="15499080" cy="1243995"/>
          </a:xfrm>
          <a:prstGeom prst="rect">
            <a:avLst/>
          </a:prstGeom>
        </p:spPr>
        <p:txBody>
          <a:bodyPr lIns="0" tIns="0" rIns="0" bIns="0" rtlCol="0" anchor="t">
            <a:spAutoFit/>
          </a:bodyPr>
          <a:lstStyle/>
          <a:p>
            <a:pPr algn="l">
              <a:lnSpc>
                <a:spcPts val="4967"/>
              </a:lnSpc>
            </a:pPr>
            <a:r>
              <a:rPr lang="en-US" sz="3600" b="1">
                <a:solidFill>
                  <a:srgbClr val="FFFFFF"/>
                </a:solidFill>
                <a:latin typeface="Alice"/>
                <a:ea typeface="Arial Bold"/>
                <a:cs typeface="Arial Bold"/>
                <a:sym typeface="Arial Bold"/>
              </a:rPr>
              <a:t>ĐÂY LÀ USERCONTROL HIỂN THỊ AVATAR, TÊN, TRẠNG THÁI VÀ HUY HIỆU TIN NHẮN CHƯA ĐỌC CHO TỪNG NGƯỜI DÙNG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latin typeface="Alice"/>
              </a:endParaRPr>
            </a:p>
          </p:txBody>
        </p:sp>
      </p:grpSp>
      <p:grpSp>
        <p:nvGrpSpPr>
          <p:cNvPr id="4" name="Group 4"/>
          <p:cNvGrpSpPr/>
          <p:nvPr/>
        </p:nvGrpSpPr>
        <p:grpSpPr>
          <a:xfrm>
            <a:off x="1371600" y="1577340"/>
            <a:ext cx="15499080" cy="2414016"/>
            <a:chOff x="0" y="0"/>
            <a:chExt cx="20665440" cy="3218688"/>
          </a:xfrm>
        </p:grpSpPr>
        <p:sp>
          <p:nvSpPr>
            <p:cNvPr id="5" name="Freeform 5"/>
            <p:cNvSpPr/>
            <p:nvPr/>
          </p:nvSpPr>
          <p:spPr>
            <a:xfrm>
              <a:off x="0" y="0"/>
              <a:ext cx="20665439" cy="3218688"/>
            </a:xfrm>
            <a:custGeom>
              <a:avLst/>
              <a:gdLst/>
              <a:ahLst/>
              <a:cxnLst/>
              <a:rect l="l" t="t" r="r" b="b"/>
              <a:pathLst>
                <a:path w="20665439" h="3218688">
                  <a:moveTo>
                    <a:pt x="0" y="164592"/>
                  </a:moveTo>
                  <a:cubicBezTo>
                    <a:pt x="0" y="73660"/>
                    <a:pt x="73660" y="0"/>
                    <a:pt x="164592" y="0"/>
                  </a:cubicBezTo>
                  <a:lnTo>
                    <a:pt x="20500848" y="0"/>
                  </a:lnTo>
                  <a:cubicBezTo>
                    <a:pt x="20591780" y="0"/>
                    <a:pt x="20665439" y="73660"/>
                    <a:pt x="20665439" y="164592"/>
                  </a:cubicBezTo>
                  <a:lnTo>
                    <a:pt x="20665439" y="3054096"/>
                  </a:lnTo>
                  <a:cubicBezTo>
                    <a:pt x="20665439" y="3145028"/>
                    <a:pt x="20591780" y="3218688"/>
                    <a:pt x="20500848" y="3218688"/>
                  </a:cubicBezTo>
                  <a:lnTo>
                    <a:pt x="164592" y="3218688"/>
                  </a:lnTo>
                  <a:cubicBezTo>
                    <a:pt x="73660" y="3218688"/>
                    <a:pt x="0" y="3145028"/>
                    <a:pt x="0" y="3054096"/>
                  </a:cubicBezTo>
                  <a:close/>
                </a:path>
              </a:pathLst>
            </a:custGeom>
            <a:solidFill>
              <a:srgbClr val="0B0B0D"/>
            </a:solidFill>
          </p:spPr>
          <p:txBody>
            <a:bodyPr/>
            <a:lstStyle/>
            <a:p>
              <a:endParaRPr lang="en-US">
                <a:latin typeface="Alice"/>
              </a:endParaRPr>
            </a:p>
          </p:txBody>
        </p:sp>
      </p:grpSp>
      <p:sp>
        <p:nvSpPr>
          <p:cNvPr id="6" name="TextBox 6"/>
          <p:cNvSpPr txBox="1"/>
          <p:nvPr/>
        </p:nvSpPr>
        <p:spPr>
          <a:xfrm>
            <a:off x="1755648" y="1783842"/>
            <a:ext cx="14730984" cy="2063065"/>
          </a:xfrm>
          <a:prstGeom prst="rect">
            <a:avLst/>
          </a:prstGeom>
        </p:spPr>
        <p:txBody>
          <a:bodyPr lIns="0" tIns="0" rIns="0" bIns="0" rtlCol="0" anchor="t">
            <a:spAutoFit/>
          </a:bodyPr>
          <a:lstStyle/>
          <a:p>
            <a:pPr algn="l">
              <a:lnSpc>
                <a:spcPts val="4147"/>
              </a:lnSpc>
            </a:pPr>
            <a:r>
              <a:rPr lang="en-US" sz="2700">
                <a:solidFill>
                  <a:srgbClr val="6A9955"/>
                </a:solidFill>
                <a:latin typeface="Alice"/>
                <a:ea typeface="Courier New"/>
                <a:cs typeface="Courier New"/>
                <a:sym typeface="Courier New"/>
              </a:rPr>
              <a:t>// Bo tròn chấm trạng thái</a:t>
            </a:r>
          </a:p>
          <a:p>
            <a:pPr algn="l">
              <a:lnSpc>
                <a:spcPts val="4147"/>
              </a:lnSpc>
            </a:pPr>
            <a:r>
              <a:rPr lang="en-US" sz="2700">
                <a:solidFill>
                  <a:srgbClr val="4EC9B0"/>
                </a:solidFill>
                <a:latin typeface="Alice"/>
                <a:ea typeface="Courier New"/>
                <a:cs typeface="Courier New"/>
                <a:sym typeface="Courier New"/>
              </a:rPr>
              <a:t>GraphicsPath</a:t>
            </a:r>
            <a:r>
              <a:rPr lang="en-US" sz="2700">
                <a:solidFill>
                  <a:srgbClr val="9AA0A6"/>
                </a:solidFill>
                <a:latin typeface="Alice"/>
                <a:ea typeface="Courier New"/>
                <a:cs typeface="Courier New"/>
                <a:sym typeface="Courier New"/>
              </a:rPr>
              <a:t> path = </a:t>
            </a:r>
            <a:r>
              <a:rPr lang="en-US" sz="2700">
                <a:solidFill>
                  <a:srgbClr val="569CD6"/>
                </a:solidFill>
                <a:latin typeface="Alice"/>
                <a:ea typeface="Courier New"/>
                <a:cs typeface="Courier New"/>
                <a:sym typeface="Courier New"/>
              </a:rPr>
              <a:t>new </a:t>
            </a:r>
            <a:r>
              <a:rPr lang="en-US" sz="2700">
                <a:solidFill>
                  <a:srgbClr val="4EC9B0"/>
                </a:solidFill>
                <a:latin typeface="Alice"/>
                <a:ea typeface="Courier New"/>
                <a:cs typeface="Courier New"/>
                <a:sym typeface="Courier New"/>
              </a:rPr>
              <a:t>GraphicsPath</a:t>
            </a:r>
            <a:r>
              <a:rPr lang="en-US" sz="2700">
                <a:solidFill>
                  <a:srgbClr val="9AA0A6"/>
                </a:solidFill>
                <a:latin typeface="Alice"/>
                <a:ea typeface="Courier New"/>
                <a:cs typeface="Courier New"/>
                <a:sym typeface="Courier New"/>
              </a:rPr>
              <a:t>();</a:t>
            </a:r>
          </a:p>
          <a:p>
            <a:pPr algn="l">
              <a:lnSpc>
                <a:spcPts val="4147"/>
              </a:lnSpc>
            </a:pPr>
            <a:r>
              <a:rPr lang="en-US" sz="2700">
                <a:solidFill>
                  <a:srgbClr val="D4D4D4"/>
                </a:solidFill>
                <a:latin typeface="Alice"/>
                <a:ea typeface="Courier New"/>
                <a:cs typeface="Courier New"/>
                <a:sym typeface="Courier New"/>
              </a:rPr>
              <a:t>path.AddEllipse(0, 0, 12, 12);</a:t>
            </a:r>
          </a:p>
          <a:p>
            <a:pPr algn="l">
              <a:lnSpc>
                <a:spcPts val="4147"/>
              </a:lnSpc>
            </a:pPr>
            <a:r>
              <a:rPr lang="en-US" sz="2700">
                <a:solidFill>
                  <a:srgbClr val="9CDCFE"/>
                </a:solidFill>
                <a:latin typeface="Alice"/>
                <a:ea typeface="Courier New"/>
                <a:cs typeface="Courier New"/>
                <a:sym typeface="Courier New"/>
              </a:rPr>
              <a:t>pnlStatus</a:t>
            </a:r>
            <a:r>
              <a:rPr lang="en-US" sz="2700">
                <a:solidFill>
                  <a:srgbClr val="9AA0A6"/>
                </a:solidFill>
                <a:latin typeface="Alice"/>
                <a:ea typeface="Courier New"/>
                <a:cs typeface="Courier New"/>
                <a:sym typeface="Courier New"/>
              </a:rPr>
              <a:t>.Region = </a:t>
            </a:r>
            <a:r>
              <a:rPr lang="en-US" sz="2700">
                <a:solidFill>
                  <a:srgbClr val="569CD6"/>
                </a:solidFill>
                <a:latin typeface="Alice"/>
                <a:ea typeface="Courier New"/>
                <a:cs typeface="Courier New"/>
                <a:sym typeface="Courier New"/>
              </a:rPr>
              <a:t>new </a:t>
            </a:r>
            <a:r>
              <a:rPr lang="en-US" sz="2700">
                <a:solidFill>
                  <a:srgbClr val="4EC9B0"/>
                </a:solidFill>
                <a:latin typeface="Alice"/>
                <a:ea typeface="Courier New"/>
                <a:cs typeface="Courier New"/>
                <a:sym typeface="Courier New"/>
              </a:rPr>
              <a:t>Region</a:t>
            </a:r>
            <a:r>
              <a:rPr lang="en-US" sz="2700">
                <a:solidFill>
                  <a:srgbClr val="9AA0A6"/>
                </a:solidFill>
                <a:latin typeface="Alice"/>
                <a:ea typeface="Courier New"/>
                <a:cs typeface="Courier New"/>
                <a:sym typeface="Courier New"/>
              </a:rPr>
              <a:t>(path);</a:t>
            </a:r>
          </a:p>
        </p:txBody>
      </p:sp>
      <p:sp>
        <p:nvSpPr>
          <p:cNvPr id="7" name="TextBox 7"/>
          <p:cNvSpPr txBox="1"/>
          <p:nvPr/>
        </p:nvSpPr>
        <p:spPr>
          <a:xfrm>
            <a:off x="1371600" y="4728591"/>
            <a:ext cx="15499080" cy="1243995"/>
          </a:xfrm>
          <a:prstGeom prst="rect">
            <a:avLst/>
          </a:prstGeom>
        </p:spPr>
        <p:txBody>
          <a:bodyPr lIns="0" tIns="0" rIns="0" bIns="0" rtlCol="0" anchor="t">
            <a:spAutoFit/>
          </a:bodyPr>
          <a:lstStyle/>
          <a:p>
            <a:pPr algn="l">
              <a:lnSpc>
                <a:spcPts val="4967"/>
              </a:lnSpc>
            </a:pPr>
            <a:r>
              <a:rPr lang="en-US" sz="3600" b="1">
                <a:solidFill>
                  <a:srgbClr val="FFFFFF"/>
                </a:solidFill>
                <a:latin typeface="Alice"/>
                <a:ea typeface="Arial Bold"/>
                <a:cs typeface="Arial Bold"/>
                <a:sym typeface="Arial Bold"/>
              </a:rPr>
              <a:t>PANEL TRẠNG THÁI ĐƯỢC CẮT THÀNH HÌNH TRÒN BẰNG GRAPHICSPATH VÀ GÁN VÀO THUỘC TÍNH REGION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latin typeface="Alice"/>
              </a:endParaRPr>
            </a:p>
          </p:txBody>
        </p:sp>
      </p:grpSp>
      <p:grpSp>
        <p:nvGrpSpPr>
          <p:cNvPr id="4" name="Group 4"/>
          <p:cNvGrpSpPr/>
          <p:nvPr/>
        </p:nvGrpSpPr>
        <p:grpSpPr>
          <a:xfrm>
            <a:off x="1371600" y="1371600"/>
            <a:ext cx="15499080" cy="3595878"/>
            <a:chOff x="0" y="0"/>
            <a:chExt cx="20665440" cy="4794504"/>
          </a:xfrm>
        </p:grpSpPr>
        <p:sp>
          <p:nvSpPr>
            <p:cNvPr id="5" name="Freeform 5"/>
            <p:cNvSpPr/>
            <p:nvPr/>
          </p:nvSpPr>
          <p:spPr>
            <a:xfrm>
              <a:off x="0" y="0"/>
              <a:ext cx="20665439" cy="4794504"/>
            </a:xfrm>
            <a:custGeom>
              <a:avLst/>
              <a:gdLst/>
              <a:ahLst/>
              <a:cxnLst/>
              <a:rect l="l" t="t" r="r" b="b"/>
              <a:pathLst>
                <a:path w="20665439" h="4794504">
                  <a:moveTo>
                    <a:pt x="0" y="164592"/>
                  </a:moveTo>
                  <a:cubicBezTo>
                    <a:pt x="0" y="73660"/>
                    <a:pt x="73660" y="0"/>
                    <a:pt x="164592" y="0"/>
                  </a:cubicBezTo>
                  <a:lnTo>
                    <a:pt x="20500848" y="0"/>
                  </a:lnTo>
                  <a:cubicBezTo>
                    <a:pt x="20591780" y="0"/>
                    <a:pt x="20665439" y="73660"/>
                    <a:pt x="20665439" y="164592"/>
                  </a:cubicBezTo>
                  <a:lnTo>
                    <a:pt x="20665439" y="4629912"/>
                  </a:lnTo>
                  <a:cubicBezTo>
                    <a:pt x="20665439" y="4720844"/>
                    <a:pt x="20591780" y="4794504"/>
                    <a:pt x="20500848" y="4794504"/>
                  </a:cubicBezTo>
                  <a:lnTo>
                    <a:pt x="164592" y="4794504"/>
                  </a:lnTo>
                  <a:cubicBezTo>
                    <a:pt x="73660" y="4794504"/>
                    <a:pt x="0" y="4720844"/>
                    <a:pt x="0" y="4629912"/>
                  </a:cubicBezTo>
                  <a:close/>
                </a:path>
              </a:pathLst>
            </a:custGeom>
            <a:solidFill>
              <a:srgbClr val="0B0B0D"/>
            </a:solidFill>
          </p:spPr>
          <p:txBody>
            <a:bodyPr/>
            <a:lstStyle/>
            <a:p>
              <a:endParaRPr lang="en-US">
                <a:latin typeface="Alice"/>
              </a:endParaRPr>
            </a:p>
          </p:txBody>
        </p:sp>
      </p:grpSp>
      <p:sp>
        <p:nvSpPr>
          <p:cNvPr id="6" name="TextBox 6"/>
          <p:cNvSpPr txBox="1"/>
          <p:nvPr/>
        </p:nvSpPr>
        <p:spPr>
          <a:xfrm>
            <a:off x="1755648" y="1578102"/>
            <a:ext cx="14730984" cy="3462294"/>
          </a:xfrm>
          <a:prstGeom prst="rect">
            <a:avLst/>
          </a:prstGeom>
        </p:spPr>
        <p:txBody>
          <a:bodyPr lIns="0" tIns="0" rIns="0" bIns="0" rtlCol="0" anchor="t">
            <a:spAutoFit/>
          </a:bodyPr>
          <a:lstStyle/>
          <a:p>
            <a:pPr algn="l">
              <a:lnSpc>
                <a:spcPts val="3916"/>
              </a:lnSpc>
            </a:pPr>
            <a:r>
              <a:rPr lang="en-US" sz="2550">
                <a:solidFill>
                  <a:srgbClr val="569CD6"/>
                </a:solidFill>
                <a:latin typeface="Alice"/>
                <a:ea typeface="Courier New"/>
                <a:cs typeface="Courier New"/>
                <a:sym typeface="Courier New"/>
              </a:rPr>
              <a:t>public void </a:t>
            </a:r>
            <a:r>
              <a:rPr lang="en-US" sz="2550">
                <a:solidFill>
                  <a:srgbClr val="DCDCAA"/>
                </a:solidFill>
                <a:latin typeface="Alice"/>
                <a:ea typeface="Courier New"/>
                <a:cs typeface="Courier New"/>
                <a:sym typeface="Courier New"/>
              </a:rPr>
              <a:t>UpdateInfo</a:t>
            </a:r>
            <a:r>
              <a:rPr lang="en-US" sz="2550">
                <a:solidFill>
                  <a:srgbClr val="9AA0A6"/>
                </a:solidFill>
                <a:latin typeface="Alice"/>
                <a:ea typeface="Courier New"/>
                <a:cs typeface="Courier New"/>
                <a:sym typeface="Courier New"/>
              </a:rPr>
              <a:t>(int </a:t>
            </a:r>
            <a:r>
              <a:rPr lang="en-US" sz="2550">
                <a:solidFill>
                  <a:srgbClr val="D4D4D4"/>
                </a:solidFill>
                <a:latin typeface="Alice"/>
                <a:ea typeface="Courier New"/>
                <a:cs typeface="Courier New"/>
                <a:sym typeface="Courier New"/>
              </a:rPr>
              <a:t>userId</a:t>
            </a:r>
            <a:r>
              <a:rPr lang="en-US" sz="2550">
                <a:solidFill>
                  <a:srgbClr val="9AA0A6"/>
                </a:solidFill>
                <a:latin typeface="Alice"/>
                <a:ea typeface="Courier New"/>
                <a:cs typeface="Courier New"/>
                <a:sym typeface="Courier New"/>
              </a:rPr>
              <a:t>, string </a:t>
            </a:r>
            <a:r>
              <a:rPr lang="en-US" sz="2550">
                <a:solidFill>
                  <a:srgbClr val="D4D4D4"/>
                </a:solidFill>
                <a:latin typeface="Alice"/>
                <a:ea typeface="Courier New"/>
                <a:cs typeface="Courier New"/>
                <a:sym typeface="Courier New"/>
              </a:rPr>
              <a:t>userName</a:t>
            </a:r>
            <a:r>
              <a:rPr lang="en-US" sz="2550">
                <a:solidFill>
                  <a:srgbClr val="9AA0A6"/>
                </a:solidFill>
                <a:latin typeface="Alice"/>
                <a:ea typeface="Courier New"/>
                <a:cs typeface="Courier New"/>
                <a:sym typeface="Courier New"/>
              </a:rPr>
              <a:t>, bool </a:t>
            </a:r>
            <a:r>
              <a:rPr lang="en-US" sz="2550">
                <a:solidFill>
                  <a:srgbClr val="D4D4D4"/>
                </a:solidFill>
                <a:latin typeface="Alice"/>
                <a:ea typeface="Courier New"/>
                <a:cs typeface="Courier New"/>
                <a:sym typeface="Courier New"/>
              </a:rPr>
              <a:t>isOnline</a:t>
            </a:r>
            <a:r>
              <a:rPr lang="en-US" sz="2550">
                <a:solidFill>
                  <a:srgbClr val="9AA0A6"/>
                </a:solidFill>
                <a:latin typeface="Alice"/>
                <a:ea typeface="Courier New"/>
                <a:cs typeface="Courier New"/>
                <a:sym typeface="Courier New"/>
              </a:rPr>
              <a:t>)</a:t>
            </a:r>
          </a:p>
          <a:p>
            <a:pPr algn="l">
              <a:lnSpc>
                <a:spcPts val="3916"/>
              </a:lnSpc>
            </a:pPr>
            <a:r>
              <a:rPr lang="en-US" sz="2550">
                <a:solidFill>
                  <a:srgbClr val="9AA0A6"/>
                </a:solidFill>
                <a:latin typeface="Alice"/>
                <a:ea typeface="Courier New"/>
                <a:cs typeface="Courier New"/>
                <a:sym typeface="Courier New"/>
              </a:rPr>
              <a:t>{</a:t>
            </a:r>
          </a:p>
          <a:p>
            <a:pPr algn="l">
              <a:lnSpc>
                <a:spcPts val="3916"/>
              </a:lnSpc>
            </a:pPr>
            <a:r>
              <a:rPr lang="en-US" sz="2550">
                <a:solidFill>
                  <a:srgbClr val="D4D4D4"/>
                </a:solidFill>
                <a:latin typeface="Alice"/>
                <a:ea typeface="Courier New"/>
                <a:cs typeface="Courier New"/>
                <a:sym typeface="Courier New"/>
              </a:rPr>
              <a:t>    UserId = userId</a:t>
            </a:r>
            <a:r>
              <a:rPr lang="en-US" sz="2550">
                <a:solidFill>
                  <a:srgbClr val="9AA0A6"/>
                </a:solidFill>
                <a:latin typeface="Alice"/>
                <a:ea typeface="Courier New"/>
                <a:cs typeface="Courier New"/>
                <a:sym typeface="Courier New"/>
              </a:rPr>
              <a:t>;</a:t>
            </a:r>
          </a:p>
          <a:p>
            <a:pPr algn="l">
              <a:lnSpc>
                <a:spcPts val="3916"/>
              </a:lnSpc>
            </a:pPr>
            <a:r>
              <a:rPr lang="en-US" sz="2550">
                <a:solidFill>
                  <a:srgbClr val="9CDCFE"/>
                </a:solidFill>
                <a:latin typeface="Alice"/>
                <a:ea typeface="Courier New"/>
                <a:cs typeface="Courier New"/>
                <a:sym typeface="Courier New"/>
              </a:rPr>
              <a:t>    lblName</a:t>
            </a:r>
            <a:r>
              <a:rPr lang="en-US" sz="2550">
                <a:solidFill>
                  <a:srgbClr val="9AA0A6"/>
                </a:solidFill>
                <a:latin typeface="Alice"/>
                <a:ea typeface="Courier New"/>
                <a:cs typeface="Courier New"/>
                <a:sym typeface="Courier New"/>
              </a:rPr>
              <a:t>.Text = </a:t>
            </a:r>
            <a:r>
              <a:rPr lang="en-US" sz="2550">
                <a:solidFill>
                  <a:srgbClr val="D4D4D4"/>
                </a:solidFill>
                <a:latin typeface="Alice"/>
                <a:ea typeface="Courier New"/>
                <a:cs typeface="Courier New"/>
                <a:sym typeface="Courier New"/>
              </a:rPr>
              <a:t>userName</a:t>
            </a:r>
            <a:r>
              <a:rPr lang="en-US" sz="2550">
                <a:solidFill>
                  <a:srgbClr val="9AA0A6"/>
                </a:solidFill>
                <a:latin typeface="Alice"/>
                <a:ea typeface="Courier New"/>
                <a:cs typeface="Courier New"/>
                <a:sym typeface="Courier New"/>
              </a:rPr>
              <a:t>;</a:t>
            </a:r>
          </a:p>
          <a:p>
            <a:pPr algn="l">
              <a:lnSpc>
                <a:spcPts val="3916"/>
              </a:lnSpc>
            </a:pPr>
            <a:endParaRPr lang="en-US" sz="2550">
              <a:solidFill>
                <a:srgbClr val="9AA0A6"/>
              </a:solidFill>
              <a:latin typeface="Alice"/>
              <a:ea typeface="Courier New"/>
              <a:cs typeface="Courier New"/>
              <a:sym typeface="Courier New"/>
            </a:endParaRPr>
          </a:p>
          <a:p>
            <a:pPr algn="l">
              <a:lnSpc>
                <a:spcPts val="3916"/>
              </a:lnSpc>
            </a:pPr>
            <a:r>
              <a:rPr lang="en-US" sz="2550">
                <a:solidFill>
                  <a:srgbClr val="9CDCFE"/>
                </a:solidFill>
                <a:latin typeface="Alice"/>
                <a:ea typeface="Courier New"/>
                <a:cs typeface="Courier New"/>
                <a:sym typeface="Courier New"/>
              </a:rPr>
              <a:t>    pnlStatus</a:t>
            </a:r>
            <a:r>
              <a:rPr lang="en-US" sz="2550">
                <a:solidFill>
                  <a:srgbClr val="9AA0A6"/>
                </a:solidFill>
                <a:latin typeface="Alice"/>
                <a:ea typeface="Courier New"/>
                <a:cs typeface="Courier New"/>
                <a:sym typeface="Courier New"/>
              </a:rPr>
              <a:t>.BackColor = </a:t>
            </a:r>
            <a:r>
              <a:rPr lang="en-US" sz="2550">
                <a:solidFill>
                  <a:srgbClr val="D4D4D4"/>
                </a:solidFill>
                <a:latin typeface="Alice"/>
                <a:ea typeface="Courier New"/>
                <a:cs typeface="Courier New"/>
                <a:sym typeface="Courier New"/>
              </a:rPr>
              <a:t>isOnline</a:t>
            </a:r>
            <a:r>
              <a:rPr lang="en-US" sz="2550">
                <a:solidFill>
                  <a:srgbClr val="9AA0A6"/>
                </a:solidFill>
                <a:latin typeface="Alice"/>
                <a:ea typeface="Courier New"/>
                <a:cs typeface="Courier New"/>
                <a:sym typeface="Courier New"/>
              </a:rPr>
              <a:t> ? </a:t>
            </a:r>
            <a:r>
              <a:rPr lang="en-US" sz="2550">
                <a:solidFill>
                  <a:srgbClr val="4EC9B0"/>
                </a:solidFill>
                <a:latin typeface="Alice"/>
                <a:ea typeface="Courier New"/>
                <a:cs typeface="Courier New"/>
                <a:sym typeface="Courier New"/>
              </a:rPr>
              <a:t>Color</a:t>
            </a:r>
            <a:r>
              <a:rPr lang="en-US" sz="2550">
                <a:solidFill>
                  <a:srgbClr val="D4D4D4"/>
                </a:solidFill>
                <a:latin typeface="Alice"/>
                <a:ea typeface="Courier New"/>
                <a:cs typeface="Courier New"/>
                <a:sym typeface="Courier New"/>
              </a:rPr>
              <a:t>.LimeGreen</a:t>
            </a:r>
            <a:r>
              <a:rPr lang="en-US" sz="2550">
                <a:solidFill>
                  <a:srgbClr val="9AA0A6"/>
                </a:solidFill>
                <a:latin typeface="Alice"/>
                <a:ea typeface="Courier New"/>
                <a:cs typeface="Courier New"/>
                <a:sym typeface="Courier New"/>
              </a:rPr>
              <a:t> : </a:t>
            </a:r>
            <a:r>
              <a:rPr lang="en-US" sz="2550">
                <a:solidFill>
                  <a:srgbClr val="4EC9B0"/>
                </a:solidFill>
                <a:latin typeface="Alice"/>
                <a:ea typeface="Courier New"/>
                <a:cs typeface="Courier New"/>
                <a:sym typeface="Courier New"/>
              </a:rPr>
              <a:t>Color</a:t>
            </a:r>
            <a:r>
              <a:rPr lang="en-US" sz="2550">
                <a:solidFill>
                  <a:srgbClr val="D4D4D4"/>
                </a:solidFill>
                <a:latin typeface="Alice"/>
                <a:ea typeface="Courier New"/>
                <a:cs typeface="Courier New"/>
                <a:sym typeface="Courier New"/>
              </a:rPr>
              <a:t>.Gray</a:t>
            </a:r>
            <a:r>
              <a:rPr lang="en-US" sz="2550">
                <a:solidFill>
                  <a:srgbClr val="9AA0A6"/>
                </a:solidFill>
                <a:latin typeface="Alice"/>
                <a:ea typeface="Courier New"/>
                <a:cs typeface="Courier New"/>
                <a:sym typeface="Courier New"/>
              </a:rPr>
              <a:t>;</a:t>
            </a:r>
          </a:p>
          <a:p>
            <a:pPr algn="l">
              <a:lnSpc>
                <a:spcPts val="3916"/>
              </a:lnSpc>
            </a:pPr>
            <a:r>
              <a:rPr lang="en-US" sz="2550">
                <a:solidFill>
                  <a:srgbClr val="9AA0A6"/>
                </a:solidFill>
                <a:latin typeface="Alice"/>
                <a:ea typeface="Courier New"/>
                <a:cs typeface="Courier New"/>
                <a:sym typeface="Courier New"/>
              </a:rPr>
              <a:t>}</a:t>
            </a:r>
          </a:p>
        </p:txBody>
      </p:sp>
      <p:sp>
        <p:nvSpPr>
          <p:cNvPr id="7" name="TextBox 7"/>
          <p:cNvSpPr txBox="1"/>
          <p:nvPr/>
        </p:nvSpPr>
        <p:spPr>
          <a:xfrm>
            <a:off x="1371600" y="5636133"/>
            <a:ext cx="15499080" cy="1144031"/>
          </a:xfrm>
          <a:prstGeom prst="rect">
            <a:avLst/>
          </a:prstGeom>
        </p:spPr>
        <p:txBody>
          <a:bodyPr lIns="0" tIns="0" rIns="0" bIns="0" rtlCol="0" anchor="t">
            <a:spAutoFit/>
          </a:bodyPr>
          <a:lstStyle/>
          <a:p>
            <a:pPr algn="l">
              <a:lnSpc>
                <a:spcPts val="4554"/>
              </a:lnSpc>
            </a:pPr>
            <a:r>
              <a:rPr lang="en-US" sz="3300" b="1">
                <a:solidFill>
                  <a:srgbClr val="FFFFFF"/>
                </a:solidFill>
                <a:latin typeface="Alice"/>
                <a:ea typeface="Arial Bold"/>
                <a:cs typeface="Arial Bold"/>
                <a:sym typeface="Arial Bold"/>
              </a:rPr>
              <a:t>KHI NHẬN GÓI TIN USERSTATUSUPDATE, CLIENTFORM GỌI UPDATEINFO() ĐỂ ĐỔI MÀU CHẤM TRẠNG THÁI: XANH LÁ KHI ONLINE, XÁM KHI OFFLINE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latin typeface="Alice"/>
              </a:endParaRPr>
            </a:p>
          </p:txBody>
        </p:sp>
      </p:grpSp>
      <p:grpSp>
        <p:nvGrpSpPr>
          <p:cNvPr id="4" name="Group 4"/>
          <p:cNvGrpSpPr/>
          <p:nvPr/>
        </p:nvGrpSpPr>
        <p:grpSpPr>
          <a:xfrm>
            <a:off x="1371600" y="1165860"/>
            <a:ext cx="15499080" cy="1810512"/>
            <a:chOff x="0" y="0"/>
            <a:chExt cx="20665440" cy="2414016"/>
          </a:xfrm>
        </p:grpSpPr>
        <p:sp>
          <p:nvSpPr>
            <p:cNvPr id="5" name="Freeform 5"/>
            <p:cNvSpPr/>
            <p:nvPr/>
          </p:nvSpPr>
          <p:spPr>
            <a:xfrm>
              <a:off x="0" y="0"/>
              <a:ext cx="20665439" cy="2414016"/>
            </a:xfrm>
            <a:custGeom>
              <a:avLst/>
              <a:gdLst/>
              <a:ahLst/>
              <a:cxnLst/>
              <a:rect l="l" t="t" r="r" b="b"/>
              <a:pathLst>
                <a:path w="20665439" h="2414016">
                  <a:moveTo>
                    <a:pt x="0" y="164592"/>
                  </a:moveTo>
                  <a:cubicBezTo>
                    <a:pt x="0" y="73660"/>
                    <a:pt x="73660" y="0"/>
                    <a:pt x="164592" y="0"/>
                  </a:cubicBezTo>
                  <a:lnTo>
                    <a:pt x="20500848" y="0"/>
                  </a:lnTo>
                  <a:cubicBezTo>
                    <a:pt x="20591780" y="0"/>
                    <a:pt x="20665439" y="73660"/>
                    <a:pt x="20665439" y="164592"/>
                  </a:cubicBezTo>
                  <a:lnTo>
                    <a:pt x="20665439" y="2249424"/>
                  </a:lnTo>
                  <a:cubicBezTo>
                    <a:pt x="20665439" y="2340356"/>
                    <a:pt x="20591780" y="2414016"/>
                    <a:pt x="20500848" y="2414016"/>
                  </a:cubicBezTo>
                  <a:lnTo>
                    <a:pt x="164592" y="2414016"/>
                  </a:lnTo>
                  <a:cubicBezTo>
                    <a:pt x="73660" y="2414016"/>
                    <a:pt x="0" y="2340356"/>
                    <a:pt x="0" y="2249424"/>
                  </a:cubicBezTo>
                  <a:close/>
                </a:path>
              </a:pathLst>
            </a:custGeom>
            <a:solidFill>
              <a:srgbClr val="0B0B0D"/>
            </a:solidFill>
          </p:spPr>
          <p:txBody>
            <a:bodyPr/>
            <a:lstStyle/>
            <a:p>
              <a:endParaRPr lang="en-US">
                <a:latin typeface="Alice"/>
              </a:endParaRPr>
            </a:p>
          </p:txBody>
        </p:sp>
      </p:grpSp>
      <p:sp>
        <p:nvSpPr>
          <p:cNvPr id="6" name="TextBox 6"/>
          <p:cNvSpPr txBox="1"/>
          <p:nvPr/>
        </p:nvSpPr>
        <p:spPr>
          <a:xfrm>
            <a:off x="1755648" y="1381887"/>
            <a:ext cx="14730984" cy="1386085"/>
          </a:xfrm>
          <a:prstGeom prst="rect">
            <a:avLst/>
          </a:prstGeom>
        </p:spPr>
        <p:txBody>
          <a:bodyPr lIns="0" tIns="0" rIns="0" bIns="0" rtlCol="0" anchor="t">
            <a:spAutoFit/>
          </a:bodyPr>
          <a:lstStyle/>
          <a:p>
            <a:pPr algn="l">
              <a:lnSpc>
                <a:spcPts val="3686"/>
              </a:lnSpc>
            </a:pPr>
            <a:r>
              <a:rPr lang="en-US" sz="2400">
                <a:solidFill>
                  <a:srgbClr val="6A9955"/>
                </a:solidFill>
                <a:latin typeface="Alice"/>
                <a:ea typeface="Courier New"/>
                <a:cs typeface="Courier New"/>
                <a:sym typeface="Courier New"/>
              </a:rPr>
              <a:t>// 1. Không còn tin nhắn chưa đọc</a:t>
            </a:r>
          </a:p>
          <a:p>
            <a:pPr algn="l">
              <a:lnSpc>
                <a:spcPts val="3686"/>
              </a:lnSpc>
            </a:pPr>
            <a:r>
              <a:rPr lang="en-US" sz="2400">
                <a:solidFill>
                  <a:srgbClr val="C586C0"/>
                </a:solidFill>
                <a:latin typeface="Alice"/>
                <a:ea typeface="Courier New"/>
                <a:cs typeface="Courier New"/>
                <a:sym typeface="Courier New"/>
              </a:rPr>
              <a:t>if </a:t>
            </a:r>
            <a:r>
              <a:rPr lang="en-US" sz="2400">
                <a:solidFill>
                  <a:srgbClr val="9AA0A6"/>
                </a:solidFill>
                <a:latin typeface="Alice"/>
                <a:ea typeface="Courier New"/>
                <a:cs typeface="Courier New"/>
                <a:sym typeface="Courier New"/>
              </a:rPr>
              <a:t>(</a:t>
            </a:r>
            <a:r>
              <a:rPr lang="en-US" sz="2400">
                <a:solidFill>
                  <a:srgbClr val="D4D4D4"/>
                </a:solidFill>
                <a:latin typeface="Alice"/>
                <a:ea typeface="Courier New"/>
                <a:cs typeface="Courier New"/>
                <a:sym typeface="Courier New"/>
              </a:rPr>
              <a:t>unreadCount</a:t>
            </a:r>
            <a:r>
              <a:rPr lang="en-US" sz="2400">
                <a:solidFill>
                  <a:srgbClr val="9AA0A6"/>
                </a:solidFill>
                <a:latin typeface="Alice"/>
                <a:ea typeface="Courier New"/>
                <a:cs typeface="Courier New"/>
                <a:sym typeface="Courier New"/>
              </a:rPr>
              <a:t> &lt;= 0)</a:t>
            </a:r>
          </a:p>
          <a:p>
            <a:pPr algn="l">
              <a:lnSpc>
                <a:spcPts val="3686"/>
              </a:lnSpc>
            </a:pPr>
            <a:r>
              <a:rPr lang="en-US" sz="2400">
                <a:solidFill>
                  <a:srgbClr val="9CDCFE"/>
                </a:solidFill>
                <a:latin typeface="Alice"/>
                <a:ea typeface="Courier New"/>
                <a:cs typeface="Courier New"/>
                <a:sym typeface="Courier New"/>
              </a:rPr>
              <a:t>    lblBadge</a:t>
            </a:r>
            <a:r>
              <a:rPr lang="en-US" sz="2400">
                <a:solidFill>
                  <a:srgbClr val="9AA0A6"/>
                </a:solidFill>
                <a:latin typeface="Alice"/>
                <a:ea typeface="Courier New"/>
                <a:cs typeface="Courier New"/>
                <a:sym typeface="Courier New"/>
              </a:rPr>
              <a:t>.Visible = </a:t>
            </a:r>
            <a:r>
              <a:rPr lang="en-US" sz="2400">
                <a:solidFill>
                  <a:srgbClr val="569CD6"/>
                </a:solidFill>
                <a:latin typeface="Alice"/>
                <a:ea typeface="Courier New"/>
                <a:cs typeface="Courier New"/>
                <a:sym typeface="Courier New"/>
              </a:rPr>
              <a:t>false</a:t>
            </a:r>
            <a:r>
              <a:rPr lang="en-US" sz="2400">
                <a:solidFill>
                  <a:srgbClr val="9AA0A6"/>
                </a:solidFill>
                <a:latin typeface="Alice"/>
                <a:ea typeface="Courier New"/>
                <a:cs typeface="Courier New"/>
                <a:sym typeface="Courier New"/>
              </a:rPr>
              <a:t>;</a:t>
            </a:r>
          </a:p>
        </p:txBody>
      </p:sp>
      <p:sp>
        <p:nvSpPr>
          <p:cNvPr id="7" name="TextBox 7"/>
          <p:cNvSpPr txBox="1"/>
          <p:nvPr/>
        </p:nvSpPr>
        <p:spPr>
          <a:xfrm>
            <a:off x="1371600" y="3321177"/>
            <a:ext cx="15499080" cy="495905"/>
          </a:xfrm>
          <a:prstGeom prst="rect">
            <a:avLst/>
          </a:prstGeom>
        </p:spPr>
        <p:txBody>
          <a:bodyPr lIns="0" tIns="0" rIns="0" bIns="0" rtlCol="0" anchor="t">
            <a:spAutoFit/>
          </a:bodyPr>
          <a:lstStyle/>
          <a:p>
            <a:pPr algn="l">
              <a:lnSpc>
                <a:spcPts val="4140"/>
              </a:lnSpc>
            </a:pPr>
            <a:r>
              <a:rPr lang="en-US" sz="3000" b="1">
                <a:solidFill>
                  <a:srgbClr val="FFFFFF"/>
                </a:solidFill>
                <a:latin typeface="Alice"/>
                <a:ea typeface="Arial Bold"/>
                <a:cs typeface="Arial Bold"/>
                <a:sym typeface="Arial Bold"/>
              </a:rPr>
              <a:t>KHÔNG CÒN TIN NHẮN CHƯA ĐỌC → ẨN HUY HIỆU</a:t>
            </a:r>
          </a:p>
        </p:txBody>
      </p:sp>
      <p:grpSp>
        <p:nvGrpSpPr>
          <p:cNvPr id="8" name="Group 8"/>
          <p:cNvGrpSpPr/>
          <p:nvPr/>
        </p:nvGrpSpPr>
        <p:grpSpPr>
          <a:xfrm>
            <a:off x="1371600" y="4553712"/>
            <a:ext cx="15499080" cy="1810512"/>
            <a:chOff x="0" y="0"/>
            <a:chExt cx="20665440" cy="2414016"/>
          </a:xfrm>
        </p:grpSpPr>
        <p:sp>
          <p:nvSpPr>
            <p:cNvPr id="9" name="Freeform 9"/>
            <p:cNvSpPr/>
            <p:nvPr/>
          </p:nvSpPr>
          <p:spPr>
            <a:xfrm>
              <a:off x="0" y="0"/>
              <a:ext cx="20665439" cy="2414016"/>
            </a:xfrm>
            <a:custGeom>
              <a:avLst/>
              <a:gdLst/>
              <a:ahLst/>
              <a:cxnLst/>
              <a:rect l="l" t="t" r="r" b="b"/>
              <a:pathLst>
                <a:path w="20665439" h="2414016">
                  <a:moveTo>
                    <a:pt x="0" y="164592"/>
                  </a:moveTo>
                  <a:cubicBezTo>
                    <a:pt x="0" y="73660"/>
                    <a:pt x="73660" y="0"/>
                    <a:pt x="164592" y="0"/>
                  </a:cubicBezTo>
                  <a:lnTo>
                    <a:pt x="20500848" y="0"/>
                  </a:lnTo>
                  <a:cubicBezTo>
                    <a:pt x="20591780" y="0"/>
                    <a:pt x="20665439" y="73660"/>
                    <a:pt x="20665439" y="164592"/>
                  </a:cubicBezTo>
                  <a:lnTo>
                    <a:pt x="20665439" y="2249424"/>
                  </a:lnTo>
                  <a:cubicBezTo>
                    <a:pt x="20665439" y="2340356"/>
                    <a:pt x="20591780" y="2414016"/>
                    <a:pt x="20500848" y="2414016"/>
                  </a:cubicBezTo>
                  <a:lnTo>
                    <a:pt x="164592" y="2414016"/>
                  </a:lnTo>
                  <a:cubicBezTo>
                    <a:pt x="73660" y="2414016"/>
                    <a:pt x="0" y="2340356"/>
                    <a:pt x="0" y="2249424"/>
                  </a:cubicBezTo>
                  <a:close/>
                </a:path>
              </a:pathLst>
            </a:custGeom>
            <a:solidFill>
              <a:srgbClr val="0B0B0D"/>
            </a:solidFill>
          </p:spPr>
          <p:txBody>
            <a:bodyPr/>
            <a:lstStyle/>
            <a:p>
              <a:endParaRPr lang="en-US">
                <a:latin typeface="Alice"/>
              </a:endParaRPr>
            </a:p>
          </p:txBody>
        </p:sp>
      </p:grpSp>
      <p:sp>
        <p:nvSpPr>
          <p:cNvPr id="10" name="TextBox 10"/>
          <p:cNvSpPr txBox="1"/>
          <p:nvPr/>
        </p:nvSpPr>
        <p:spPr>
          <a:xfrm>
            <a:off x="1755648" y="4769739"/>
            <a:ext cx="14730984" cy="1386085"/>
          </a:xfrm>
          <a:prstGeom prst="rect">
            <a:avLst/>
          </a:prstGeom>
        </p:spPr>
        <p:txBody>
          <a:bodyPr lIns="0" tIns="0" rIns="0" bIns="0" rtlCol="0" anchor="t">
            <a:spAutoFit/>
          </a:bodyPr>
          <a:lstStyle/>
          <a:p>
            <a:pPr algn="l">
              <a:lnSpc>
                <a:spcPts val="3686"/>
              </a:lnSpc>
            </a:pPr>
            <a:r>
              <a:rPr lang="en-US" sz="2400">
                <a:solidFill>
                  <a:srgbClr val="6A9955"/>
                </a:solidFill>
                <a:latin typeface="Alice"/>
                <a:ea typeface="Courier New"/>
                <a:cs typeface="Courier New"/>
                <a:sym typeface="Courier New"/>
              </a:rPr>
              <a:t>// 2. Còn tin nhắn chưa đọc</a:t>
            </a:r>
          </a:p>
          <a:p>
            <a:pPr algn="l">
              <a:lnSpc>
                <a:spcPts val="3686"/>
              </a:lnSpc>
            </a:pPr>
            <a:r>
              <a:rPr lang="en-US" sz="2400">
                <a:solidFill>
                  <a:srgbClr val="9CDCFE"/>
                </a:solidFill>
                <a:latin typeface="Alice"/>
                <a:ea typeface="Courier New"/>
                <a:cs typeface="Courier New"/>
                <a:sym typeface="Courier New"/>
              </a:rPr>
              <a:t>lblBadge</a:t>
            </a:r>
            <a:r>
              <a:rPr lang="en-US" sz="2400">
                <a:solidFill>
                  <a:srgbClr val="9AA0A6"/>
                </a:solidFill>
                <a:latin typeface="Alice"/>
                <a:ea typeface="Courier New"/>
                <a:cs typeface="Courier New"/>
                <a:sym typeface="Courier New"/>
              </a:rPr>
              <a:t>.Text = </a:t>
            </a:r>
            <a:r>
              <a:rPr lang="en-US" sz="2400">
                <a:solidFill>
                  <a:srgbClr val="D4D4D4"/>
                </a:solidFill>
                <a:latin typeface="Alice"/>
                <a:ea typeface="Courier New"/>
                <a:cs typeface="Courier New"/>
                <a:sym typeface="Courier New"/>
              </a:rPr>
              <a:t>unreadCount</a:t>
            </a:r>
            <a:r>
              <a:rPr lang="en-US" sz="2400">
                <a:solidFill>
                  <a:srgbClr val="9AA0A6"/>
                </a:solidFill>
                <a:latin typeface="Alice"/>
                <a:ea typeface="Courier New"/>
                <a:cs typeface="Courier New"/>
                <a:sym typeface="Courier New"/>
              </a:rPr>
              <a:t> &gt; 10 ? </a:t>
            </a:r>
            <a:r>
              <a:rPr lang="en-US" sz="2400">
                <a:solidFill>
                  <a:srgbClr val="CE9178"/>
                </a:solidFill>
                <a:latin typeface="Alice"/>
                <a:ea typeface="Courier New"/>
                <a:cs typeface="Courier New"/>
                <a:sym typeface="Courier New"/>
              </a:rPr>
              <a:t>"10+"</a:t>
            </a:r>
            <a:r>
              <a:rPr lang="en-US" sz="2400">
                <a:solidFill>
                  <a:srgbClr val="9AA0A6"/>
                </a:solidFill>
                <a:latin typeface="Alice"/>
                <a:ea typeface="Courier New"/>
                <a:cs typeface="Courier New"/>
                <a:sym typeface="Courier New"/>
              </a:rPr>
              <a:t> : </a:t>
            </a:r>
            <a:r>
              <a:rPr lang="en-US" sz="2400">
                <a:solidFill>
                  <a:srgbClr val="D4D4D4"/>
                </a:solidFill>
                <a:latin typeface="Alice"/>
                <a:ea typeface="Courier New"/>
                <a:cs typeface="Courier New"/>
                <a:sym typeface="Courier New"/>
              </a:rPr>
              <a:t>unreadCount</a:t>
            </a:r>
            <a:r>
              <a:rPr lang="en-US" sz="2400">
                <a:solidFill>
                  <a:srgbClr val="9AA0A6"/>
                </a:solidFill>
                <a:latin typeface="Alice"/>
                <a:ea typeface="Courier New"/>
                <a:cs typeface="Courier New"/>
                <a:sym typeface="Courier New"/>
              </a:rPr>
              <a:t>.ToString();</a:t>
            </a:r>
          </a:p>
          <a:p>
            <a:pPr algn="l">
              <a:lnSpc>
                <a:spcPts val="3686"/>
              </a:lnSpc>
            </a:pPr>
            <a:r>
              <a:rPr lang="en-US" sz="2400">
                <a:solidFill>
                  <a:srgbClr val="9CDCFE"/>
                </a:solidFill>
                <a:latin typeface="Alice"/>
                <a:ea typeface="Courier New"/>
                <a:cs typeface="Courier New"/>
                <a:sym typeface="Courier New"/>
              </a:rPr>
              <a:t>lblBadge</a:t>
            </a:r>
            <a:r>
              <a:rPr lang="en-US" sz="2400">
                <a:solidFill>
                  <a:srgbClr val="9AA0A6"/>
                </a:solidFill>
                <a:latin typeface="Alice"/>
                <a:ea typeface="Courier New"/>
                <a:cs typeface="Courier New"/>
                <a:sym typeface="Courier New"/>
              </a:rPr>
              <a:t>.Visible = </a:t>
            </a:r>
            <a:r>
              <a:rPr lang="en-US" sz="2400">
                <a:solidFill>
                  <a:srgbClr val="569CD6"/>
                </a:solidFill>
                <a:latin typeface="Alice"/>
                <a:ea typeface="Courier New"/>
                <a:cs typeface="Courier New"/>
                <a:sym typeface="Courier New"/>
              </a:rPr>
              <a:t>true</a:t>
            </a:r>
            <a:r>
              <a:rPr lang="en-US" sz="2400">
                <a:solidFill>
                  <a:srgbClr val="9AA0A6"/>
                </a:solidFill>
                <a:latin typeface="Alice"/>
                <a:ea typeface="Courier New"/>
                <a:cs typeface="Courier New"/>
                <a:sym typeface="Courier New"/>
              </a:rPr>
              <a:t>;</a:t>
            </a:r>
          </a:p>
        </p:txBody>
      </p:sp>
      <p:sp>
        <p:nvSpPr>
          <p:cNvPr id="11" name="TextBox 11"/>
          <p:cNvSpPr txBox="1"/>
          <p:nvPr/>
        </p:nvSpPr>
        <p:spPr>
          <a:xfrm>
            <a:off x="1371600" y="6709029"/>
            <a:ext cx="15499080" cy="495905"/>
          </a:xfrm>
          <a:prstGeom prst="rect">
            <a:avLst/>
          </a:prstGeom>
        </p:spPr>
        <p:txBody>
          <a:bodyPr lIns="0" tIns="0" rIns="0" bIns="0" rtlCol="0" anchor="t">
            <a:spAutoFit/>
          </a:bodyPr>
          <a:lstStyle/>
          <a:p>
            <a:pPr algn="l">
              <a:lnSpc>
                <a:spcPts val="4140"/>
              </a:lnSpc>
            </a:pPr>
            <a:r>
              <a:rPr lang="en-US" sz="3000" b="1">
                <a:solidFill>
                  <a:srgbClr val="FFFFFF"/>
                </a:solidFill>
                <a:latin typeface="Alice"/>
                <a:ea typeface="Arial Bold"/>
                <a:cs typeface="Arial Bold"/>
                <a:sym typeface="Arial Bold"/>
              </a:rPr>
              <a:t>CÒN TIN NHẮN CHƯA ĐỌC → HIỆN SỐ THỰC, TỰ RÚT GỌN THÀNH "10+"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home/claude/pptx2/bg_main.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2"/>
              <a:stretch>
                <a:fillRect l="-1" r="-1"/>
              </a:stretch>
            </a:blipFill>
          </p:spPr>
          <p:txBody>
            <a:bodyPr/>
            <a:lstStyle/>
            <a:p>
              <a:endParaRPr lang="en-US">
                <a:latin typeface="Alice"/>
              </a:endParaRPr>
            </a:p>
          </p:txBody>
        </p:sp>
      </p:grpSp>
      <p:grpSp>
        <p:nvGrpSpPr>
          <p:cNvPr id="4" name="Group 4"/>
          <p:cNvGrpSpPr/>
          <p:nvPr/>
        </p:nvGrpSpPr>
        <p:grpSpPr>
          <a:xfrm>
            <a:off x="960120" y="3429000"/>
            <a:ext cx="7680960" cy="2066109"/>
            <a:chOff x="0" y="0"/>
            <a:chExt cx="10241280" cy="2754812"/>
          </a:xfrm>
        </p:grpSpPr>
        <p:sp>
          <p:nvSpPr>
            <p:cNvPr id="5" name="Freeform 5"/>
            <p:cNvSpPr/>
            <p:nvPr/>
          </p:nvSpPr>
          <p:spPr>
            <a:xfrm>
              <a:off x="0" y="0"/>
              <a:ext cx="10241280" cy="2754812"/>
            </a:xfrm>
            <a:custGeom>
              <a:avLst/>
              <a:gdLst/>
              <a:ahLst/>
              <a:cxnLst/>
              <a:rect l="l" t="t" r="r" b="b"/>
              <a:pathLst>
                <a:path w="10241280" h="2754812">
                  <a:moveTo>
                    <a:pt x="0" y="191824"/>
                  </a:moveTo>
                  <a:cubicBezTo>
                    <a:pt x="0" y="85847"/>
                    <a:pt x="73660" y="0"/>
                    <a:pt x="164592" y="0"/>
                  </a:cubicBezTo>
                  <a:lnTo>
                    <a:pt x="10076688" y="0"/>
                  </a:lnTo>
                  <a:cubicBezTo>
                    <a:pt x="10167620" y="0"/>
                    <a:pt x="10241280" y="85847"/>
                    <a:pt x="10241280" y="191824"/>
                  </a:cubicBezTo>
                  <a:lnTo>
                    <a:pt x="10241280" y="2562988"/>
                  </a:lnTo>
                  <a:cubicBezTo>
                    <a:pt x="10241280" y="2668965"/>
                    <a:pt x="10167620" y="2754812"/>
                    <a:pt x="10076688" y="2754812"/>
                  </a:cubicBezTo>
                  <a:lnTo>
                    <a:pt x="164592" y="2754812"/>
                  </a:lnTo>
                  <a:cubicBezTo>
                    <a:pt x="73660" y="2754812"/>
                    <a:pt x="0" y="2668965"/>
                    <a:pt x="0" y="2562988"/>
                  </a:cubicBezTo>
                  <a:close/>
                </a:path>
              </a:pathLst>
            </a:custGeom>
            <a:solidFill>
              <a:srgbClr val="0B0B0D"/>
            </a:solidFill>
          </p:spPr>
          <p:txBody>
            <a:bodyPr/>
            <a:lstStyle/>
            <a:p>
              <a:endParaRPr lang="en-US">
                <a:latin typeface="Alice"/>
              </a:endParaRPr>
            </a:p>
          </p:txBody>
        </p:sp>
      </p:grpSp>
      <p:sp>
        <p:nvSpPr>
          <p:cNvPr id="6" name="TextBox 6"/>
          <p:cNvSpPr txBox="1"/>
          <p:nvPr/>
        </p:nvSpPr>
        <p:spPr>
          <a:xfrm>
            <a:off x="1344168" y="3645027"/>
            <a:ext cx="6912864" cy="1348318"/>
          </a:xfrm>
          <a:prstGeom prst="rect">
            <a:avLst/>
          </a:prstGeom>
        </p:spPr>
        <p:txBody>
          <a:bodyPr lIns="0" tIns="0" rIns="0" bIns="0" rtlCol="0" anchor="t">
            <a:spAutoFit/>
          </a:bodyPr>
          <a:lstStyle/>
          <a:p>
            <a:pPr algn="l">
              <a:lnSpc>
                <a:spcPts val="3571"/>
              </a:lnSpc>
            </a:pPr>
            <a:r>
              <a:rPr lang="en-US" sz="2325">
                <a:solidFill>
                  <a:srgbClr val="6A9955"/>
                </a:solidFill>
                <a:latin typeface="Alice"/>
                <a:ea typeface="Courier New"/>
                <a:cs typeface="Courier New"/>
                <a:sym typeface="Courier New"/>
              </a:rPr>
              <a:t>// Trong ClientForm</a:t>
            </a:r>
          </a:p>
          <a:p>
            <a:pPr algn="l">
              <a:lnSpc>
                <a:spcPts val="3571"/>
              </a:lnSpc>
            </a:pPr>
            <a:r>
              <a:rPr lang="en-US" sz="2325">
                <a:solidFill>
                  <a:srgbClr val="9CDCFE"/>
                </a:solidFill>
                <a:latin typeface="Alice"/>
                <a:ea typeface="Courier New"/>
                <a:cs typeface="Courier New"/>
                <a:sym typeface="Courier New"/>
              </a:rPr>
              <a:t>item</a:t>
            </a:r>
            <a:r>
              <a:rPr lang="en-US" sz="2325">
                <a:solidFill>
                  <a:srgbClr val="9AA0A6"/>
                </a:solidFill>
                <a:latin typeface="Alice"/>
                <a:ea typeface="Courier New"/>
                <a:cs typeface="Courier New"/>
                <a:sym typeface="Courier New"/>
              </a:rPr>
              <a:t>.UpdateInfo(</a:t>
            </a:r>
            <a:r>
              <a:rPr lang="en-US" sz="2325">
                <a:solidFill>
                  <a:srgbClr val="D4D4D4"/>
                </a:solidFill>
                <a:latin typeface="Alice"/>
                <a:ea typeface="Courier New"/>
                <a:cs typeface="Courier New"/>
                <a:sym typeface="Courier New"/>
              </a:rPr>
              <a:t>userId</a:t>
            </a:r>
            <a:r>
              <a:rPr lang="en-US" sz="2325">
                <a:solidFill>
                  <a:srgbClr val="9AA0A6"/>
                </a:solidFill>
                <a:latin typeface="Alice"/>
                <a:ea typeface="Courier New"/>
                <a:cs typeface="Courier New"/>
                <a:sym typeface="Courier New"/>
              </a:rPr>
              <a:t>, name, isOnline);</a:t>
            </a:r>
          </a:p>
          <a:p>
            <a:pPr algn="l">
              <a:lnSpc>
                <a:spcPts val="3571"/>
              </a:lnSpc>
            </a:pPr>
            <a:r>
              <a:rPr lang="en-US" sz="2325">
                <a:solidFill>
                  <a:srgbClr val="9CDCFE"/>
                </a:solidFill>
                <a:latin typeface="Alice"/>
                <a:ea typeface="Courier New"/>
                <a:cs typeface="Courier New"/>
                <a:sym typeface="Courier New"/>
              </a:rPr>
              <a:t>item</a:t>
            </a:r>
            <a:r>
              <a:rPr lang="en-US" sz="2325">
                <a:solidFill>
                  <a:srgbClr val="9AA0A6"/>
                </a:solidFill>
                <a:latin typeface="Alice"/>
                <a:ea typeface="Courier New"/>
                <a:cs typeface="Courier New"/>
                <a:sym typeface="Courier New"/>
              </a:rPr>
              <a:t>.UpdateBadge(</a:t>
            </a:r>
            <a:r>
              <a:rPr lang="en-US" sz="2325">
                <a:solidFill>
                  <a:srgbClr val="D4D4D4"/>
                </a:solidFill>
                <a:latin typeface="Alice"/>
                <a:ea typeface="Courier New"/>
                <a:cs typeface="Courier New"/>
                <a:sym typeface="Courier New"/>
              </a:rPr>
              <a:t>unreadCount</a:t>
            </a:r>
            <a:r>
              <a:rPr lang="en-US" sz="2325">
                <a:solidFill>
                  <a:srgbClr val="9AA0A6"/>
                </a:solidFill>
                <a:latin typeface="Alice"/>
                <a:ea typeface="Courier New"/>
                <a:cs typeface="Courier New"/>
                <a:sym typeface="Courier New"/>
              </a:rPr>
              <a:t>);</a:t>
            </a:r>
          </a:p>
        </p:txBody>
      </p:sp>
      <p:sp>
        <p:nvSpPr>
          <p:cNvPr id="7" name="TextBox 7"/>
          <p:cNvSpPr txBox="1"/>
          <p:nvPr/>
        </p:nvSpPr>
        <p:spPr>
          <a:xfrm>
            <a:off x="9189720" y="3078480"/>
            <a:ext cx="7955280" cy="1809598"/>
          </a:xfrm>
          <a:prstGeom prst="rect">
            <a:avLst/>
          </a:prstGeom>
        </p:spPr>
        <p:txBody>
          <a:bodyPr lIns="0" tIns="0" rIns="0" bIns="0" rtlCol="0" anchor="t">
            <a:spAutoFit/>
          </a:bodyPr>
          <a:lstStyle/>
          <a:p>
            <a:pPr algn="l">
              <a:lnSpc>
                <a:spcPts val="4761"/>
              </a:lnSpc>
            </a:pPr>
            <a:r>
              <a:rPr lang="en-US" sz="3450" b="1">
                <a:solidFill>
                  <a:srgbClr val="FFFFFF"/>
                </a:solidFill>
                <a:latin typeface="Alice"/>
                <a:ea typeface="Arial Bold"/>
                <a:cs typeface="Arial Bold"/>
                <a:sym typeface="Arial Bold"/>
              </a:rPr>
              <a:t>CLIENTFORM CHỈ CẦN GỌI 2 HÀM — USERITEM TỰ LO PHẦN HIỂN THỊ BÊN TRONG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6" name="Freeform 6"/>
          <p:cNvSpPr/>
          <p:nvPr/>
        </p:nvSpPr>
        <p:spPr>
          <a:xfrm>
            <a:off x="1520186" y="2069194"/>
            <a:ext cx="5742151" cy="5637748"/>
          </a:xfrm>
          <a:custGeom>
            <a:avLst/>
            <a:gdLst/>
            <a:ahLst/>
            <a:cxnLst/>
            <a:rect l="l" t="t" r="r" b="b"/>
            <a:pathLst>
              <a:path w="5742151" h="5637748">
                <a:moveTo>
                  <a:pt x="0" y="0"/>
                </a:moveTo>
                <a:lnTo>
                  <a:pt x="5742151" y="0"/>
                </a:lnTo>
                <a:lnTo>
                  <a:pt x="5742151" y="5637749"/>
                </a:lnTo>
                <a:lnTo>
                  <a:pt x="0" y="56377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2046375" y="2543182"/>
            <a:ext cx="4689772" cy="468977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6666" r="-26666"/>
              </a:stretch>
            </a:blipFill>
          </p:spPr>
          <p:txBody>
            <a:bodyPr/>
            <a:lstStyle/>
            <a:p>
              <a:endParaRPr lang="en-US"/>
            </a:p>
          </p:txBody>
        </p:sp>
      </p:grpSp>
      <p:sp>
        <p:nvSpPr>
          <p:cNvPr id="9" name="TextBox 9"/>
          <p:cNvSpPr txBox="1"/>
          <p:nvPr/>
        </p:nvSpPr>
        <p:spPr>
          <a:xfrm>
            <a:off x="15762422" y="735562"/>
            <a:ext cx="1421291" cy="35877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Poppins Bold"/>
                <a:ea typeface="Poppins Bold"/>
                <a:cs typeface="Poppins Bold"/>
                <a:sym typeface="Poppins Bold"/>
              </a:rPr>
              <a:t>Page 07</a:t>
            </a:r>
          </a:p>
        </p:txBody>
      </p:sp>
      <p:sp>
        <p:nvSpPr>
          <p:cNvPr id="10" name="TextBox 10"/>
          <p:cNvSpPr txBox="1"/>
          <p:nvPr/>
        </p:nvSpPr>
        <p:spPr>
          <a:xfrm>
            <a:off x="8033748" y="3790729"/>
            <a:ext cx="8268973" cy="1975604"/>
          </a:xfrm>
          <a:prstGeom prst="rect">
            <a:avLst/>
          </a:prstGeom>
        </p:spPr>
        <p:txBody>
          <a:bodyPr lIns="0" tIns="0" rIns="0" bIns="0" rtlCol="0" anchor="t">
            <a:spAutoFit/>
          </a:bodyPr>
          <a:lstStyle/>
          <a:p>
            <a:pPr algn="l">
              <a:lnSpc>
                <a:spcPts val="13675"/>
              </a:lnSpc>
            </a:pPr>
            <a:r>
              <a:rPr lang="en-US" sz="11396" b="1">
                <a:solidFill>
                  <a:srgbClr val="FFFFFF"/>
                </a:solidFill>
                <a:latin typeface="Neo Sans Bold"/>
                <a:ea typeface="Neo Sans Bold"/>
                <a:cs typeface="Neo Sans Bold"/>
                <a:sym typeface="Neo Sans Bold"/>
              </a:rPr>
              <a:t>CHAT 1-1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7916493"/>
            <a:ext cx="18288000" cy="2370507"/>
          </a:xfrm>
          <a:custGeom>
            <a:avLst/>
            <a:gdLst/>
            <a:ahLst/>
            <a:cxnLst/>
            <a:rect l="l" t="t" r="r" b="b"/>
            <a:pathLst>
              <a:path w="18288000" h="2370507">
                <a:moveTo>
                  <a:pt x="0" y="0"/>
                </a:moveTo>
                <a:lnTo>
                  <a:pt x="18288000" y="0"/>
                </a:lnTo>
                <a:lnTo>
                  <a:pt x="18288000" y="2370507"/>
                </a:lnTo>
                <a:lnTo>
                  <a:pt x="0" y="2370507"/>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p>
        </p:txBody>
      </p:sp>
      <p:sp>
        <p:nvSpPr>
          <p:cNvPr id="6" name="Freeform 6"/>
          <p:cNvSpPr/>
          <p:nvPr/>
        </p:nvSpPr>
        <p:spPr>
          <a:xfrm>
            <a:off x="582666" y="2255311"/>
            <a:ext cx="17122668" cy="5661182"/>
          </a:xfrm>
          <a:custGeom>
            <a:avLst/>
            <a:gdLst/>
            <a:ahLst/>
            <a:cxnLst/>
            <a:rect l="l" t="t" r="r" b="b"/>
            <a:pathLst>
              <a:path w="17122668" h="5661182">
                <a:moveTo>
                  <a:pt x="0" y="0"/>
                </a:moveTo>
                <a:lnTo>
                  <a:pt x="17122668" y="0"/>
                </a:lnTo>
                <a:lnTo>
                  <a:pt x="17122668" y="5661182"/>
                </a:lnTo>
                <a:lnTo>
                  <a:pt x="0" y="5661182"/>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5762422" y="735562"/>
            <a:ext cx="1421291" cy="35877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Poppins Bold"/>
                <a:ea typeface="Poppins Bold"/>
                <a:cs typeface="Poppins Bold"/>
                <a:sym typeface="Poppins Bold"/>
              </a:rPr>
              <a:t>Page 07</a:t>
            </a:r>
          </a:p>
        </p:txBody>
      </p:sp>
      <p:sp>
        <p:nvSpPr>
          <p:cNvPr id="8" name="TextBox 8"/>
          <p:cNvSpPr txBox="1"/>
          <p:nvPr/>
        </p:nvSpPr>
        <p:spPr>
          <a:xfrm>
            <a:off x="287805" y="261154"/>
            <a:ext cx="15225547" cy="597087"/>
          </a:xfrm>
          <a:prstGeom prst="rect">
            <a:avLst/>
          </a:prstGeom>
        </p:spPr>
        <p:txBody>
          <a:bodyPr lIns="0" tIns="0" rIns="0" bIns="0" rtlCol="0" anchor="t">
            <a:spAutoFit/>
          </a:bodyPr>
          <a:lstStyle/>
          <a:p>
            <a:pPr algn="l">
              <a:lnSpc>
                <a:spcPts val="4799"/>
              </a:lnSpc>
            </a:pPr>
            <a:r>
              <a:rPr lang="en-US" sz="3999" b="1" dirty="0">
                <a:solidFill>
                  <a:srgbClr val="FFFFFF"/>
                </a:solidFill>
                <a:latin typeface="Alice"/>
                <a:ea typeface="Neo Sans Bold"/>
                <a:cs typeface="Neo Sans Bold"/>
                <a:sym typeface="Neo Sans Bold"/>
              </a:rPr>
              <a:t>TỔNG QUAN GIAO DIỆN ( HÌNH ẢNH MINH HỌA)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latin typeface="Alice"/>
              </a:endParaRPr>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latin typeface="Alice"/>
              </a:endParaRPr>
            </a:p>
          </p:txBody>
        </p:sp>
      </p:grpSp>
      <p:sp>
        <p:nvSpPr>
          <p:cNvPr id="5" name="TextBox 5"/>
          <p:cNvSpPr txBox="1"/>
          <p:nvPr/>
        </p:nvSpPr>
        <p:spPr>
          <a:xfrm>
            <a:off x="15762422" y="735562"/>
            <a:ext cx="1421291" cy="33701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Alice"/>
                <a:ea typeface="Poppins Bold"/>
                <a:cs typeface="Poppins Bold"/>
                <a:sym typeface="Poppins Bold"/>
              </a:rPr>
              <a:t>Page 04</a:t>
            </a:r>
          </a:p>
        </p:txBody>
      </p:sp>
      <p:sp>
        <p:nvSpPr>
          <p:cNvPr id="6" name="TextBox 6"/>
          <p:cNvSpPr txBox="1"/>
          <p:nvPr/>
        </p:nvSpPr>
        <p:spPr>
          <a:xfrm>
            <a:off x="1596063" y="6236633"/>
            <a:ext cx="15095874" cy="3369555"/>
          </a:xfrm>
          <a:prstGeom prst="rect">
            <a:avLst/>
          </a:prstGeom>
        </p:spPr>
        <p:txBody>
          <a:bodyPr lIns="0" tIns="0" rIns="0" bIns="0" rtlCol="0" anchor="t">
            <a:spAutoFit/>
          </a:bodyPr>
          <a:lstStyle/>
          <a:p>
            <a:pPr algn="l">
              <a:lnSpc>
                <a:spcPts val="3031"/>
              </a:lnSpc>
            </a:pPr>
            <a:r>
              <a:rPr lang="en-US" sz="2165" b="1">
                <a:solidFill>
                  <a:srgbClr val="FFFFFF"/>
                </a:solidFill>
                <a:latin typeface="Alice"/>
                <a:ea typeface="Poppins Bold"/>
                <a:cs typeface="Poppins Bold"/>
                <a:sym typeface="Poppins Bold"/>
              </a:rPr>
              <a:t>Bước 1: Client A - Gửi (Giao diện -&gt; Logic -&gt; Tầng Mạng): </a:t>
            </a:r>
          </a:p>
          <a:p>
            <a:pPr marL="467499" lvl="1" indent="-233749" algn="l">
              <a:lnSpc>
                <a:spcPts val="3031"/>
              </a:lnSpc>
              <a:buFont typeface="Arial"/>
              <a:buChar char="•"/>
            </a:pPr>
            <a:r>
              <a:rPr lang="en-US" sz="2165">
                <a:solidFill>
                  <a:srgbClr val="FFFFFF"/>
                </a:solidFill>
                <a:latin typeface="Alice"/>
                <a:ea typeface="Poppins"/>
                <a:cs typeface="Poppins"/>
                <a:sym typeface="Poppins"/>
              </a:rPr>
              <a:t>Giao diện: Người dùng nhập nội dung tin nhắn trên Form và nhấn nút Gửi.</a:t>
            </a:r>
          </a:p>
          <a:p>
            <a:pPr marL="467499" lvl="1" indent="-233749" algn="l">
              <a:lnSpc>
                <a:spcPts val="3031"/>
              </a:lnSpc>
              <a:buFont typeface="Arial"/>
              <a:buChar char="•"/>
            </a:pPr>
            <a:r>
              <a:rPr lang="en-US" sz="2165">
                <a:solidFill>
                  <a:srgbClr val="FFFFFF"/>
                </a:solidFill>
                <a:latin typeface="Alice"/>
                <a:ea typeface="Poppins"/>
                <a:cs typeface="Poppins"/>
                <a:sym typeface="Poppins"/>
              </a:rPr>
              <a:t>Đính kèm dữ liệu (Logic): Hệ thống kiểm tra xem người dùng có đang trả lời một tin nhắn khác không. Nếu có, hàm AttachReplyInfo sẽ tự động đính kèm ID, tên người gửi và nội dung của tin nhắn gốc vào gói tin. </a:t>
            </a:r>
          </a:p>
          <a:p>
            <a:pPr marL="467499" lvl="1" indent="-233749" algn="l">
              <a:lnSpc>
                <a:spcPts val="3031"/>
              </a:lnSpc>
              <a:buFont typeface="Arial"/>
              <a:buChar char="•"/>
            </a:pPr>
            <a:r>
              <a:rPr lang="en-US" sz="2165">
                <a:solidFill>
                  <a:srgbClr val="FFFFFF"/>
                </a:solidFill>
                <a:latin typeface="Alice"/>
                <a:ea typeface="Poppins"/>
                <a:cs typeface="Poppins"/>
                <a:sym typeface="Poppins"/>
              </a:rPr>
              <a:t>Mã hóa &amp; Chuyển đổi: Dữ liệu tin nhắn (ChatMessage) được chuyển thành chuỗi định dạng JSON nhờ MessageParser.Serialize(), sau đó đổi thành mảng byte theo chuẩn UTF-8. </a:t>
            </a:r>
          </a:p>
          <a:p>
            <a:pPr marL="467499" lvl="1" indent="-233749" algn="l">
              <a:lnSpc>
                <a:spcPts val="3031"/>
              </a:lnSpc>
              <a:buFont typeface="Arial"/>
              <a:buChar char="•"/>
            </a:pPr>
            <a:r>
              <a:rPr lang="en-US" sz="2165">
                <a:solidFill>
                  <a:srgbClr val="FFFFFF"/>
                </a:solidFill>
                <a:latin typeface="Alice"/>
                <a:ea typeface="Poppins"/>
                <a:cs typeface="Poppins"/>
                <a:sym typeface="Poppins"/>
              </a:rPr>
              <a:t>Đẩy qua Socket: Tầng mạng (TcpClientManager) ghi toàn bộ mảng byte này vào luồng dữ liệu (NetworkStream) để truyền sang Server.</a:t>
            </a:r>
          </a:p>
          <a:p>
            <a:pPr algn="l">
              <a:lnSpc>
                <a:spcPts val="2471"/>
              </a:lnSpc>
              <a:spcBef>
                <a:spcPct val="0"/>
              </a:spcBef>
            </a:pPr>
            <a:endParaRPr lang="en-US" sz="2165">
              <a:solidFill>
                <a:srgbClr val="FFFFFF"/>
              </a:solidFill>
              <a:latin typeface="Alice"/>
              <a:ea typeface="Poppins"/>
              <a:cs typeface="Poppins"/>
              <a:sym typeface="Poppins"/>
            </a:endParaRPr>
          </a:p>
        </p:txBody>
      </p:sp>
      <p:sp>
        <p:nvSpPr>
          <p:cNvPr id="7" name="Freeform 7"/>
          <p:cNvSpPr/>
          <p:nvPr/>
        </p:nvSpPr>
        <p:spPr>
          <a:xfrm>
            <a:off x="-746109" y="9606188"/>
            <a:ext cx="4114800" cy="680812"/>
          </a:xfrm>
          <a:custGeom>
            <a:avLst/>
            <a:gdLst/>
            <a:ahLst/>
            <a:cxnLst/>
            <a:rect l="l" t="t" r="r" b="b"/>
            <a:pathLst>
              <a:path w="4114800" h="680812">
                <a:moveTo>
                  <a:pt x="0" y="0"/>
                </a:moveTo>
                <a:lnTo>
                  <a:pt x="4114800" y="0"/>
                </a:lnTo>
                <a:lnTo>
                  <a:pt x="4114800" y="680812"/>
                </a:lnTo>
                <a:lnTo>
                  <a:pt x="0" y="6808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8" name="Freeform 8"/>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9" name="Freeform 9"/>
          <p:cNvSpPr/>
          <p:nvPr/>
        </p:nvSpPr>
        <p:spPr>
          <a:xfrm>
            <a:off x="479170" y="1118681"/>
            <a:ext cx="10230555" cy="2492363"/>
          </a:xfrm>
          <a:custGeom>
            <a:avLst/>
            <a:gdLst/>
            <a:ahLst/>
            <a:cxnLst/>
            <a:rect l="l" t="t" r="r" b="b"/>
            <a:pathLst>
              <a:path w="10230555" h="2492363">
                <a:moveTo>
                  <a:pt x="0" y="0"/>
                </a:moveTo>
                <a:lnTo>
                  <a:pt x="10230555" y="0"/>
                </a:lnTo>
                <a:lnTo>
                  <a:pt x="10230555" y="2492363"/>
                </a:lnTo>
                <a:lnTo>
                  <a:pt x="0" y="2492363"/>
                </a:lnTo>
                <a:lnTo>
                  <a:pt x="0" y="0"/>
                </a:lnTo>
                <a:close/>
              </a:path>
            </a:pathLst>
          </a:custGeom>
          <a:blipFill>
            <a:blip r:embed="rId4"/>
            <a:stretch>
              <a:fillRect/>
            </a:stretch>
          </a:blipFill>
        </p:spPr>
        <p:txBody>
          <a:bodyPr/>
          <a:lstStyle/>
          <a:p>
            <a:endParaRPr lang="en-US">
              <a:latin typeface="Alice"/>
            </a:endParaRPr>
          </a:p>
        </p:txBody>
      </p:sp>
      <p:sp>
        <p:nvSpPr>
          <p:cNvPr id="10" name="Freeform 10"/>
          <p:cNvSpPr/>
          <p:nvPr/>
        </p:nvSpPr>
        <p:spPr>
          <a:xfrm>
            <a:off x="7716744" y="3751327"/>
            <a:ext cx="9899444" cy="2411697"/>
          </a:xfrm>
          <a:custGeom>
            <a:avLst/>
            <a:gdLst/>
            <a:ahLst/>
            <a:cxnLst/>
            <a:rect l="l" t="t" r="r" b="b"/>
            <a:pathLst>
              <a:path w="9899444" h="2411697">
                <a:moveTo>
                  <a:pt x="0" y="0"/>
                </a:moveTo>
                <a:lnTo>
                  <a:pt x="9899444" y="0"/>
                </a:lnTo>
                <a:lnTo>
                  <a:pt x="9899444" y="2411698"/>
                </a:lnTo>
                <a:lnTo>
                  <a:pt x="0" y="2411698"/>
                </a:lnTo>
                <a:lnTo>
                  <a:pt x="0" y="0"/>
                </a:lnTo>
                <a:close/>
              </a:path>
            </a:pathLst>
          </a:custGeom>
          <a:blipFill>
            <a:blip r:embed="rId4"/>
            <a:stretch>
              <a:fillRect/>
            </a:stretch>
          </a:blipFill>
        </p:spPr>
        <p:txBody>
          <a:bodyPr/>
          <a:lstStyle/>
          <a:p>
            <a:endParaRPr lang="en-US">
              <a:latin typeface="Alice"/>
            </a:endParaRPr>
          </a:p>
        </p:txBody>
      </p:sp>
      <p:sp>
        <p:nvSpPr>
          <p:cNvPr id="11" name="TextBox 11"/>
          <p:cNvSpPr txBox="1"/>
          <p:nvPr/>
        </p:nvSpPr>
        <p:spPr>
          <a:xfrm>
            <a:off x="479170" y="266859"/>
            <a:ext cx="14475148" cy="641201"/>
          </a:xfrm>
          <a:prstGeom prst="rect">
            <a:avLst/>
          </a:prstGeom>
        </p:spPr>
        <p:txBody>
          <a:bodyPr lIns="0" tIns="0" rIns="0" bIns="0" rtlCol="0" anchor="t">
            <a:spAutoFit/>
          </a:bodyPr>
          <a:lstStyle/>
          <a:p>
            <a:pPr algn="l">
              <a:lnSpc>
                <a:spcPts val="5040"/>
              </a:lnSpc>
            </a:pPr>
            <a:r>
              <a:rPr lang="en-US" sz="4200" b="1">
                <a:solidFill>
                  <a:srgbClr val="FFFFFF"/>
                </a:solidFill>
                <a:latin typeface="Alice"/>
                <a:ea typeface="Neo Sans Bold"/>
                <a:cs typeface="Neo Sans Bold"/>
                <a:sym typeface="Neo Sans Bold"/>
              </a:rPr>
              <a:t>LUỒNG TRUYỀN NHẬN TIN NHẮN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latin typeface="Alice"/>
              </a:endParaRPr>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latin typeface="Alice"/>
              </a:endParaRPr>
            </a:p>
          </p:txBody>
        </p:sp>
      </p:grpSp>
      <p:sp>
        <p:nvSpPr>
          <p:cNvPr id="5" name="Freeform 5"/>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6" name="Freeform 6"/>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7" name="Freeform 7"/>
          <p:cNvSpPr/>
          <p:nvPr/>
        </p:nvSpPr>
        <p:spPr>
          <a:xfrm>
            <a:off x="1028700" y="1234412"/>
            <a:ext cx="6266031" cy="8400114"/>
          </a:xfrm>
          <a:custGeom>
            <a:avLst/>
            <a:gdLst/>
            <a:ahLst/>
            <a:cxnLst/>
            <a:rect l="l" t="t" r="r" b="b"/>
            <a:pathLst>
              <a:path w="6266031" h="8400114">
                <a:moveTo>
                  <a:pt x="0" y="0"/>
                </a:moveTo>
                <a:lnTo>
                  <a:pt x="6266031" y="0"/>
                </a:lnTo>
                <a:lnTo>
                  <a:pt x="6266031" y="8400114"/>
                </a:lnTo>
                <a:lnTo>
                  <a:pt x="0" y="8400114"/>
                </a:lnTo>
                <a:lnTo>
                  <a:pt x="0" y="0"/>
                </a:lnTo>
                <a:close/>
              </a:path>
            </a:pathLst>
          </a:custGeom>
          <a:blipFill>
            <a:blip r:embed="rId4"/>
            <a:stretch>
              <a:fillRect/>
            </a:stretch>
          </a:blipFill>
        </p:spPr>
        <p:txBody>
          <a:bodyPr/>
          <a:lstStyle/>
          <a:p>
            <a:endParaRPr lang="en-US">
              <a:latin typeface="Alice"/>
            </a:endParaRPr>
          </a:p>
        </p:txBody>
      </p:sp>
      <p:sp>
        <p:nvSpPr>
          <p:cNvPr id="8" name="TextBox 8"/>
          <p:cNvSpPr txBox="1"/>
          <p:nvPr/>
        </p:nvSpPr>
        <p:spPr>
          <a:xfrm>
            <a:off x="15762422" y="735562"/>
            <a:ext cx="1421291" cy="33701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Alice"/>
                <a:ea typeface="Poppins Bold"/>
                <a:cs typeface="Poppins Bold"/>
                <a:sym typeface="Poppins Bold"/>
              </a:rPr>
              <a:t>Page 04</a:t>
            </a:r>
          </a:p>
        </p:txBody>
      </p:sp>
      <p:sp>
        <p:nvSpPr>
          <p:cNvPr id="9" name="TextBox 9"/>
          <p:cNvSpPr txBox="1"/>
          <p:nvPr/>
        </p:nvSpPr>
        <p:spPr>
          <a:xfrm>
            <a:off x="7543262" y="2989402"/>
            <a:ext cx="9716038" cy="4068999"/>
          </a:xfrm>
          <a:prstGeom prst="rect">
            <a:avLst/>
          </a:prstGeom>
        </p:spPr>
        <p:txBody>
          <a:bodyPr lIns="0" tIns="0" rIns="0" bIns="0" rtlCol="0" anchor="t">
            <a:spAutoFit/>
          </a:bodyPr>
          <a:lstStyle/>
          <a:p>
            <a:pPr algn="l">
              <a:lnSpc>
                <a:spcPts val="2940"/>
              </a:lnSpc>
            </a:pPr>
            <a:r>
              <a:rPr lang="en-US" sz="2100" b="1">
                <a:solidFill>
                  <a:srgbClr val="FFFFFF"/>
                </a:solidFill>
                <a:latin typeface="Alice"/>
                <a:ea typeface="Poppins Bold"/>
                <a:cs typeface="Poppins Bold"/>
                <a:sym typeface="Poppins Bold"/>
              </a:rPr>
              <a:t>Bước 2: Server tiếp nhận &amp; Bóc tách gói tin (Server đọc byte và Tách gói TCP) </a:t>
            </a:r>
          </a:p>
          <a:p>
            <a:pPr marL="453390" lvl="1" indent="-226695" algn="l">
              <a:lnSpc>
                <a:spcPts val="2940"/>
              </a:lnSpc>
              <a:buFont typeface="Arial"/>
              <a:buChar char="•"/>
            </a:pPr>
            <a:r>
              <a:rPr lang="en-US" sz="2100">
                <a:solidFill>
                  <a:srgbClr val="FFFFFF"/>
                </a:solidFill>
                <a:latin typeface="Alice"/>
                <a:ea typeface="Poppins"/>
                <a:cs typeface="Poppins"/>
                <a:sym typeface="Poppins"/>
              </a:rPr>
              <a:t>Đọc dữ liệu liên tục: Server duy trì một luồng chạy ngầm (while) để lắng nghe byte dữ liệu gửi đến qua Socket. </a:t>
            </a:r>
          </a:p>
          <a:p>
            <a:pPr marL="453390" lvl="1" indent="-226695" algn="l">
              <a:lnSpc>
                <a:spcPts val="2940"/>
              </a:lnSpc>
              <a:buFont typeface="Arial"/>
              <a:buChar char="•"/>
            </a:pPr>
            <a:r>
              <a:rPr lang="en-US" sz="2100">
                <a:solidFill>
                  <a:srgbClr val="FFFFFF"/>
                </a:solidFill>
                <a:latin typeface="Alice"/>
                <a:ea typeface="Poppins"/>
                <a:cs typeface="Poppins"/>
                <a:sym typeface="Poppins"/>
              </a:rPr>
              <a:t>Giải quyết dính gói TCP: Do đặc tính truyền theo chuỗi byte của TCP, Server gom dữ liệu vào bộ đệm và dùng ký tự xuống dòng \n để nhận diện điểm kết thúc của từng tin nhắn. </a:t>
            </a:r>
          </a:p>
          <a:p>
            <a:pPr marL="453390" lvl="1" indent="-226695" algn="l">
              <a:lnSpc>
                <a:spcPts val="2940"/>
              </a:lnSpc>
              <a:buFont typeface="Arial"/>
              <a:buChar char="•"/>
            </a:pPr>
            <a:r>
              <a:rPr lang="en-US" sz="2100">
                <a:solidFill>
                  <a:srgbClr val="FFFFFF"/>
                </a:solidFill>
                <a:latin typeface="Alice"/>
                <a:ea typeface="Poppins"/>
                <a:cs typeface="Poppins"/>
                <a:sym typeface="Poppins"/>
              </a:rPr>
              <a:t>Chuyển đổi ngược (Deserialization): Đoạn chuỗi JSON vừa bóc tách được chuyển ngược lại thành đối tượng Message bằng MessageParser.Deserialize(). </a:t>
            </a:r>
          </a:p>
          <a:p>
            <a:pPr marL="453390" lvl="1" indent="-226695" algn="l">
              <a:lnSpc>
                <a:spcPts val="2940"/>
              </a:lnSpc>
              <a:spcBef>
                <a:spcPct val="0"/>
              </a:spcBef>
              <a:buFont typeface="Arial"/>
              <a:buChar char="•"/>
            </a:pPr>
            <a:r>
              <a:rPr lang="en-US" sz="2100">
                <a:solidFill>
                  <a:srgbClr val="FFFFFF"/>
                </a:solidFill>
                <a:latin typeface="Alice"/>
                <a:ea typeface="Poppins"/>
                <a:cs typeface="Poppins"/>
                <a:sym typeface="Poppins"/>
              </a:rPr>
              <a:t>Kích hoạt định tuyến: Server phát sự kiện MessageReceived để hệ thống phân tích người nhận.</a:t>
            </a:r>
          </a:p>
          <a:p>
            <a:pPr algn="l">
              <a:lnSpc>
                <a:spcPts val="2940"/>
              </a:lnSpc>
              <a:spcBef>
                <a:spcPct val="0"/>
              </a:spcBef>
            </a:pPr>
            <a:endParaRPr lang="en-US" sz="2100">
              <a:solidFill>
                <a:srgbClr val="FFFFFF"/>
              </a:solidFill>
              <a:latin typeface="Alice"/>
              <a:ea typeface="Poppins"/>
              <a:cs typeface="Poppins"/>
              <a:sym typeface="Poppins"/>
            </a:endParaRPr>
          </a:p>
        </p:txBody>
      </p:sp>
      <p:sp>
        <p:nvSpPr>
          <p:cNvPr id="10" name="TextBox 10"/>
          <p:cNvSpPr txBox="1"/>
          <p:nvPr/>
        </p:nvSpPr>
        <p:spPr>
          <a:xfrm>
            <a:off x="479170" y="266859"/>
            <a:ext cx="14475148" cy="641201"/>
          </a:xfrm>
          <a:prstGeom prst="rect">
            <a:avLst/>
          </a:prstGeom>
        </p:spPr>
        <p:txBody>
          <a:bodyPr lIns="0" tIns="0" rIns="0" bIns="0" rtlCol="0" anchor="t">
            <a:spAutoFit/>
          </a:bodyPr>
          <a:lstStyle/>
          <a:p>
            <a:pPr algn="l">
              <a:lnSpc>
                <a:spcPts val="5040"/>
              </a:lnSpc>
            </a:pPr>
            <a:r>
              <a:rPr lang="en-US" sz="4200" b="1">
                <a:solidFill>
                  <a:srgbClr val="FFFFFF"/>
                </a:solidFill>
                <a:latin typeface="Alice"/>
                <a:ea typeface="Neo Sans Bold"/>
                <a:cs typeface="Neo Sans Bold"/>
                <a:sym typeface="Neo Sans Bold"/>
              </a:rPr>
              <a:t>LUỒNG TRUYỀN NHẬN TIN NHẮN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latin typeface="Alice"/>
              </a:endParaRPr>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latin typeface="Alice"/>
              </a:endParaRPr>
            </a:p>
          </p:txBody>
        </p:sp>
      </p:grpSp>
      <p:sp>
        <p:nvSpPr>
          <p:cNvPr id="5" name="Freeform 5"/>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6" name="Freeform 6"/>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7" name="Freeform 7"/>
          <p:cNvSpPr/>
          <p:nvPr/>
        </p:nvSpPr>
        <p:spPr>
          <a:xfrm>
            <a:off x="613466" y="1622167"/>
            <a:ext cx="7449997" cy="6437242"/>
          </a:xfrm>
          <a:custGeom>
            <a:avLst/>
            <a:gdLst/>
            <a:ahLst/>
            <a:cxnLst/>
            <a:rect l="l" t="t" r="r" b="b"/>
            <a:pathLst>
              <a:path w="7449997" h="6437242">
                <a:moveTo>
                  <a:pt x="0" y="0"/>
                </a:moveTo>
                <a:lnTo>
                  <a:pt x="7449998" y="0"/>
                </a:lnTo>
                <a:lnTo>
                  <a:pt x="7449998" y="6437241"/>
                </a:lnTo>
                <a:lnTo>
                  <a:pt x="0" y="6437241"/>
                </a:lnTo>
                <a:lnTo>
                  <a:pt x="0" y="0"/>
                </a:lnTo>
                <a:close/>
              </a:path>
            </a:pathLst>
          </a:custGeom>
          <a:blipFill>
            <a:blip r:embed="rId4"/>
            <a:stretch>
              <a:fillRect/>
            </a:stretch>
          </a:blipFill>
        </p:spPr>
        <p:txBody>
          <a:bodyPr/>
          <a:lstStyle/>
          <a:p>
            <a:endParaRPr lang="en-US">
              <a:latin typeface="Alice"/>
            </a:endParaRPr>
          </a:p>
        </p:txBody>
      </p:sp>
      <p:sp>
        <p:nvSpPr>
          <p:cNvPr id="8" name="TextBox 8"/>
          <p:cNvSpPr txBox="1"/>
          <p:nvPr/>
        </p:nvSpPr>
        <p:spPr>
          <a:xfrm>
            <a:off x="15762422" y="735562"/>
            <a:ext cx="1421291" cy="33701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Alice"/>
                <a:ea typeface="Poppins Bold"/>
                <a:cs typeface="Poppins Bold"/>
                <a:sym typeface="Poppins Bold"/>
              </a:rPr>
              <a:t>Page 04</a:t>
            </a:r>
          </a:p>
        </p:txBody>
      </p:sp>
      <p:sp>
        <p:nvSpPr>
          <p:cNvPr id="9" name="TextBox 9"/>
          <p:cNvSpPr txBox="1"/>
          <p:nvPr/>
        </p:nvSpPr>
        <p:spPr>
          <a:xfrm>
            <a:off x="8205778" y="3685395"/>
            <a:ext cx="9227003" cy="3718560"/>
          </a:xfrm>
          <a:prstGeom prst="rect">
            <a:avLst/>
          </a:prstGeom>
        </p:spPr>
        <p:txBody>
          <a:bodyPr lIns="0" tIns="0" rIns="0" bIns="0" rtlCol="0" anchor="t">
            <a:spAutoFit/>
          </a:bodyPr>
          <a:lstStyle/>
          <a:p>
            <a:pPr algn="l">
              <a:lnSpc>
                <a:spcPts val="2940"/>
              </a:lnSpc>
            </a:pPr>
            <a:r>
              <a:rPr lang="en-US" sz="2100" b="1">
                <a:solidFill>
                  <a:srgbClr val="FFFFFF"/>
                </a:solidFill>
                <a:latin typeface="Alice"/>
                <a:ea typeface="Poppins Bold"/>
                <a:cs typeface="Poppins Bold"/>
                <a:sym typeface="Poppins Bold"/>
              </a:rPr>
              <a:t>Bước 3: Server tìm kiếm &amp; Chuyển tiếp (Định tuyến người nhận và Gửi sang Client B) </a:t>
            </a:r>
          </a:p>
          <a:p>
            <a:pPr marL="453390" lvl="1" indent="-226695" algn="l">
              <a:lnSpc>
                <a:spcPts val="2940"/>
              </a:lnSpc>
              <a:buFont typeface="Arial"/>
              <a:buChar char="•"/>
            </a:pPr>
            <a:r>
              <a:rPr lang="en-US" sz="2100">
                <a:solidFill>
                  <a:srgbClr val="FFFFFF"/>
                </a:solidFill>
                <a:latin typeface="Alice"/>
                <a:ea typeface="Poppins"/>
                <a:cs typeface="Poppins"/>
                <a:sym typeface="Poppins"/>
              </a:rPr>
              <a:t>Tra cứu kết nối: Server kiểm tra thông tin người nhận (tin nhắn cá nhân hoặc nhóm) và tra trong danh sách kết nối (ClientConnection) để lấy đúng Socket của Client B. </a:t>
            </a:r>
          </a:p>
          <a:p>
            <a:pPr marL="453390" lvl="1" indent="-226695" algn="l">
              <a:lnSpc>
                <a:spcPts val="2940"/>
              </a:lnSpc>
              <a:buFont typeface="Arial"/>
              <a:buChar char="•"/>
            </a:pPr>
            <a:r>
              <a:rPr lang="en-US" sz="2100">
                <a:solidFill>
                  <a:srgbClr val="FFFFFF"/>
                </a:solidFill>
                <a:latin typeface="Alice"/>
                <a:ea typeface="Poppins"/>
                <a:cs typeface="Poppins"/>
                <a:sym typeface="Poppins"/>
              </a:rPr>
              <a:t>Đóng gói lại: Hàm SendMessage của Server mã hóa đối tượng tin nhắn thành chuỗi JSON và chuyển về dạng mảng byte. </a:t>
            </a:r>
          </a:p>
          <a:p>
            <a:pPr marL="453390" lvl="1" indent="-226695" algn="l">
              <a:lnSpc>
                <a:spcPts val="2940"/>
              </a:lnSpc>
              <a:buFont typeface="Arial"/>
              <a:buChar char="•"/>
            </a:pPr>
            <a:r>
              <a:rPr lang="en-US" sz="2100">
                <a:solidFill>
                  <a:srgbClr val="FFFFFF"/>
                </a:solidFill>
                <a:latin typeface="Alice"/>
                <a:ea typeface="Poppins"/>
                <a:cs typeface="Poppins"/>
                <a:sym typeface="Poppins"/>
              </a:rPr>
              <a:t>Ghi sang Socket B: Server gọi lệnh stream.Write() đẩy trực tiếp mảng byte qua luồng kết nối của Client B. </a:t>
            </a:r>
          </a:p>
          <a:p>
            <a:pPr algn="l">
              <a:lnSpc>
                <a:spcPts val="2940"/>
              </a:lnSpc>
              <a:spcBef>
                <a:spcPct val="0"/>
              </a:spcBef>
            </a:pPr>
            <a:endParaRPr lang="en-US" sz="2100">
              <a:solidFill>
                <a:srgbClr val="FFFFFF"/>
              </a:solidFill>
              <a:latin typeface="Alice"/>
              <a:ea typeface="Poppins"/>
              <a:cs typeface="Poppins"/>
              <a:sym typeface="Poppins"/>
            </a:endParaRPr>
          </a:p>
        </p:txBody>
      </p:sp>
      <p:sp>
        <p:nvSpPr>
          <p:cNvPr id="10" name="TextBox 10"/>
          <p:cNvSpPr txBox="1"/>
          <p:nvPr/>
        </p:nvSpPr>
        <p:spPr>
          <a:xfrm>
            <a:off x="479170" y="266859"/>
            <a:ext cx="14475148" cy="641201"/>
          </a:xfrm>
          <a:prstGeom prst="rect">
            <a:avLst/>
          </a:prstGeom>
        </p:spPr>
        <p:txBody>
          <a:bodyPr lIns="0" tIns="0" rIns="0" bIns="0" rtlCol="0" anchor="t">
            <a:spAutoFit/>
          </a:bodyPr>
          <a:lstStyle/>
          <a:p>
            <a:pPr algn="l">
              <a:lnSpc>
                <a:spcPts val="5040"/>
              </a:lnSpc>
            </a:pPr>
            <a:r>
              <a:rPr lang="en-US" sz="4200" b="1">
                <a:solidFill>
                  <a:srgbClr val="FFFFFF"/>
                </a:solidFill>
                <a:latin typeface="Alice"/>
                <a:ea typeface="Neo Sans Bold"/>
                <a:cs typeface="Neo Sans Bold"/>
                <a:sym typeface="Neo Sans Bold"/>
              </a:rPr>
              <a:t>LUỒNG TRUYỀN NHẬN TIN NHẮN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latin typeface="Alice"/>
              </a:endParaRPr>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latin typeface="Alice"/>
              </a:endParaRPr>
            </a:p>
          </p:txBody>
        </p:sp>
      </p:grpSp>
      <p:sp>
        <p:nvSpPr>
          <p:cNvPr id="5" name="Freeform 5"/>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6" name="Freeform 6"/>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7" name="Freeform 7"/>
          <p:cNvSpPr/>
          <p:nvPr/>
        </p:nvSpPr>
        <p:spPr>
          <a:xfrm>
            <a:off x="2463367" y="1851297"/>
            <a:ext cx="11660572" cy="2737149"/>
          </a:xfrm>
          <a:custGeom>
            <a:avLst/>
            <a:gdLst/>
            <a:ahLst/>
            <a:cxnLst/>
            <a:rect l="l" t="t" r="r" b="b"/>
            <a:pathLst>
              <a:path w="11660572" h="2737149">
                <a:moveTo>
                  <a:pt x="0" y="0"/>
                </a:moveTo>
                <a:lnTo>
                  <a:pt x="11660573" y="0"/>
                </a:lnTo>
                <a:lnTo>
                  <a:pt x="11660573" y="2737149"/>
                </a:lnTo>
                <a:lnTo>
                  <a:pt x="0" y="2737149"/>
                </a:lnTo>
                <a:lnTo>
                  <a:pt x="0" y="0"/>
                </a:lnTo>
                <a:close/>
              </a:path>
            </a:pathLst>
          </a:custGeom>
          <a:blipFill>
            <a:blip r:embed="rId4"/>
            <a:stretch>
              <a:fillRect/>
            </a:stretch>
          </a:blipFill>
        </p:spPr>
        <p:txBody>
          <a:bodyPr/>
          <a:lstStyle/>
          <a:p>
            <a:endParaRPr lang="en-US">
              <a:latin typeface="Alice"/>
            </a:endParaRPr>
          </a:p>
        </p:txBody>
      </p:sp>
      <p:sp>
        <p:nvSpPr>
          <p:cNvPr id="8" name="TextBox 8"/>
          <p:cNvSpPr txBox="1"/>
          <p:nvPr/>
        </p:nvSpPr>
        <p:spPr>
          <a:xfrm>
            <a:off x="15762422" y="735562"/>
            <a:ext cx="1421291" cy="33701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Alice"/>
                <a:ea typeface="Poppins Bold"/>
                <a:cs typeface="Poppins Bold"/>
                <a:sym typeface="Poppins Bold"/>
              </a:rPr>
              <a:t>Page 04</a:t>
            </a:r>
          </a:p>
        </p:txBody>
      </p:sp>
      <p:sp>
        <p:nvSpPr>
          <p:cNvPr id="9" name="TextBox 9"/>
          <p:cNvSpPr txBox="1"/>
          <p:nvPr/>
        </p:nvSpPr>
        <p:spPr>
          <a:xfrm>
            <a:off x="2765059" y="4952053"/>
            <a:ext cx="11295174" cy="3325206"/>
          </a:xfrm>
          <a:prstGeom prst="rect">
            <a:avLst/>
          </a:prstGeom>
        </p:spPr>
        <p:txBody>
          <a:bodyPr lIns="0" tIns="0" rIns="0" bIns="0" rtlCol="0" anchor="t">
            <a:spAutoFit/>
          </a:bodyPr>
          <a:lstStyle/>
          <a:p>
            <a:pPr algn="l">
              <a:lnSpc>
                <a:spcPts val="2940"/>
              </a:lnSpc>
            </a:pPr>
            <a:r>
              <a:rPr lang="en-US" sz="2100" b="1">
                <a:solidFill>
                  <a:srgbClr val="FFFFFF"/>
                </a:solidFill>
                <a:latin typeface="Alice"/>
                <a:ea typeface="Poppins Bold"/>
                <a:cs typeface="Poppins Bold"/>
                <a:sym typeface="Poppins Bold"/>
              </a:rPr>
              <a:t> Bước 4: Client B nhận dữ liệu &amp; Cập nhật giao diện (Luồng ngầm và Đẩy lên UI) </a:t>
            </a:r>
          </a:p>
          <a:p>
            <a:pPr marL="453390" lvl="1" indent="-226695" algn="l">
              <a:lnSpc>
                <a:spcPts val="2940"/>
              </a:lnSpc>
              <a:buFont typeface="Arial"/>
              <a:buChar char="•"/>
            </a:pPr>
            <a:r>
              <a:rPr lang="en-US" sz="2100">
                <a:solidFill>
                  <a:srgbClr val="FFFFFF"/>
                </a:solidFill>
                <a:latin typeface="Alice"/>
                <a:ea typeface="Poppins"/>
                <a:cs typeface="Poppins"/>
                <a:sym typeface="Poppins"/>
              </a:rPr>
              <a:t>Lắng nghe luồng ngầm: Luồng ngầm (receiveThread) của Client B đọc mảng byte từ Server, bóc tách bằng ký tự \n và đổi thành đối tượng ChatMessage. </a:t>
            </a:r>
          </a:p>
          <a:p>
            <a:pPr marL="453390" lvl="1" indent="-226695" algn="l">
              <a:lnSpc>
                <a:spcPts val="2940"/>
              </a:lnSpc>
              <a:buFont typeface="Arial"/>
              <a:buChar char="•"/>
            </a:pPr>
            <a:r>
              <a:rPr lang="en-US" sz="2100">
                <a:solidFill>
                  <a:srgbClr val="FFFFFF"/>
                </a:solidFill>
                <a:latin typeface="Alice"/>
                <a:ea typeface="Poppins"/>
                <a:cs typeface="Poppins"/>
                <a:sym typeface="Poppins"/>
              </a:rPr>
              <a:t>Phát sự kiện (Event): Hàm HandleIncomingMessage kiểm tra loại tin nhắn (cá nhân DirectChat hoặc nhóm GroupChat) rồi kích hoạt sự kiện OnMessageReceived. </a:t>
            </a:r>
          </a:p>
          <a:p>
            <a:pPr marL="453390" lvl="1" indent="-226695" algn="l">
              <a:lnSpc>
                <a:spcPts val="2940"/>
              </a:lnSpc>
              <a:buFont typeface="Arial"/>
              <a:buChar char="•"/>
            </a:pPr>
            <a:r>
              <a:rPr lang="en-US" sz="2100">
                <a:solidFill>
                  <a:srgbClr val="FFFFFF"/>
                </a:solidFill>
                <a:latin typeface="Alice"/>
                <a:ea typeface="Poppins"/>
                <a:cs typeface="Poppins"/>
                <a:sym typeface="Poppins"/>
              </a:rPr>
              <a:t>Đồng bộ UI (Invoke): Do WinForms không cho phép luồng ngầm can thiệp trực tiếp vào giao diện, hàm xử lý trên Form dùng Invoke() để chuyển luồng an toàn, tự động chèn tin nhắn mới vào khung chat hiển thị cho người dùng. </a:t>
            </a:r>
          </a:p>
          <a:p>
            <a:pPr algn="l">
              <a:lnSpc>
                <a:spcPts val="2940"/>
              </a:lnSpc>
              <a:spcBef>
                <a:spcPct val="0"/>
              </a:spcBef>
            </a:pPr>
            <a:endParaRPr lang="en-US" sz="2100">
              <a:solidFill>
                <a:srgbClr val="FFFFFF"/>
              </a:solidFill>
              <a:latin typeface="Alice"/>
              <a:ea typeface="Poppins"/>
              <a:cs typeface="Poppins"/>
              <a:sym typeface="Poppins"/>
            </a:endParaRPr>
          </a:p>
        </p:txBody>
      </p:sp>
      <p:sp>
        <p:nvSpPr>
          <p:cNvPr id="10" name="TextBox 10"/>
          <p:cNvSpPr txBox="1"/>
          <p:nvPr/>
        </p:nvSpPr>
        <p:spPr>
          <a:xfrm>
            <a:off x="479170" y="266859"/>
            <a:ext cx="14475148" cy="641201"/>
          </a:xfrm>
          <a:prstGeom prst="rect">
            <a:avLst/>
          </a:prstGeom>
        </p:spPr>
        <p:txBody>
          <a:bodyPr lIns="0" tIns="0" rIns="0" bIns="0" rtlCol="0" anchor="t">
            <a:spAutoFit/>
          </a:bodyPr>
          <a:lstStyle/>
          <a:p>
            <a:pPr algn="l">
              <a:lnSpc>
                <a:spcPts val="5040"/>
              </a:lnSpc>
            </a:pPr>
            <a:r>
              <a:rPr lang="en-US" sz="4200" b="1">
                <a:solidFill>
                  <a:srgbClr val="FFFFFF"/>
                </a:solidFill>
                <a:latin typeface="Alice"/>
                <a:ea typeface="Neo Sans Bold"/>
                <a:cs typeface="Neo Sans Bold"/>
                <a:sym typeface="Neo Sans Bold"/>
              </a:rPr>
              <a:t>LUỒNG TRUYỀN NHẬN TIN NHẮN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5513352" y="667880"/>
            <a:ext cx="1919429" cy="566532"/>
            <a:chOff x="0" y="0"/>
            <a:chExt cx="505529" cy="149210"/>
          </a:xfrm>
        </p:grpSpPr>
        <p:sp>
          <p:nvSpPr>
            <p:cNvPr id="3" name="Freeform 3"/>
            <p:cNvSpPr/>
            <p:nvPr/>
          </p:nvSpPr>
          <p:spPr>
            <a:xfrm>
              <a:off x="0" y="0"/>
              <a:ext cx="505529" cy="149210"/>
            </a:xfrm>
            <a:custGeom>
              <a:avLst/>
              <a:gdLst/>
              <a:ahLst/>
              <a:cxnLst/>
              <a:rect l="l" t="t" r="r" b="b"/>
              <a:pathLst>
                <a:path w="505529" h="149210">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solidFill>
              <a:srgbClr val="00FFFF"/>
            </a:solidFill>
          </p:spPr>
          <p:txBody>
            <a:bodyPr/>
            <a:lstStyle/>
            <a:p>
              <a:endParaRPr lang="en-US">
                <a:latin typeface="Alice"/>
              </a:endParaRPr>
            </a:p>
          </p:txBody>
        </p:sp>
        <p:sp>
          <p:nvSpPr>
            <p:cNvPr id="4" name="TextBox 4"/>
            <p:cNvSpPr txBox="1"/>
            <p:nvPr/>
          </p:nvSpPr>
          <p:spPr>
            <a:xfrm>
              <a:off x="0" y="-57150"/>
              <a:ext cx="505529" cy="206360"/>
            </a:xfrm>
            <a:prstGeom prst="rect">
              <a:avLst/>
            </a:prstGeom>
          </p:spPr>
          <p:txBody>
            <a:bodyPr lIns="50800" tIns="50800" rIns="50800" bIns="50800" rtlCol="0" anchor="ctr"/>
            <a:lstStyle/>
            <a:p>
              <a:pPr algn="ctr">
                <a:lnSpc>
                  <a:spcPts val="2659"/>
                </a:lnSpc>
              </a:pPr>
              <a:endParaRPr>
                <a:latin typeface="Alice"/>
              </a:endParaRPr>
            </a:p>
          </p:txBody>
        </p:sp>
      </p:grpSp>
      <p:sp>
        <p:nvSpPr>
          <p:cNvPr id="5" name="Freeform 5"/>
          <p:cNvSpPr/>
          <p:nvPr/>
        </p:nvSpPr>
        <p:spPr>
          <a:xfrm>
            <a:off x="9992" y="8073046"/>
            <a:ext cx="18288000" cy="2370507"/>
          </a:xfrm>
          <a:custGeom>
            <a:avLst/>
            <a:gdLst/>
            <a:ahLst/>
            <a:cxnLst/>
            <a:rect l="l" t="t" r="r" b="b"/>
            <a:pathLst>
              <a:path w="18288000" h="2370507">
                <a:moveTo>
                  <a:pt x="0" y="0"/>
                </a:moveTo>
                <a:lnTo>
                  <a:pt x="18288000" y="0"/>
                </a:lnTo>
                <a:lnTo>
                  <a:pt x="18288000" y="2370508"/>
                </a:lnTo>
                <a:lnTo>
                  <a:pt x="0" y="2370508"/>
                </a:lnTo>
                <a:lnTo>
                  <a:pt x="0" y="0"/>
                </a:lnTo>
                <a:close/>
              </a:path>
            </a:pathLst>
          </a:custGeom>
          <a:blipFill>
            <a:blip>
              <a:extLst>
                <a:ext uri="{96DAC541-7B7A-43D3-8B79-37D633B846F1}">
                  <asvg:svgBlip xmlns:asvg="http://schemas.microsoft.com/office/drawing/2016/SVG/main" r:embed="rId2"/>
                </a:ext>
              </a:extLst>
            </a:blip>
            <a:stretch>
              <a:fillRect b="-222463"/>
            </a:stretch>
          </a:blipFill>
        </p:spPr>
        <p:txBody>
          <a:bodyPr/>
          <a:lstStyle/>
          <a:p>
            <a:endParaRPr lang="en-US">
              <a:latin typeface="Alice"/>
            </a:endParaRPr>
          </a:p>
        </p:txBody>
      </p:sp>
      <p:sp>
        <p:nvSpPr>
          <p:cNvPr id="6" name="TextBox 6"/>
          <p:cNvSpPr txBox="1"/>
          <p:nvPr/>
        </p:nvSpPr>
        <p:spPr>
          <a:xfrm>
            <a:off x="15762422" y="735562"/>
            <a:ext cx="1421291" cy="337015"/>
          </a:xfrm>
          <a:prstGeom prst="rect">
            <a:avLst/>
          </a:prstGeom>
        </p:spPr>
        <p:txBody>
          <a:bodyPr lIns="0" tIns="0" rIns="0" bIns="0" rtlCol="0" anchor="t">
            <a:spAutoFit/>
          </a:bodyPr>
          <a:lstStyle/>
          <a:p>
            <a:pPr algn="ctr">
              <a:lnSpc>
                <a:spcPts val="2799"/>
              </a:lnSpc>
              <a:spcBef>
                <a:spcPct val="0"/>
              </a:spcBef>
            </a:pPr>
            <a:r>
              <a:rPr lang="en-US" sz="1999" b="1" spc="3">
                <a:solidFill>
                  <a:srgbClr val="004286"/>
                </a:solidFill>
                <a:latin typeface="Alice"/>
                <a:ea typeface="Poppins Bold"/>
                <a:cs typeface="Poppins Bold"/>
                <a:sym typeface="Poppins Bold"/>
              </a:rPr>
              <a:t>Page 07</a:t>
            </a:r>
          </a:p>
        </p:txBody>
      </p:sp>
      <p:sp>
        <p:nvSpPr>
          <p:cNvPr id="7" name="TextBox 7"/>
          <p:cNvSpPr txBox="1"/>
          <p:nvPr/>
        </p:nvSpPr>
        <p:spPr>
          <a:xfrm>
            <a:off x="287805" y="261154"/>
            <a:ext cx="15225547" cy="597087"/>
          </a:xfrm>
          <a:prstGeom prst="rect">
            <a:avLst/>
          </a:prstGeom>
        </p:spPr>
        <p:txBody>
          <a:bodyPr lIns="0" tIns="0" rIns="0" bIns="0" rtlCol="0" anchor="t">
            <a:spAutoFit/>
          </a:bodyPr>
          <a:lstStyle/>
          <a:p>
            <a:pPr algn="l">
              <a:lnSpc>
                <a:spcPts val="4799"/>
              </a:lnSpc>
            </a:pPr>
            <a:r>
              <a:rPr lang="en-US" sz="3999" b="1">
                <a:solidFill>
                  <a:srgbClr val="FFFFFF"/>
                </a:solidFill>
                <a:latin typeface="Alice"/>
                <a:ea typeface="Neo Sans Bold"/>
                <a:cs typeface="Neo Sans Bold"/>
                <a:sym typeface="Neo Sans Bold"/>
              </a:rPr>
              <a:t>CẤU TRÚC MÃ NGUỒN &amp; GIẢI PHÁP KỸ THUẬT</a:t>
            </a:r>
          </a:p>
        </p:txBody>
      </p:sp>
      <p:sp>
        <p:nvSpPr>
          <p:cNvPr id="8" name="TextBox 8"/>
          <p:cNvSpPr txBox="1"/>
          <p:nvPr/>
        </p:nvSpPr>
        <p:spPr>
          <a:xfrm>
            <a:off x="2794633" y="1928177"/>
            <a:ext cx="12718720" cy="5691558"/>
          </a:xfrm>
          <a:prstGeom prst="rect">
            <a:avLst/>
          </a:prstGeom>
        </p:spPr>
        <p:txBody>
          <a:bodyPr lIns="0" tIns="0" rIns="0" bIns="0" rtlCol="0" anchor="t">
            <a:spAutoFit/>
          </a:bodyPr>
          <a:lstStyle/>
          <a:p>
            <a:pPr algn="l">
              <a:lnSpc>
                <a:spcPts val="3219"/>
              </a:lnSpc>
            </a:pPr>
            <a:r>
              <a:rPr lang="en-US" sz="2299" b="1">
                <a:solidFill>
                  <a:srgbClr val="FFFFFF"/>
                </a:solidFill>
                <a:latin typeface="Alice"/>
                <a:ea typeface="Poppins Bold"/>
                <a:cs typeface="Poppins Bold"/>
                <a:sym typeface="Poppins Bold"/>
              </a:rPr>
              <a:t>Các lớp mã nguồn cốt lõi:</a:t>
            </a:r>
          </a:p>
          <a:p>
            <a:pPr marL="496569" lvl="1" indent="-248284" algn="l">
              <a:lnSpc>
                <a:spcPts val="3219"/>
              </a:lnSpc>
              <a:buFont typeface="Arial"/>
              <a:buChar char="•"/>
            </a:pPr>
            <a:r>
              <a:rPr lang="en-US" sz="2299">
                <a:solidFill>
                  <a:srgbClr val="FFFFFF"/>
                </a:solidFill>
                <a:latin typeface="Alice"/>
                <a:ea typeface="Poppins"/>
                <a:cs typeface="Poppins"/>
                <a:sym typeface="Poppins"/>
              </a:rPr>
              <a:t>TcpClientManager.cs: Quản lý Socket TCP tầng giao vận; duy trì receiveThread ngầm (IsBackground = true) để đọc dữ liệu không làm treo UI.</a:t>
            </a:r>
          </a:p>
          <a:p>
            <a:pPr marL="496569" lvl="1" indent="-248284" algn="l">
              <a:lnSpc>
                <a:spcPts val="3219"/>
              </a:lnSpc>
              <a:buFont typeface="Arial"/>
              <a:buChar char="•"/>
            </a:pPr>
            <a:r>
              <a:rPr lang="en-US" sz="2299">
                <a:solidFill>
                  <a:srgbClr val="FFFFFF"/>
                </a:solidFill>
                <a:latin typeface="Alice"/>
                <a:ea typeface="Poppins"/>
                <a:cs typeface="Poppins"/>
                <a:sym typeface="Poppins"/>
              </a:rPr>
              <a:t>ChatService.cs: Quản lý logic nghiệp vụ chat, phân loại MessageType và xử lý trạng thái Reply (ActiveReplyTarget, AttachReplyInfo()). </a:t>
            </a:r>
          </a:p>
          <a:p>
            <a:pPr marL="496569" lvl="1" indent="-248284" algn="l">
              <a:lnSpc>
                <a:spcPts val="3219"/>
              </a:lnSpc>
              <a:buFont typeface="Arial"/>
              <a:buChar char="•"/>
            </a:pPr>
            <a:r>
              <a:rPr lang="en-US" sz="2299">
                <a:solidFill>
                  <a:srgbClr val="FFFFFF"/>
                </a:solidFill>
                <a:latin typeface="Alice"/>
                <a:ea typeface="Poppins"/>
                <a:cs typeface="Poppins"/>
                <a:sym typeface="Poppins"/>
              </a:rPr>
              <a:t>MessageParser.cs: Đóng vai trò "thông dịch viên" serialization/deserialization dữ liệu JSON. </a:t>
            </a:r>
          </a:p>
          <a:p>
            <a:pPr algn="l">
              <a:lnSpc>
                <a:spcPts val="3219"/>
              </a:lnSpc>
            </a:pPr>
            <a:r>
              <a:rPr lang="en-US" sz="2299" b="1">
                <a:solidFill>
                  <a:srgbClr val="FFFFFF"/>
                </a:solidFill>
                <a:latin typeface="Alice"/>
                <a:ea typeface="Poppins Bold"/>
                <a:cs typeface="Poppins Bold"/>
                <a:sym typeface="Poppins Bold"/>
              </a:rPr>
              <a:t>Giải pháp kỹ thuật nổi bật:</a:t>
            </a:r>
          </a:p>
          <a:p>
            <a:pPr marL="496569" lvl="1" indent="-248284" algn="l">
              <a:lnSpc>
                <a:spcPts val="3219"/>
              </a:lnSpc>
              <a:buFont typeface="Arial"/>
              <a:buChar char="•"/>
            </a:pPr>
            <a:r>
              <a:rPr lang="en-US" sz="2299">
                <a:solidFill>
                  <a:srgbClr val="FFFFFF"/>
                </a:solidFill>
                <a:latin typeface="Alice"/>
                <a:ea typeface="Poppins"/>
                <a:cs typeface="Poppins"/>
                <a:sym typeface="Poppins"/>
              </a:rPr>
              <a:t>Xử lý dính gói TCP (TC_11): Thêm ký tự \n làm dấu phân cách ở cuối chuỗi JSON khi gửi; phía nhận cắt chính xác từng tin nhắn bằng vòng lặp while (receivedData.Contains("\n")). </a:t>
            </a:r>
          </a:p>
          <a:p>
            <a:pPr marL="496569" lvl="1" indent="-248284" algn="l">
              <a:lnSpc>
                <a:spcPts val="3219"/>
              </a:lnSpc>
              <a:buFont typeface="Arial"/>
              <a:buChar char="•"/>
            </a:pPr>
            <a:r>
              <a:rPr lang="en-US" sz="2299">
                <a:solidFill>
                  <a:srgbClr val="FFFFFF"/>
                </a:solidFill>
                <a:latin typeface="Alice"/>
                <a:ea typeface="Poppins"/>
                <a:cs typeface="Poppins"/>
                <a:sym typeface="Poppins"/>
              </a:rPr>
              <a:t>Đồng bộ đa luồng WinForms (TC_12): Sử dụng Invoke / BeginInvoke để chuyển dữ liệu an toàn từ Thread mạng (receiveThread) sang Thread giao diện (UI). </a:t>
            </a:r>
          </a:p>
          <a:p>
            <a:pPr marL="496569" lvl="1" indent="-248284" algn="l">
              <a:lnSpc>
                <a:spcPts val="3219"/>
              </a:lnSpc>
              <a:buFont typeface="Arial"/>
              <a:buChar char="•"/>
            </a:pPr>
            <a:r>
              <a:rPr lang="en-US" sz="2299">
                <a:solidFill>
                  <a:srgbClr val="FFFFFF"/>
                </a:solidFill>
                <a:latin typeface="Alice"/>
                <a:ea typeface="Poppins"/>
                <a:cs typeface="Poppins"/>
                <a:sym typeface="Poppins"/>
              </a:rPr>
              <a:t>An toàn kết nối: Bọc các thao tác truyền/nhận trong try...catch để tự động dọn dẹp tài nguyên và cập nhật trạng thái Offline khi ngắt kết nối đột ngột. </a:t>
            </a:r>
          </a:p>
          <a:p>
            <a:pPr algn="l">
              <a:lnSpc>
                <a:spcPts val="2940"/>
              </a:lnSpc>
              <a:spcBef>
                <a:spcPct val="0"/>
              </a:spcBef>
            </a:pPr>
            <a:endParaRPr lang="en-US" sz="2299">
              <a:solidFill>
                <a:srgbClr val="FFFFFF"/>
              </a:solidFill>
              <a:latin typeface="Alice"/>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596344" y="2163733"/>
            <a:ext cx="10725909" cy="10530893"/>
          </a:xfrm>
          <a:custGeom>
            <a:avLst/>
            <a:gdLst/>
            <a:ahLst/>
            <a:cxnLst/>
            <a:rect l="l" t="t" r="r" b="b"/>
            <a:pathLst>
              <a:path w="10725909" h="10530893">
                <a:moveTo>
                  <a:pt x="0" y="0"/>
                </a:moveTo>
                <a:lnTo>
                  <a:pt x="10725909" y="0"/>
                </a:lnTo>
                <a:lnTo>
                  <a:pt x="10725909" y="10530892"/>
                </a:lnTo>
                <a:lnTo>
                  <a:pt x="0" y="105308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390939" y="2871101"/>
            <a:ext cx="8760145" cy="876014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525" r="-12525"/>
              </a:stretch>
            </a:blipFill>
          </p:spPr>
          <p:txBody>
            <a:bodyPr/>
            <a:lstStyle/>
            <a:p>
              <a:endParaRPr lang="en-US"/>
            </a:p>
          </p:txBody>
        </p:sp>
      </p:grpSp>
      <p:sp>
        <p:nvSpPr>
          <p:cNvPr id="5" name="Freeform 5"/>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7468702" y="9267825"/>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grpSp>
        <p:nvGrpSpPr>
          <p:cNvPr id="9" name="Group 9"/>
          <p:cNvGrpSpPr/>
          <p:nvPr/>
        </p:nvGrpSpPr>
        <p:grpSpPr>
          <a:xfrm>
            <a:off x="7999517" y="9427951"/>
            <a:ext cx="132088" cy="1320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p>
          </p:txBody>
        </p:sp>
      </p:grpSp>
      <p:sp>
        <p:nvSpPr>
          <p:cNvPr id="12" name="TextBox 12"/>
          <p:cNvSpPr txBox="1"/>
          <p:nvPr/>
        </p:nvSpPr>
        <p:spPr>
          <a:xfrm>
            <a:off x="1876536" y="2982397"/>
            <a:ext cx="5625247" cy="2066925"/>
          </a:xfrm>
          <a:prstGeom prst="rect">
            <a:avLst/>
          </a:prstGeom>
        </p:spPr>
        <p:txBody>
          <a:bodyPr lIns="0" tIns="0" rIns="0" bIns="0" rtlCol="0" anchor="t">
            <a:spAutoFit/>
          </a:bodyPr>
          <a:lstStyle/>
          <a:p>
            <a:pPr algn="l">
              <a:lnSpc>
                <a:spcPts val="14279"/>
              </a:lnSpc>
            </a:pPr>
            <a:r>
              <a:rPr lang="en-US" sz="11899" b="1">
                <a:solidFill>
                  <a:srgbClr val="FFFFFF"/>
                </a:solidFill>
                <a:latin typeface="Neo Sans Bold"/>
                <a:ea typeface="Neo Sans Bold"/>
                <a:cs typeface="Neo Sans Bold"/>
                <a:sym typeface="Neo Sans Bold"/>
              </a:rPr>
              <a:t>CHAT</a:t>
            </a:r>
          </a:p>
        </p:txBody>
      </p:sp>
      <p:sp>
        <p:nvSpPr>
          <p:cNvPr id="13" name="TextBox 13"/>
          <p:cNvSpPr txBox="1"/>
          <p:nvPr/>
        </p:nvSpPr>
        <p:spPr>
          <a:xfrm>
            <a:off x="1876536" y="4561403"/>
            <a:ext cx="11448510" cy="2514600"/>
          </a:xfrm>
          <a:prstGeom prst="rect">
            <a:avLst/>
          </a:prstGeom>
        </p:spPr>
        <p:txBody>
          <a:bodyPr lIns="0" tIns="0" rIns="0" bIns="0" rtlCol="0" anchor="t">
            <a:spAutoFit/>
          </a:bodyPr>
          <a:lstStyle/>
          <a:p>
            <a:pPr algn="l">
              <a:lnSpc>
                <a:spcPts val="17343"/>
              </a:lnSpc>
            </a:pPr>
            <a:r>
              <a:rPr lang="en-US" sz="14453" b="1">
                <a:solidFill>
                  <a:srgbClr val="FFFFFF"/>
                </a:solidFill>
                <a:latin typeface="Neo Sans Bold"/>
                <a:ea typeface="Neo Sans Bold"/>
                <a:cs typeface="Neo Sans Bold"/>
                <a:sym typeface="Neo Sans Bold"/>
              </a:rPr>
              <a:t>GROUP</a:t>
            </a:r>
          </a:p>
        </p:txBody>
      </p:sp>
      <p:sp>
        <p:nvSpPr>
          <p:cNvPr id="14" name="Freeform 14"/>
          <p:cNvSpPr/>
          <p:nvPr/>
        </p:nvSpPr>
        <p:spPr>
          <a:xfrm rot="7047225">
            <a:off x="9980951" y="-9168065"/>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rot="7047225">
            <a:off x="-8463213" y="-10570176"/>
            <a:ext cx="15496850" cy="11298612"/>
          </a:xfrm>
          <a:custGeom>
            <a:avLst/>
            <a:gdLst/>
            <a:ahLst/>
            <a:cxnLst/>
            <a:rect l="l" t="t" r="r" b="b"/>
            <a:pathLst>
              <a:path w="15496850" h="11298612">
                <a:moveTo>
                  <a:pt x="0" y="0"/>
                </a:moveTo>
                <a:lnTo>
                  <a:pt x="15496850" y="0"/>
                </a:lnTo>
                <a:lnTo>
                  <a:pt x="15496850" y="11298612"/>
                </a:lnTo>
                <a:lnTo>
                  <a:pt x="0" y="11298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8507294" y="8429075"/>
            <a:ext cx="11261083" cy="1658450"/>
          </a:xfrm>
          <a:custGeom>
            <a:avLst/>
            <a:gdLst/>
            <a:ahLst/>
            <a:cxnLst/>
            <a:rect l="l" t="t" r="r" b="b"/>
            <a:pathLst>
              <a:path w="11261083" h="1658450">
                <a:moveTo>
                  <a:pt x="0" y="0"/>
                </a:moveTo>
                <a:lnTo>
                  <a:pt x="11261083" y="0"/>
                </a:lnTo>
                <a:lnTo>
                  <a:pt x="11261083" y="1658450"/>
                </a:lnTo>
                <a:lnTo>
                  <a:pt x="0" y="16584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7047225">
            <a:off x="12229743" y="-9830172"/>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0" y="1929957"/>
            <a:ext cx="9144000" cy="6192000"/>
          </a:xfrm>
          <a:custGeom>
            <a:avLst/>
            <a:gdLst/>
            <a:ahLst/>
            <a:cxnLst/>
            <a:rect l="l" t="t" r="r" b="b"/>
            <a:pathLst>
              <a:path w="9144000" h="6192000">
                <a:moveTo>
                  <a:pt x="0" y="0"/>
                </a:moveTo>
                <a:lnTo>
                  <a:pt x="9144000" y="0"/>
                </a:lnTo>
                <a:lnTo>
                  <a:pt x="9144000" y="6192000"/>
                </a:lnTo>
                <a:lnTo>
                  <a:pt x="0" y="6192000"/>
                </a:lnTo>
                <a:lnTo>
                  <a:pt x="0" y="0"/>
                </a:lnTo>
                <a:close/>
              </a:path>
            </a:pathLst>
          </a:custGeom>
          <a:blipFill>
            <a:blip r:embed="rId4"/>
            <a:stretch>
              <a:fillRect/>
            </a:stretch>
          </a:blipFill>
        </p:spPr>
        <p:txBody>
          <a:bodyPr/>
          <a:lstStyle/>
          <a:p>
            <a:endParaRPr lang="en-US">
              <a:latin typeface="Alice"/>
            </a:endParaRPr>
          </a:p>
        </p:txBody>
      </p:sp>
      <p:sp>
        <p:nvSpPr>
          <p:cNvPr id="5" name="Freeform 5"/>
          <p:cNvSpPr/>
          <p:nvPr/>
        </p:nvSpPr>
        <p:spPr>
          <a:xfrm>
            <a:off x="9144000" y="1929957"/>
            <a:ext cx="9122629" cy="6092061"/>
          </a:xfrm>
          <a:custGeom>
            <a:avLst/>
            <a:gdLst/>
            <a:ahLst/>
            <a:cxnLst/>
            <a:rect l="l" t="t" r="r" b="b"/>
            <a:pathLst>
              <a:path w="9122629" h="6092061">
                <a:moveTo>
                  <a:pt x="0" y="0"/>
                </a:moveTo>
                <a:lnTo>
                  <a:pt x="9122629" y="0"/>
                </a:lnTo>
                <a:lnTo>
                  <a:pt x="9122629" y="6092061"/>
                </a:lnTo>
                <a:lnTo>
                  <a:pt x="0" y="6092061"/>
                </a:lnTo>
                <a:lnTo>
                  <a:pt x="0" y="0"/>
                </a:lnTo>
                <a:close/>
              </a:path>
            </a:pathLst>
          </a:custGeom>
          <a:blipFill>
            <a:blip r:embed="rId5"/>
            <a:stretch>
              <a:fillRect/>
            </a:stretch>
          </a:blipFill>
        </p:spPr>
        <p:txBody>
          <a:bodyPr/>
          <a:lstStyle/>
          <a:p>
            <a:endParaRPr lang="en-US">
              <a:latin typeface="Alice"/>
            </a:endParaRPr>
          </a:p>
        </p:txBody>
      </p:sp>
      <p:sp>
        <p:nvSpPr>
          <p:cNvPr id="6" name="TextBox 6"/>
          <p:cNvSpPr txBox="1"/>
          <p:nvPr/>
        </p:nvSpPr>
        <p:spPr>
          <a:xfrm>
            <a:off x="332541" y="381000"/>
            <a:ext cx="4239459" cy="923330"/>
          </a:xfrm>
          <a:prstGeom prst="rect">
            <a:avLst/>
          </a:prstGeom>
        </p:spPr>
        <p:txBody>
          <a:bodyPr lIns="0" tIns="0" rIns="0" bIns="0" rtlCol="0" anchor="t">
            <a:spAutoFit/>
          </a:bodyPr>
          <a:lstStyle/>
          <a:p>
            <a:pPr algn="l">
              <a:lnSpc>
                <a:spcPts val="7210"/>
              </a:lnSpc>
            </a:pPr>
            <a:r>
              <a:rPr lang="en-US" sz="6008" b="1" i="1">
                <a:solidFill>
                  <a:srgbClr val="FFFFFF"/>
                </a:solidFill>
                <a:latin typeface="Alice"/>
                <a:ea typeface="Neo Sans Bold Italics"/>
                <a:cs typeface="Neo Sans Bold Italics"/>
                <a:sym typeface="Neo Sans Bold Italics"/>
              </a:rPr>
              <a:t>GIAO DIỆN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7047225">
            <a:off x="12229743" y="-9830172"/>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a:off x="7941951" y="199263"/>
            <a:ext cx="6118239" cy="5718200"/>
          </a:xfrm>
          <a:custGeom>
            <a:avLst/>
            <a:gdLst/>
            <a:ahLst/>
            <a:cxnLst/>
            <a:rect l="l" t="t" r="r" b="b"/>
            <a:pathLst>
              <a:path w="6118239" h="5718200">
                <a:moveTo>
                  <a:pt x="0" y="0"/>
                </a:moveTo>
                <a:lnTo>
                  <a:pt x="6118239" y="0"/>
                </a:lnTo>
                <a:lnTo>
                  <a:pt x="6118239" y="5718200"/>
                </a:lnTo>
                <a:lnTo>
                  <a:pt x="0" y="5718200"/>
                </a:lnTo>
                <a:lnTo>
                  <a:pt x="0" y="0"/>
                </a:lnTo>
                <a:close/>
              </a:path>
            </a:pathLst>
          </a:custGeom>
          <a:blipFill>
            <a:blip r:embed="rId3"/>
            <a:stretch>
              <a:fillRect/>
            </a:stretch>
          </a:blipFill>
        </p:spPr>
        <p:txBody>
          <a:bodyPr/>
          <a:lstStyle/>
          <a:p>
            <a:endParaRPr lang="en-US">
              <a:latin typeface="Alice"/>
            </a:endParaRPr>
          </a:p>
        </p:txBody>
      </p:sp>
      <p:sp>
        <p:nvSpPr>
          <p:cNvPr id="4" name="Freeform 4"/>
          <p:cNvSpPr/>
          <p:nvPr/>
        </p:nvSpPr>
        <p:spPr>
          <a:xfrm>
            <a:off x="9929950" y="5917463"/>
            <a:ext cx="7884348" cy="4258213"/>
          </a:xfrm>
          <a:custGeom>
            <a:avLst/>
            <a:gdLst/>
            <a:ahLst/>
            <a:cxnLst/>
            <a:rect l="l" t="t" r="r" b="b"/>
            <a:pathLst>
              <a:path w="7884348" h="4258213">
                <a:moveTo>
                  <a:pt x="0" y="0"/>
                </a:moveTo>
                <a:lnTo>
                  <a:pt x="7884348" y="0"/>
                </a:lnTo>
                <a:lnTo>
                  <a:pt x="7884348" y="4258213"/>
                </a:lnTo>
                <a:lnTo>
                  <a:pt x="0" y="4258213"/>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332541" y="409575"/>
            <a:ext cx="7060609" cy="782265"/>
          </a:xfrm>
          <a:prstGeom prst="rect">
            <a:avLst/>
          </a:prstGeom>
        </p:spPr>
        <p:txBody>
          <a:bodyPr lIns="0" tIns="0" rIns="0" bIns="0" rtlCol="0" anchor="t">
            <a:spAutoFit/>
          </a:bodyPr>
          <a:lstStyle/>
          <a:p>
            <a:pPr algn="l">
              <a:lnSpc>
                <a:spcPts val="6131"/>
              </a:lnSpc>
            </a:pPr>
            <a:r>
              <a:rPr lang="en-US" sz="5109" b="1" i="1">
                <a:solidFill>
                  <a:srgbClr val="FFFFFF"/>
                </a:solidFill>
                <a:latin typeface="Alice"/>
                <a:ea typeface="Neo Sans Bold Italics"/>
                <a:cs typeface="Neo Sans Bold Italics"/>
                <a:sym typeface="Neo Sans Bold Italics"/>
              </a:rPr>
              <a:t>LUỒNG TẠO NHÓM</a:t>
            </a:r>
          </a:p>
        </p:txBody>
      </p:sp>
      <p:sp>
        <p:nvSpPr>
          <p:cNvPr id="6" name="TextBox 6"/>
          <p:cNvSpPr txBox="1"/>
          <p:nvPr/>
        </p:nvSpPr>
        <p:spPr>
          <a:xfrm>
            <a:off x="0" y="2085734"/>
            <a:ext cx="7283859" cy="4700518"/>
          </a:xfrm>
          <a:prstGeom prst="rect">
            <a:avLst/>
          </a:prstGeom>
        </p:spPr>
        <p:txBody>
          <a:bodyPr lIns="0" tIns="0" rIns="0" bIns="0" rtlCol="0" anchor="t">
            <a:spAutoFit/>
          </a:bodyPr>
          <a:lstStyle/>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CreateGroupForm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lấy</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tên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nhóm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danh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sách</a:t>
            </a:r>
            <a:r>
              <a:rPr lang="en-US" sz="2951" b="1" spc="5" dirty="0">
                <a:solidFill>
                  <a:srgbClr val="FFFFFF"/>
                </a:solidFill>
                <a:latin typeface="Alice"/>
                <a:ea typeface="Poppins Bold"/>
                <a:cs typeface="Poppins Bold"/>
                <a:sym typeface="Poppins Bold"/>
              </a:rPr>
              <a:t> ID </a:t>
            </a:r>
            <a:r>
              <a:rPr lang="en-US" sz="2951" b="1" spc="5" dirty="0" err="1">
                <a:solidFill>
                  <a:srgbClr val="FFFFFF"/>
                </a:solidFill>
                <a:latin typeface="Alice"/>
                <a:ea typeface="Poppins Bold"/>
                <a:cs typeface="Poppins Bold"/>
                <a:sym typeface="Poppins Bold"/>
              </a:rPr>
              <a:t>thành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viên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dưới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dạng</a:t>
            </a:r>
            <a:r>
              <a:rPr lang="en-US" sz="2951" b="1" spc="5" dirty="0">
                <a:solidFill>
                  <a:srgbClr val="FFFFFF"/>
                </a:solidFill>
                <a:latin typeface="Alice"/>
                <a:ea typeface="Poppins Bold"/>
                <a:cs typeface="Poppins Bold"/>
                <a:sym typeface="Poppins Bold"/>
              </a:rPr>
              <a:t> List&lt;int&gt;.</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GroupService</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sử</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dụng</a:t>
            </a:r>
            <a:r>
              <a:rPr lang="en-US" sz="2951" b="1" spc="5" dirty="0">
                <a:solidFill>
                  <a:srgbClr val="FFFFFF"/>
                </a:solidFill>
                <a:latin typeface="Alice"/>
                <a:ea typeface="Poppins Bold"/>
                <a:cs typeface="Poppins Bold"/>
                <a:sym typeface="Poppins Bold"/>
              </a:rPr>
              <a:t> Where()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Distinct()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chuẩn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hóa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MemberIds</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CreateGroupRequest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được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tuần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tự</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hóa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thành</a:t>
            </a:r>
            <a:r>
              <a:rPr lang="en-US" sz="2951" b="1" spc="5" dirty="0">
                <a:solidFill>
                  <a:srgbClr val="FFFFFF"/>
                </a:solidFill>
                <a:latin typeface="Alice"/>
                <a:ea typeface="Poppins Bold"/>
                <a:cs typeface="Poppins Bold"/>
                <a:sym typeface="Poppins Bold"/>
              </a:rPr>
              <a:t> JSON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gửi</a:t>
            </a:r>
            <a:r>
              <a:rPr lang="en-US" sz="2951" b="1" spc="5" dirty="0">
                <a:solidFill>
                  <a:srgbClr val="FFFFFF"/>
                </a:solidFill>
                <a:latin typeface="Alice"/>
                <a:ea typeface="Poppins Bold"/>
                <a:cs typeface="Poppins Bold"/>
                <a:sym typeface="Poppins Bold"/>
              </a:rPr>
              <a:t> qua TCP.</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Server </a:t>
            </a:r>
            <a:r>
              <a:rPr lang="en-US" sz="2951" b="1" spc="5" dirty="0" err="1">
                <a:solidFill>
                  <a:srgbClr val="FFFFFF"/>
                </a:solidFill>
                <a:latin typeface="Alice"/>
                <a:ea typeface="Poppins Bold"/>
                <a:cs typeface="Poppins Bold"/>
                <a:sym typeface="Poppins Bold"/>
              </a:rPr>
              <a:t>bổ</a:t>
            </a:r>
            <a:r>
              <a:rPr lang="en-US" sz="2951" b="1" spc="5" dirty="0">
                <a:solidFill>
                  <a:srgbClr val="FFFFFF"/>
                </a:solidFill>
                <a:latin typeface="Alice"/>
                <a:ea typeface="Poppins Bold"/>
                <a:cs typeface="Poppins Bold"/>
                <a:sym typeface="Poppins Bold"/>
              </a:rPr>
              <a:t> sung ID </a:t>
            </a:r>
            <a:r>
              <a:rPr lang="en-US" sz="2951" b="1" spc="5" dirty="0" err="1">
                <a:solidFill>
                  <a:srgbClr val="FFFFFF"/>
                </a:solidFill>
                <a:latin typeface="Alice"/>
                <a:ea typeface="Poppins Bold"/>
                <a:cs typeface="Poppins Bold"/>
                <a:sym typeface="Poppins Bold"/>
              </a:rPr>
              <a:t>người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tạo</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vào</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MemberIds</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gán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CreatedBy</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xác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định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nhóm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trưởng</a:t>
            </a:r>
            <a:r>
              <a:rPr lang="en-US" sz="2951" b="1" spc="5" dirty="0">
                <a:solidFill>
                  <a:srgbClr val="FFFFFF"/>
                </a:solidFill>
                <a:latin typeface="Alice"/>
                <a:ea typeface="Poppins Bold"/>
                <a:cs typeface="Poppins Bold"/>
                <a:sym typeface="Poppins Bold"/>
              </a:rPr>
              <a:t>.</a:t>
            </a:r>
          </a:p>
        </p:txBody>
      </p:sp>
      <p:sp>
        <p:nvSpPr>
          <p:cNvPr id="7" name="Freeform 7"/>
          <p:cNvSpPr/>
          <p:nvPr/>
        </p:nvSpPr>
        <p:spPr>
          <a:xfrm flipH="1">
            <a:off x="-1453094" y="8773143"/>
            <a:ext cx="11261083" cy="1658450"/>
          </a:xfrm>
          <a:custGeom>
            <a:avLst/>
            <a:gdLst/>
            <a:ahLst/>
            <a:cxnLst/>
            <a:rect l="l" t="t" r="r" b="b"/>
            <a:pathLst>
              <a:path w="11261083" h="1658450">
                <a:moveTo>
                  <a:pt x="11261083" y="0"/>
                </a:moveTo>
                <a:lnTo>
                  <a:pt x="0" y="0"/>
                </a:lnTo>
                <a:lnTo>
                  <a:pt x="0" y="1658451"/>
                </a:lnTo>
                <a:lnTo>
                  <a:pt x="11261083" y="1658451"/>
                </a:lnTo>
                <a:lnTo>
                  <a:pt x="1126108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latin typeface="Alic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7047225">
            <a:off x="12229743" y="-9830172"/>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a:off x="11175755" y="504825"/>
            <a:ext cx="7112245" cy="5802971"/>
          </a:xfrm>
          <a:custGeom>
            <a:avLst/>
            <a:gdLst/>
            <a:ahLst/>
            <a:cxnLst/>
            <a:rect l="l" t="t" r="r" b="b"/>
            <a:pathLst>
              <a:path w="7112245" h="5802971">
                <a:moveTo>
                  <a:pt x="0" y="0"/>
                </a:moveTo>
                <a:lnTo>
                  <a:pt x="7112245" y="0"/>
                </a:lnTo>
                <a:lnTo>
                  <a:pt x="7112245" y="5802971"/>
                </a:lnTo>
                <a:lnTo>
                  <a:pt x="0" y="5802971"/>
                </a:lnTo>
                <a:lnTo>
                  <a:pt x="0" y="0"/>
                </a:lnTo>
                <a:close/>
              </a:path>
            </a:pathLst>
          </a:custGeom>
          <a:blipFill>
            <a:blip r:embed="rId3"/>
            <a:stretch>
              <a:fillRect/>
            </a:stretch>
          </a:blipFill>
        </p:spPr>
        <p:txBody>
          <a:bodyPr/>
          <a:lstStyle/>
          <a:p>
            <a:endParaRPr lang="en-US">
              <a:latin typeface="Alice"/>
            </a:endParaRPr>
          </a:p>
        </p:txBody>
      </p:sp>
      <p:sp>
        <p:nvSpPr>
          <p:cNvPr id="4" name="Freeform 4"/>
          <p:cNvSpPr/>
          <p:nvPr/>
        </p:nvSpPr>
        <p:spPr>
          <a:xfrm>
            <a:off x="7555406" y="6307796"/>
            <a:ext cx="10732594" cy="3141661"/>
          </a:xfrm>
          <a:custGeom>
            <a:avLst/>
            <a:gdLst/>
            <a:ahLst/>
            <a:cxnLst/>
            <a:rect l="l" t="t" r="r" b="b"/>
            <a:pathLst>
              <a:path w="10732594" h="3141661">
                <a:moveTo>
                  <a:pt x="0" y="0"/>
                </a:moveTo>
                <a:lnTo>
                  <a:pt x="10732594" y="0"/>
                </a:lnTo>
                <a:lnTo>
                  <a:pt x="10732594" y="3141661"/>
                </a:lnTo>
                <a:lnTo>
                  <a:pt x="0" y="3141661"/>
                </a:lnTo>
                <a:lnTo>
                  <a:pt x="0" y="0"/>
                </a:lnTo>
                <a:close/>
              </a:path>
            </a:pathLst>
          </a:custGeom>
          <a:blipFill>
            <a:blip r:embed="rId4"/>
            <a:stretch>
              <a:fillRect/>
            </a:stretch>
          </a:blipFill>
        </p:spPr>
        <p:txBody>
          <a:bodyPr/>
          <a:lstStyle/>
          <a:p>
            <a:endParaRPr lang="en-US">
              <a:latin typeface="Alice"/>
            </a:endParaRPr>
          </a:p>
        </p:txBody>
      </p:sp>
      <p:sp>
        <p:nvSpPr>
          <p:cNvPr id="5" name="TextBox 5"/>
          <p:cNvSpPr txBox="1"/>
          <p:nvPr/>
        </p:nvSpPr>
        <p:spPr>
          <a:xfrm>
            <a:off x="332541" y="409575"/>
            <a:ext cx="10843214" cy="782265"/>
          </a:xfrm>
          <a:prstGeom prst="rect">
            <a:avLst/>
          </a:prstGeom>
        </p:spPr>
        <p:txBody>
          <a:bodyPr lIns="0" tIns="0" rIns="0" bIns="0" rtlCol="0" anchor="t">
            <a:spAutoFit/>
          </a:bodyPr>
          <a:lstStyle/>
          <a:p>
            <a:pPr algn="l">
              <a:lnSpc>
                <a:spcPts val="6131"/>
              </a:lnSpc>
            </a:pPr>
            <a:r>
              <a:rPr lang="en-US" sz="5109" b="1" i="1">
                <a:solidFill>
                  <a:srgbClr val="FFFFFF"/>
                </a:solidFill>
                <a:latin typeface="Alice"/>
                <a:ea typeface="Neo Sans Bold Italics"/>
                <a:cs typeface="Neo Sans Bold Italics"/>
                <a:sym typeface="Neo Sans Bold Italics"/>
              </a:rPr>
              <a:t>PHÂN QUYỀN NHÓM TRƯỞNG</a:t>
            </a:r>
          </a:p>
        </p:txBody>
      </p:sp>
      <p:sp>
        <p:nvSpPr>
          <p:cNvPr id="6" name="TextBox 6"/>
          <p:cNvSpPr txBox="1"/>
          <p:nvPr/>
        </p:nvSpPr>
        <p:spPr>
          <a:xfrm>
            <a:off x="0" y="1841331"/>
            <a:ext cx="6896210" cy="5226303"/>
          </a:xfrm>
          <a:prstGeom prst="rect">
            <a:avLst/>
          </a:prstGeom>
        </p:spPr>
        <p:txBody>
          <a:bodyPr lIns="0" tIns="0" rIns="0" bIns="0" rtlCol="0" anchor="t">
            <a:spAutoFit/>
          </a:bodyPr>
          <a:lstStyle/>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Group </a:t>
            </a:r>
            <a:r>
              <a:rPr lang="en-US" sz="2951" b="1" spc="5" dirty="0" err="1">
                <a:solidFill>
                  <a:srgbClr val="FFFFFF"/>
                </a:solidFill>
                <a:latin typeface="Alice"/>
                <a:ea typeface="Poppins Bold"/>
                <a:cs typeface="Poppins Bold"/>
                <a:sym typeface="Poppins Bold"/>
              </a:rPr>
              <a:t>lưu</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nhóm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trưởng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trong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CreatedBy</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danh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sách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thành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viên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trong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MemberIds</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Client </a:t>
            </a:r>
            <a:r>
              <a:rPr lang="en-US" sz="2951" b="1" spc="5" dirty="0" err="1">
                <a:solidFill>
                  <a:srgbClr val="FFFFFF"/>
                </a:solidFill>
                <a:latin typeface="Alice"/>
                <a:ea typeface="Poppins Bold"/>
                <a:cs typeface="Poppins Bold"/>
                <a:sym typeface="Poppins Bold"/>
              </a:rPr>
              <a:t>sử</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dụng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biến</a:t>
            </a:r>
            <a:r>
              <a:rPr lang="en-US" sz="2951" b="1" spc="5" dirty="0">
                <a:solidFill>
                  <a:srgbClr val="FFFFFF"/>
                </a:solidFill>
                <a:latin typeface="Alice"/>
                <a:ea typeface="Poppins Bold"/>
                <a:cs typeface="Poppins Bold"/>
                <a:sym typeface="Poppins Bold"/>
              </a:rPr>
              <a:t> Boolean </a:t>
            </a:r>
            <a:r>
              <a:rPr lang="en-US" sz="2951" b="1" spc="5" dirty="0" err="1">
                <a:solidFill>
                  <a:srgbClr val="FFFFFF"/>
                </a:solidFill>
                <a:latin typeface="Alice"/>
                <a:ea typeface="Poppins Bold"/>
                <a:cs typeface="Poppins Bold"/>
                <a:sym typeface="Poppins Bold"/>
              </a:rPr>
              <a:t>IsOwner</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ẩn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hoặc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hiện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các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nút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quản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lý</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Server </a:t>
            </a:r>
            <a:r>
              <a:rPr lang="en-US" sz="2951" b="1" spc="5" dirty="0" err="1">
                <a:solidFill>
                  <a:srgbClr val="FFFFFF"/>
                </a:solidFill>
                <a:latin typeface="Alice"/>
                <a:ea typeface="Poppins Bold"/>
                <a:cs typeface="Poppins Bold"/>
                <a:sym typeface="Poppins Bold"/>
              </a:rPr>
              <a:t>gọi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EnsureOwner</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kiểm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lại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quyền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trước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khi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cập</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nhật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dữ</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liệu</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Thành </a:t>
            </a:r>
            <a:r>
              <a:rPr lang="en-US" sz="2951" b="1" spc="5" dirty="0" err="1">
                <a:solidFill>
                  <a:srgbClr val="FFFFFF"/>
                </a:solidFill>
                <a:latin typeface="Alice"/>
                <a:ea typeface="Poppins Bold"/>
                <a:cs typeface="Poppins Bold"/>
                <a:sym typeface="Poppins Bold"/>
              </a:rPr>
              <a:t>viên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thường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chỉ</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được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xem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danh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sách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không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thêm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xóa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hoặc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giải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tán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nhóm</a:t>
            </a:r>
            <a:r>
              <a:rPr lang="en-US" sz="2951" b="1" spc="5" dirty="0">
                <a:solidFill>
                  <a:srgbClr val="FFFFFF"/>
                </a:solidFill>
                <a:latin typeface="Alice"/>
                <a:ea typeface="Poppins Bold"/>
                <a:cs typeface="Poppins Bold"/>
                <a:sym typeface="Poppins Bold"/>
              </a:rPr>
              <a:t>.</a:t>
            </a:r>
          </a:p>
        </p:txBody>
      </p:sp>
      <p:sp>
        <p:nvSpPr>
          <p:cNvPr id="7" name="Freeform 7"/>
          <p:cNvSpPr/>
          <p:nvPr/>
        </p:nvSpPr>
        <p:spPr>
          <a:xfrm flipH="1">
            <a:off x="-1453094" y="8773143"/>
            <a:ext cx="11261083" cy="1658450"/>
          </a:xfrm>
          <a:custGeom>
            <a:avLst/>
            <a:gdLst/>
            <a:ahLst/>
            <a:cxnLst/>
            <a:rect l="l" t="t" r="r" b="b"/>
            <a:pathLst>
              <a:path w="11261083" h="1658450">
                <a:moveTo>
                  <a:pt x="11261083" y="0"/>
                </a:moveTo>
                <a:lnTo>
                  <a:pt x="0" y="0"/>
                </a:lnTo>
                <a:lnTo>
                  <a:pt x="0" y="1658451"/>
                </a:lnTo>
                <a:lnTo>
                  <a:pt x="11261083" y="1658451"/>
                </a:lnTo>
                <a:lnTo>
                  <a:pt x="1126108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latin typeface="Alic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7047225">
            <a:off x="12229743" y="-9830172"/>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a:off x="13791418" y="2843871"/>
            <a:ext cx="5013043" cy="4377906"/>
          </a:xfrm>
          <a:custGeom>
            <a:avLst/>
            <a:gdLst/>
            <a:ahLst/>
            <a:cxnLst/>
            <a:rect l="l" t="t" r="r" b="b"/>
            <a:pathLst>
              <a:path w="5013043" h="4377906">
                <a:moveTo>
                  <a:pt x="0" y="0"/>
                </a:moveTo>
                <a:lnTo>
                  <a:pt x="5013042" y="0"/>
                </a:lnTo>
                <a:lnTo>
                  <a:pt x="5013042" y="4377907"/>
                </a:lnTo>
                <a:lnTo>
                  <a:pt x="0" y="4377907"/>
                </a:lnTo>
                <a:lnTo>
                  <a:pt x="0" y="0"/>
                </a:lnTo>
                <a:close/>
              </a:path>
            </a:pathLst>
          </a:custGeom>
          <a:blipFill>
            <a:blip r:embed="rId3"/>
            <a:stretch>
              <a:fillRect/>
            </a:stretch>
          </a:blipFill>
        </p:spPr>
        <p:txBody>
          <a:bodyPr/>
          <a:lstStyle/>
          <a:p>
            <a:endParaRPr lang="en-US">
              <a:latin typeface="Alice"/>
            </a:endParaRPr>
          </a:p>
        </p:txBody>
      </p:sp>
      <p:sp>
        <p:nvSpPr>
          <p:cNvPr id="4" name="Freeform 4"/>
          <p:cNvSpPr/>
          <p:nvPr/>
        </p:nvSpPr>
        <p:spPr>
          <a:xfrm>
            <a:off x="6896210" y="1387371"/>
            <a:ext cx="6895208" cy="5834407"/>
          </a:xfrm>
          <a:custGeom>
            <a:avLst/>
            <a:gdLst/>
            <a:ahLst/>
            <a:cxnLst/>
            <a:rect l="l" t="t" r="r" b="b"/>
            <a:pathLst>
              <a:path w="6895208" h="5834407">
                <a:moveTo>
                  <a:pt x="0" y="0"/>
                </a:moveTo>
                <a:lnTo>
                  <a:pt x="6895208" y="0"/>
                </a:lnTo>
                <a:lnTo>
                  <a:pt x="6895208" y="5834407"/>
                </a:lnTo>
                <a:lnTo>
                  <a:pt x="0" y="5834407"/>
                </a:lnTo>
                <a:lnTo>
                  <a:pt x="0" y="0"/>
                </a:lnTo>
                <a:close/>
              </a:path>
            </a:pathLst>
          </a:custGeom>
          <a:blipFill>
            <a:blip r:embed="rId4"/>
            <a:stretch>
              <a:fillRect/>
            </a:stretch>
          </a:blipFill>
        </p:spPr>
        <p:txBody>
          <a:bodyPr/>
          <a:lstStyle/>
          <a:p>
            <a:endParaRPr lang="en-US">
              <a:latin typeface="Alice"/>
            </a:endParaRPr>
          </a:p>
        </p:txBody>
      </p:sp>
      <p:sp>
        <p:nvSpPr>
          <p:cNvPr id="5" name="Freeform 5"/>
          <p:cNvSpPr/>
          <p:nvPr/>
        </p:nvSpPr>
        <p:spPr>
          <a:xfrm>
            <a:off x="11122130" y="7610614"/>
            <a:ext cx="12888958" cy="9397222"/>
          </a:xfrm>
          <a:custGeom>
            <a:avLst/>
            <a:gdLst/>
            <a:ahLst/>
            <a:cxnLst/>
            <a:rect l="l" t="t" r="r" b="b"/>
            <a:pathLst>
              <a:path w="12888958" h="9397222">
                <a:moveTo>
                  <a:pt x="0" y="0"/>
                </a:moveTo>
                <a:lnTo>
                  <a:pt x="12888958" y="0"/>
                </a:lnTo>
                <a:lnTo>
                  <a:pt x="12888958" y="9397222"/>
                </a:lnTo>
                <a:lnTo>
                  <a:pt x="0" y="93972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6" name="Freeform 6"/>
          <p:cNvSpPr/>
          <p:nvPr/>
        </p:nvSpPr>
        <p:spPr>
          <a:xfrm>
            <a:off x="7463462" y="7352250"/>
            <a:ext cx="10103147" cy="2552600"/>
          </a:xfrm>
          <a:custGeom>
            <a:avLst/>
            <a:gdLst/>
            <a:ahLst/>
            <a:cxnLst/>
            <a:rect l="l" t="t" r="r" b="b"/>
            <a:pathLst>
              <a:path w="10103147" h="2552600">
                <a:moveTo>
                  <a:pt x="0" y="0"/>
                </a:moveTo>
                <a:lnTo>
                  <a:pt x="10103147" y="0"/>
                </a:lnTo>
                <a:lnTo>
                  <a:pt x="10103147" y="2552599"/>
                </a:lnTo>
                <a:lnTo>
                  <a:pt x="0" y="2552599"/>
                </a:lnTo>
                <a:lnTo>
                  <a:pt x="0" y="0"/>
                </a:lnTo>
                <a:close/>
              </a:path>
            </a:pathLst>
          </a:custGeom>
          <a:blipFill>
            <a:blip r:embed="rId5"/>
            <a:stretch>
              <a:fillRect/>
            </a:stretch>
          </a:blipFill>
        </p:spPr>
        <p:txBody>
          <a:bodyPr/>
          <a:lstStyle/>
          <a:p>
            <a:endParaRPr lang="en-US">
              <a:latin typeface="Alice"/>
            </a:endParaRPr>
          </a:p>
        </p:txBody>
      </p:sp>
      <p:sp>
        <p:nvSpPr>
          <p:cNvPr id="7" name="TextBox 7"/>
          <p:cNvSpPr txBox="1"/>
          <p:nvPr/>
        </p:nvSpPr>
        <p:spPr>
          <a:xfrm>
            <a:off x="332541" y="409575"/>
            <a:ext cx="8811459" cy="782265"/>
          </a:xfrm>
          <a:prstGeom prst="rect">
            <a:avLst/>
          </a:prstGeom>
        </p:spPr>
        <p:txBody>
          <a:bodyPr lIns="0" tIns="0" rIns="0" bIns="0" rtlCol="0" anchor="t">
            <a:spAutoFit/>
          </a:bodyPr>
          <a:lstStyle/>
          <a:p>
            <a:pPr algn="l">
              <a:lnSpc>
                <a:spcPts val="6130"/>
              </a:lnSpc>
            </a:pPr>
            <a:r>
              <a:rPr lang="en-US" sz="5108" b="1" i="1" dirty="0">
                <a:solidFill>
                  <a:srgbClr val="FFFFFF"/>
                </a:solidFill>
                <a:latin typeface="Alice"/>
                <a:ea typeface="Neo Sans Bold Italics"/>
                <a:cs typeface="Neo Sans Bold Italics"/>
                <a:sym typeface="Neo Sans Bold Italics"/>
              </a:rPr>
              <a:t>QUẢN LÝ THÀNH VIÊN</a:t>
            </a:r>
          </a:p>
        </p:txBody>
      </p:sp>
      <p:sp>
        <p:nvSpPr>
          <p:cNvPr id="8" name="TextBox 8"/>
          <p:cNvSpPr txBox="1"/>
          <p:nvPr/>
        </p:nvSpPr>
        <p:spPr>
          <a:xfrm>
            <a:off x="0" y="1841331"/>
            <a:ext cx="6896210" cy="5226303"/>
          </a:xfrm>
          <a:prstGeom prst="rect">
            <a:avLst/>
          </a:prstGeom>
        </p:spPr>
        <p:txBody>
          <a:bodyPr lIns="0" tIns="0" rIns="0" bIns="0" rtlCol="0" anchor="t">
            <a:spAutoFit/>
          </a:bodyPr>
          <a:lstStyle/>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Client </a:t>
            </a:r>
            <a:r>
              <a:rPr lang="en-US" sz="2951" b="1" spc="5" dirty="0" err="1">
                <a:solidFill>
                  <a:srgbClr val="FFFFFF"/>
                </a:solidFill>
                <a:latin typeface="Alice"/>
                <a:ea typeface="Poppins Bold"/>
                <a:cs typeface="Poppins Bold"/>
                <a:sym typeface="Poppins Bold"/>
              </a:rPr>
              <a:t>tạo</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GroupManagementRequest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tương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ứng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với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thao</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tác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thêm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xóa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hoặc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giải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tán</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Yêu</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cầu</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được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tuần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tự</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hóa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thành</a:t>
            </a:r>
            <a:r>
              <a:rPr lang="en-US" sz="2951" b="1" spc="5" dirty="0">
                <a:solidFill>
                  <a:srgbClr val="FFFFFF"/>
                </a:solidFill>
                <a:latin typeface="Alice"/>
                <a:ea typeface="Poppins Bold"/>
                <a:cs typeface="Poppins Bold"/>
                <a:sym typeface="Poppins Bold"/>
              </a:rPr>
              <a:t> JSON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gửi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tới</a:t>
            </a:r>
            <a:r>
              <a:rPr lang="en-US" sz="2951" b="1" spc="5" dirty="0">
                <a:solidFill>
                  <a:srgbClr val="FFFFFF"/>
                </a:solidFill>
                <a:latin typeface="Alice"/>
                <a:ea typeface="Poppins Bold"/>
                <a:cs typeface="Poppins Bold"/>
                <a:sym typeface="Poppins Bold"/>
              </a:rPr>
              <a:t> Server qua TCP.</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GroupManager</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kiểm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quyền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cập</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nhật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MemberIds</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dữ</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liệu</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nhóm</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Sự</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kiện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GroupUpdated</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hoặc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GroupDissolved</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được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phát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đồng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bộ</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các</a:t>
            </a:r>
            <a:r>
              <a:rPr lang="en-US" sz="2951" b="1" spc="5" dirty="0">
                <a:solidFill>
                  <a:srgbClr val="FFFFFF"/>
                </a:solidFill>
                <a:latin typeface="Alice"/>
                <a:ea typeface="Poppins Bold"/>
                <a:cs typeface="Poppins Bold"/>
                <a:sym typeface="Poppins Bold"/>
              </a:rPr>
              <a:t> Client.</a:t>
            </a:r>
          </a:p>
        </p:txBody>
      </p:sp>
      <p:sp>
        <p:nvSpPr>
          <p:cNvPr id="9" name="Freeform 9"/>
          <p:cNvSpPr/>
          <p:nvPr/>
        </p:nvSpPr>
        <p:spPr>
          <a:xfrm flipH="1">
            <a:off x="-1453094" y="8773143"/>
            <a:ext cx="11261083" cy="1658450"/>
          </a:xfrm>
          <a:custGeom>
            <a:avLst/>
            <a:gdLst/>
            <a:ahLst/>
            <a:cxnLst/>
            <a:rect l="l" t="t" r="r" b="b"/>
            <a:pathLst>
              <a:path w="11261083" h="1658450">
                <a:moveTo>
                  <a:pt x="11261083" y="0"/>
                </a:moveTo>
                <a:lnTo>
                  <a:pt x="0" y="0"/>
                </a:lnTo>
                <a:lnTo>
                  <a:pt x="0" y="1658451"/>
                </a:lnTo>
                <a:lnTo>
                  <a:pt x="11261083" y="1658451"/>
                </a:lnTo>
                <a:lnTo>
                  <a:pt x="11261083"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latin typeface="Alice"/>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453094" y="8773143"/>
            <a:ext cx="11261083" cy="1658450"/>
          </a:xfrm>
          <a:custGeom>
            <a:avLst/>
            <a:gdLst/>
            <a:ahLst/>
            <a:cxnLst/>
            <a:rect l="l" t="t" r="r" b="b"/>
            <a:pathLst>
              <a:path w="11261083" h="1658450">
                <a:moveTo>
                  <a:pt x="11261083" y="0"/>
                </a:moveTo>
                <a:lnTo>
                  <a:pt x="0" y="0"/>
                </a:lnTo>
                <a:lnTo>
                  <a:pt x="0" y="1658451"/>
                </a:lnTo>
                <a:lnTo>
                  <a:pt x="11261083" y="1658451"/>
                </a:lnTo>
                <a:lnTo>
                  <a:pt x="11261083"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7047225">
            <a:off x="12229743" y="-9830172"/>
            <a:ext cx="15496850" cy="11298612"/>
          </a:xfrm>
          <a:custGeom>
            <a:avLst/>
            <a:gdLst/>
            <a:ahLst/>
            <a:cxnLst/>
            <a:rect l="l" t="t" r="r" b="b"/>
            <a:pathLst>
              <a:path w="15496850" h="11298612">
                <a:moveTo>
                  <a:pt x="0" y="0"/>
                </a:moveTo>
                <a:lnTo>
                  <a:pt x="15496850" y="0"/>
                </a:lnTo>
                <a:lnTo>
                  <a:pt x="15496850" y="11298613"/>
                </a:lnTo>
                <a:lnTo>
                  <a:pt x="0" y="112986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11122130" y="7610614"/>
            <a:ext cx="12888958" cy="9397222"/>
          </a:xfrm>
          <a:custGeom>
            <a:avLst/>
            <a:gdLst/>
            <a:ahLst/>
            <a:cxnLst/>
            <a:rect l="l" t="t" r="r" b="b"/>
            <a:pathLst>
              <a:path w="12888958" h="9397222">
                <a:moveTo>
                  <a:pt x="0" y="0"/>
                </a:moveTo>
                <a:lnTo>
                  <a:pt x="12888958" y="0"/>
                </a:lnTo>
                <a:lnTo>
                  <a:pt x="12888958" y="9397222"/>
                </a:lnTo>
                <a:lnTo>
                  <a:pt x="0" y="93972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5" name="Freeform 5"/>
          <p:cNvSpPr/>
          <p:nvPr/>
        </p:nvSpPr>
        <p:spPr>
          <a:xfrm>
            <a:off x="9469710" y="332673"/>
            <a:ext cx="8397394" cy="4810827"/>
          </a:xfrm>
          <a:custGeom>
            <a:avLst/>
            <a:gdLst/>
            <a:ahLst/>
            <a:cxnLst/>
            <a:rect l="l" t="t" r="r" b="b"/>
            <a:pathLst>
              <a:path w="8397394" h="4810827">
                <a:moveTo>
                  <a:pt x="0" y="0"/>
                </a:moveTo>
                <a:lnTo>
                  <a:pt x="8397394" y="0"/>
                </a:lnTo>
                <a:lnTo>
                  <a:pt x="8397394" y="4810827"/>
                </a:lnTo>
                <a:lnTo>
                  <a:pt x="0" y="4810827"/>
                </a:lnTo>
                <a:lnTo>
                  <a:pt x="0" y="0"/>
                </a:lnTo>
                <a:close/>
              </a:path>
            </a:pathLst>
          </a:custGeom>
          <a:blipFill>
            <a:blip r:embed="rId4"/>
            <a:stretch>
              <a:fillRect/>
            </a:stretch>
          </a:blipFill>
          <a:ln w="38100" cap="sq">
            <a:solidFill>
              <a:srgbClr val="000000"/>
            </a:solidFill>
            <a:prstDash val="solid"/>
            <a:miter/>
          </a:ln>
        </p:spPr>
        <p:txBody>
          <a:bodyPr/>
          <a:lstStyle/>
          <a:p>
            <a:endParaRPr lang="en-US">
              <a:latin typeface="Alice"/>
            </a:endParaRPr>
          </a:p>
        </p:txBody>
      </p:sp>
      <p:sp>
        <p:nvSpPr>
          <p:cNvPr id="6" name="TextBox 6"/>
          <p:cNvSpPr txBox="1"/>
          <p:nvPr/>
        </p:nvSpPr>
        <p:spPr>
          <a:xfrm>
            <a:off x="332541" y="409575"/>
            <a:ext cx="8811459" cy="782265"/>
          </a:xfrm>
          <a:prstGeom prst="rect">
            <a:avLst/>
          </a:prstGeom>
        </p:spPr>
        <p:txBody>
          <a:bodyPr lIns="0" tIns="0" rIns="0" bIns="0" rtlCol="0" anchor="t">
            <a:spAutoFit/>
          </a:bodyPr>
          <a:lstStyle/>
          <a:p>
            <a:pPr algn="l">
              <a:lnSpc>
                <a:spcPts val="6130"/>
              </a:lnSpc>
            </a:pPr>
            <a:r>
              <a:rPr lang="en-US" sz="5108" b="1" i="1">
                <a:solidFill>
                  <a:srgbClr val="FFFFFF"/>
                </a:solidFill>
                <a:latin typeface="Alice"/>
                <a:ea typeface="Neo Sans Bold Italics"/>
                <a:cs typeface="Neo Sans Bold Italics"/>
                <a:sym typeface="Neo Sans Bold Italics"/>
              </a:rPr>
              <a:t>LUỒNG GỬI TIN NHẮN NHÓM</a:t>
            </a:r>
          </a:p>
        </p:txBody>
      </p:sp>
      <p:sp>
        <p:nvSpPr>
          <p:cNvPr id="7" name="TextBox 7"/>
          <p:cNvSpPr txBox="1"/>
          <p:nvPr/>
        </p:nvSpPr>
        <p:spPr>
          <a:xfrm>
            <a:off x="0" y="1428132"/>
            <a:ext cx="6896210" cy="5752087"/>
          </a:xfrm>
          <a:prstGeom prst="rect">
            <a:avLst/>
          </a:prstGeom>
        </p:spPr>
        <p:txBody>
          <a:bodyPr lIns="0" tIns="0" rIns="0" bIns="0" rtlCol="0" anchor="t">
            <a:spAutoFit/>
          </a:bodyPr>
          <a:lstStyle/>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Client </a:t>
            </a:r>
            <a:r>
              <a:rPr lang="en-US" sz="2951" b="1" spc="5" dirty="0" err="1">
                <a:solidFill>
                  <a:srgbClr val="FFFFFF"/>
                </a:solidFill>
                <a:latin typeface="Alice"/>
                <a:ea typeface="Poppins Bold"/>
                <a:cs typeface="Poppins Bold"/>
                <a:sym typeface="Poppins Bold"/>
              </a:rPr>
              <a:t>tạo</a:t>
            </a:r>
            <a:r>
              <a:rPr lang="en-US" sz="2951" b="1" spc="5" dirty="0">
                <a:solidFill>
                  <a:srgbClr val="FFFFFF"/>
                </a:solidFill>
                <a:latin typeface="Alice"/>
                <a:ea typeface="Poppins Bold"/>
                <a:cs typeface="Poppins Bold"/>
                <a:sym typeface="Poppins Bold"/>
              </a:rPr>
              <a:t> Message </a:t>
            </a:r>
            <a:r>
              <a:rPr lang="en-US" sz="2951" b="1" spc="5" dirty="0" err="1">
                <a:solidFill>
                  <a:srgbClr val="FFFFFF"/>
                </a:solidFill>
                <a:latin typeface="Alice"/>
                <a:ea typeface="Poppins Bold"/>
                <a:cs typeface="Poppins Bold"/>
                <a:sym typeface="Poppins Bold"/>
              </a:rPr>
              <a:t>chứa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SenderId</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GroupId</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nội</a:t>
            </a:r>
            <a:r>
              <a:rPr lang="en-US" sz="2951" b="1" spc="5" dirty="0">
                <a:solidFill>
                  <a:srgbClr val="FFFFFF"/>
                </a:solidFill>
                <a:latin typeface="Alice"/>
                <a:ea typeface="Poppins Bold"/>
                <a:cs typeface="Poppins Bold"/>
                <a:sym typeface="Poppins Bold"/>
              </a:rPr>
              <a:t> dung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Type = </a:t>
            </a:r>
            <a:r>
              <a:rPr lang="en-US" sz="2951" b="1" spc="5" dirty="0" err="1">
                <a:solidFill>
                  <a:srgbClr val="FFFFFF"/>
                </a:solidFill>
                <a:latin typeface="Alice"/>
                <a:ea typeface="Poppins Bold"/>
                <a:cs typeface="Poppins Bold"/>
                <a:sym typeface="Poppins Bold"/>
              </a:rPr>
              <a:t>GroupChat</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err="1">
                <a:solidFill>
                  <a:srgbClr val="FFFFFF"/>
                </a:solidFill>
                <a:latin typeface="Alice"/>
                <a:ea typeface="Poppins Bold"/>
                <a:cs typeface="Poppins Bold"/>
                <a:sym typeface="Poppins Bold"/>
              </a:rPr>
              <a:t>GroupMessageService</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gọi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IsMember</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để</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kiểm</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tra</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quyền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gửi</a:t>
            </a:r>
            <a:r>
              <a:rPr lang="en-US" sz="2951" b="1" spc="5" dirty="0">
                <a:solidFill>
                  <a:srgbClr val="FFFFFF"/>
                </a:solidFill>
                <a:latin typeface="Alice"/>
                <a:ea typeface="Poppins Bold"/>
                <a:cs typeface="Poppins Bold"/>
                <a:sym typeface="Poppins Bold"/>
              </a:rPr>
              <a:t> tin.</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Server </a:t>
            </a:r>
            <a:r>
              <a:rPr lang="en-US" sz="2951" b="1" spc="5" dirty="0" err="1">
                <a:solidFill>
                  <a:srgbClr val="FFFFFF"/>
                </a:solidFill>
                <a:latin typeface="Alice"/>
                <a:ea typeface="Poppins Bold"/>
                <a:cs typeface="Poppins Bold"/>
                <a:sym typeface="Poppins Bold"/>
              </a:rPr>
              <a:t>lấy</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danh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sách</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MemberIds</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loại</a:t>
            </a:r>
            <a:r>
              <a:rPr lang="en-US" sz="2951" b="1" spc="5" dirty="0">
                <a:solidFill>
                  <a:srgbClr val="FFFFFF"/>
                </a:solidFill>
                <a:latin typeface="Alice"/>
                <a:ea typeface="Poppins Bold"/>
                <a:cs typeface="Poppins Bold"/>
                <a:sym typeface="Poppins Bold"/>
              </a:rPr>
              <a:t> ID </a:t>
            </a:r>
            <a:r>
              <a:rPr lang="en-US" sz="2951" b="1" spc="5" dirty="0" err="1">
                <a:solidFill>
                  <a:srgbClr val="FFFFFF"/>
                </a:solidFill>
                <a:latin typeface="Alice"/>
                <a:ea typeface="Poppins Bold"/>
                <a:cs typeface="Poppins Bold"/>
                <a:sym typeface="Poppins Bold"/>
              </a:rPr>
              <a:t>người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gửi</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các</a:t>
            </a:r>
            <a:r>
              <a:rPr lang="en-US" sz="2951" b="1" spc="5" dirty="0">
                <a:solidFill>
                  <a:srgbClr val="FFFFFF"/>
                </a:solidFill>
                <a:latin typeface="Alice"/>
                <a:ea typeface="Poppins Bold"/>
                <a:cs typeface="Poppins Bold"/>
                <a:sym typeface="Poppins Bold"/>
              </a:rPr>
              <a:t> ID </a:t>
            </a:r>
            <a:r>
              <a:rPr lang="en-US" sz="2951" b="1" spc="5" dirty="0" err="1">
                <a:solidFill>
                  <a:srgbClr val="FFFFFF"/>
                </a:solidFill>
                <a:latin typeface="Alice"/>
                <a:ea typeface="Poppins Bold"/>
                <a:cs typeface="Poppins Bold"/>
                <a:sym typeface="Poppins Bold"/>
              </a:rPr>
              <a:t>trùng</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Tin </a:t>
            </a:r>
            <a:r>
              <a:rPr lang="en-US" sz="2951" b="1" spc="5" dirty="0" err="1">
                <a:solidFill>
                  <a:srgbClr val="FFFFFF"/>
                </a:solidFill>
                <a:latin typeface="Alice"/>
                <a:ea typeface="Poppins Bold"/>
                <a:cs typeface="Poppins Bold"/>
                <a:sym typeface="Poppins Bold"/>
              </a:rPr>
              <a:t>nhắn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được</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chuyển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đến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từng</a:t>
            </a:r>
            <a:r>
              <a:rPr lang="en-US" sz="2951" b="1" spc="5" dirty="0">
                <a:solidFill>
                  <a:srgbClr val="FFFFFF"/>
                </a:solidFill>
                <a:latin typeface="Alice"/>
                <a:ea typeface="Poppins Bold"/>
                <a:cs typeface="Poppins Bold"/>
                <a:sym typeface="Poppins Bold"/>
              </a:rPr>
              <a:t> Client </a:t>
            </a:r>
            <a:r>
              <a:rPr lang="en-US" sz="2951" b="1" spc="5" dirty="0" err="1">
                <a:solidFill>
                  <a:srgbClr val="FFFFFF"/>
                </a:solidFill>
                <a:latin typeface="Alice"/>
                <a:ea typeface="Poppins Bold"/>
                <a:cs typeface="Poppins Bold"/>
                <a:sym typeface="Poppins Bold"/>
              </a:rPr>
              <a:t>trong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recipientIds</a:t>
            </a:r>
            <a:r>
              <a:rPr lang="en-US" sz="2951" b="1" spc="5" dirty="0">
                <a:solidFill>
                  <a:srgbClr val="FFFFFF"/>
                </a:solidFill>
                <a:latin typeface="Alice"/>
                <a:ea typeface="Poppins Bold"/>
                <a:cs typeface="Poppins Bold"/>
                <a:sym typeface="Poppins Bold"/>
              </a:rPr>
              <a:t>.</a:t>
            </a:r>
          </a:p>
          <a:p>
            <a:pPr marL="637193" lvl="1" indent="-318596" algn="l">
              <a:lnSpc>
                <a:spcPts val="4131"/>
              </a:lnSpc>
              <a:buFont typeface="Arial"/>
              <a:buChar char="•"/>
            </a:pPr>
            <a:r>
              <a:rPr lang="en-US" sz="2951" b="1" spc="5" dirty="0">
                <a:solidFill>
                  <a:srgbClr val="FFFFFF"/>
                </a:solidFill>
                <a:latin typeface="Alice"/>
                <a:ea typeface="Poppins Bold"/>
                <a:cs typeface="Poppins Bold"/>
                <a:sym typeface="Poppins Bold"/>
              </a:rPr>
              <a:t>Client </a:t>
            </a:r>
            <a:r>
              <a:rPr lang="en-US" sz="2951" b="1" spc="5" dirty="0" err="1">
                <a:solidFill>
                  <a:srgbClr val="FFFFFF"/>
                </a:solidFill>
                <a:latin typeface="Alice"/>
                <a:ea typeface="Poppins Bold"/>
                <a:cs typeface="Poppins Bold"/>
                <a:sym typeface="Poppins Bold"/>
              </a:rPr>
              <a:t>lắng</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nghe</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sự</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kiện</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MessageReceived</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và</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cập</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nhật</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giao</a:t>
            </a:r>
            <a:r>
              <a:rPr lang="en-US" sz="2951" b="1" spc="5" dirty="0">
                <a:solidFill>
                  <a:srgbClr val="FFFFFF"/>
                </a:solidFill>
                <a:latin typeface="Alice"/>
                <a:ea typeface="Poppins Bold"/>
                <a:cs typeface="Poppins Bold"/>
                <a:sym typeface="Poppins Bold"/>
              </a:rPr>
              <a:t> </a:t>
            </a:r>
            <a:r>
              <a:rPr lang="en-US" sz="2951" b="1" spc="5" dirty="0" err="1">
                <a:solidFill>
                  <a:srgbClr val="FFFFFF"/>
                </a:solidFill>
                <a:latin typeface="Alice"/>
                <a:ea typeface="Poppins Bold"/>
                <a:cs typeface="Poppins Bold"/>
                <a:sym typeface="Poppins Bold"/>
              </a:rPr>
              <a:t>diện</a:t>
            </a:r>
            <a:r>
              <a:rPr lang="en-US" sz="2951" b="1" spc="5" dirty="0">
                <a:solidFill>
                  <a:srgbClr val="FFFFFF"/>
                </a:solidFill>
                <a:latin typeface="Alice"/>
                <a:ea typeface="Poppins Bold"/>
                <a:cs typeface="Poppins Bold"/>
                <a:sym typeface="Poppins Bold"/>
              </a:rPr>
              <a:t>.</a:t>
            </a:r>
          </a:p>
        </p:txBody>
      </p:sp>
      <p:sp>
        <p:nvSpPr>
          <p:cNvPr id="8" name="Freeform 8"/>
          <p:cNvSpPr/>
          <p:nvPr/>
        </p:nvSpPr>
        <p:spPr>
          <a:xfrm>
            <a:off x="9663666" y="5143500"/>
            <a:ext cx="7902942" cy="5143500"/>
          </a:xfrm>
          <a:custGeom>
            <a:avLst/>
            <a:gdLst/>
            <a:ahLst/>
            <a:cxnLst/>
            <a:rect l="l" t="t" r="r" b="b"/>
            <a:pathLst>
              <a:path w="7902942" h="5143500">
                <a:moveTo>
                  <a:pt x="0" y="0"/>
                </a:moveTo>
                <a:lnTo>
                  <a:pt x="7902943" y="0"/>
                </a:lnTo>
                <a:lnTo>
                  <a:pt x="7902943" y="5143500"/>
                </a:lnTo>
                <a:lnTo>
                  <a:pt x="0" y="5143500"/>
                </a:lnTo>
                <a:lnTo>
                  <a:pt x="0" y="0"/>
                </a:lnTo>
                <a:close/>
              </a:path>
            </a:pathLst>
          </a:custGeom>
          <a:blipFill>
            <a:blip r:embed="rId5"/>
            <a:stretch>
              <a:fillRect t="-2022" b="-2022"/>
            </a:stretch>
          </a:blipFill>
          <a:ln w="38100" cap="sq">
            <a:solidFill>
              <a:srgbClr val="000000"/>
            </a:solidFill>
            <a:prstDash val="solid"/>
            <a:miter/>
          </a:ln>
        </p:spPr>
        <p:txBody>
          <a:bodyPr/>
          <a:lstStyle/>
          <a:p>
            <a:endParaRPr lang="en-US">
              <a:latin typeface="Alic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31234" y="8678624"/>
            <a:ext cx="4114800" cy="680812"/>
          </a:xfrm>
          <a:custGeom>
            <a:avLst/>
            <a:gdLst/>
            <a:ahLst/>
            <a:cxnLst/>
            <a:rect l="l" t="t" r="r" b="b"/>
            <a:pathLst>
              <a:path w="4114800" h="680812">
                <a:moveTo>
                  <a:pt x="0" y="0"/>
                </a:moveTo>
                <a:lnTo>
                  <a:pt x="4114800" y="0"/>
                </a:lnTo>
                <a:lnTo>
                  <a:pt x="4114800" y="680813"/>
                </a:lnTo>
                <a:lnTo>
                  <a:pt x="0" y="6808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sp>
        <p:nvSpPr>
          <p:cNvPr id="3" name="Freeform 3"/>
          <p:cNvSpPr/>
          <p:nvPr/>
        </p:nvSpPr>
        <p:spPr>
          <a:xfrm rot="6090037">
            <a:off x="14530728" y="155378"/>
            <a:ext cx="14861992" cy="10835743"/>
          </a:xfrm>
          <a:custGeom>
            <a:avLst/>
            <a:gdLst/>
            <a:ahLst/>
            <a:cxnLst/>
            <a:rect l="l" t="t" r="r" b="b"/>
            <a:pathLst>
              <a:path w="14861992" h="10835743">
                <a:moveTo>
                  <a:pt x="0" y="0"/>
                </a:moveTo>
                <a:lnTo>
                  <a:pt x="14861992" y="0"/>
                </a:lnTo>
                <a:lnTo>
                  <a:pt x="14861992" y="10835743"/>
                </a:lnTo>
                <a:lnTo>
                  <a:pt x="0" y="10835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latin typeface="Alice"/>
            </a:endParaRPr>
          </a:p>
        </p:txBody>
      </p:sp>
      <p:sp>
        <p:nvSpPr>
          <p:cNvPr id="4" name="Freeform 4"/>
          <p:cNvSpPr/>
          <p:nvPr/>
        </p:nvSpPr>
        <p:spPr>
          <a:xfrm>
            <a:off x="28266" y="1283093"/>
            <a:ext cx="4644318" cy="4802288"/>
          </a:xfrm>
          <a:custGeom>
            <a:avLst/>
            <a:gdLst/>
            <a:ahLst/>
            <a:cxnLst/>
            <a:rect l="l" t="t" r="r" b="b"/>
            <a:pathLst>
              <a:path w="4644318" h="4802288">
                <a:moveTo>
                  <a:pt x="0" y="0"/>
                </a:moveTo>
                <a:lnTo>
                  <a:pt x="4644318" y="0"/>
                </a:lnTo>
                <a:lnTo>
                  <a:pt x="4644318" y="4802288"/>
                </a:lnTo>
                <a:lnTo>
                  <a:pt x="0" y="4802288"/>
                </a:lnTo>
                <a:lnTo>
                  <a:pt x="0" y="0"/>
                </a:lnTo>
                <a:close/>
              </a:path>
            </a:pathLst>
          </a:custGeom>
          <a:blipFill>
            <a:blip r:embed="rId4"/>
            <a:stretch>
              <a:fillRect/>
            </a:stretch>
          </a:blipFill>
        </p:spPr>
        <p:txBody>
          <a:bodyPr/>
          <a:lstStyle/>
          <a:p>
            <a:endParaRPr lang="en-US">
              <a:latin typeface="Alice"/>
            </a:endParaRPr>
          </a:p>
        </p:txBody>
      </p:sp>
      <p:sp>
        <p:nvSpPr>
          <p:cNvPr id="5" name="Freeform 5"/>
          <p:cNvSpPr/>
          <p:nvPr/>
        </p:nvSpPr>
        <p:spPr>
          <a:xfrm>
            <a:off x="28266" y="6304456"/>
            <a:ext cx="8079396" cy="3729065"/>
          </a:xfrm>
          <a:custGeom>
            <a:avLst/>
            <a:gdLst/>
            <a:ahLst/>
            <a:cxnLst/>
            <a:rect l="l" t="t" r="r" b="b"/>
            <a:pathLst>
              <a:path w="8079396" h="3729065">
                <a:moveTo>
                  <a:pt x="0" y="0"/>
                </a:moveTo>
                <a:lnTo>
                  <a:pt x="8079396" y="0"/>
                </a:lnTo>
                <a:lnTo>
                  <a:pt x="8079396" y="3729065"/>
                </a:lnTo>
                <a:lnTo>
                  <a:pt x="0" y="3729065"/>
                </a:lnTo>
                <a:lnTo>
                  <a:pt x="0" y="0"/>
                </a:lnTo>
                <a:close/>
              </a:path>
            </a:pathLst>
          </a:custGeom>
          <a:blipFill>
            <a:blip r:embed="rId5"/>
            <a:stretch>
              <a:fillRect r="-5597"/>
            </a:stretch>
          </a:blipFill>
        </p:spPr>
        <p:txBody>
          <a:bodyPr/>
          <a:lstStyle/>
          <a:p>
            <a:endParaRPr lang="en-US">
              <a:latin typeface="Alice"/>
            </a:endParaRPr>
          </a:p>
        </p:txBody>
      </p:sp>
      <p:sp>
        <p:nvSpPr>
          <p:cNvPr id="6" name="TextBox 6"/>
          <p:cNvSpPr txBox="1"/>
          <p:nvPr/>
        </p:nvSpPr>
        <p:spPr>
          <a:xfrm>
            <a:off x="0" y="151"/>
            <a:ext cx="9503757" cy="709681"/>
          </a:xfrm>
          <a:prstGeom prst="rect">
            <a:avLst/>
          </a:prstGeom>
        </p:spPr>
        <p:txBody>
          <a:bodyPr lIns="0" tIns="0" rIns="0" bIns="0" rtlCol="0" anchor="t">
            <a:spAutoFit/>
          </a:bodyPr>
          <a:lstStyle/>
          <a:p>
            <a:pPr algn="l">
              <a:lnSpc>
                <a:spcPts val="5880"/>
              </a:lnSpc>
              <a:spcBef>
                <a:spcPct val="0"/>
              </a:spcBef>
            </a:pPr>
            <a:r>
              <a:rPr lang="en-US" sz="4200" spc="8">
                <a:solidFill>
                  <a:srgbClr val="FFFFFF"/>
                </a:solidFill>
                <a:latin typeface="Alice"/>
                <a:ea typeface="Poppins"/>
                <a:cs typeface="Poppins"/>
                <a:sym typeface="Poppins"/>
              </a:rPr>
              <a:t>T</a:t>
            </a:r>
            <a:r>
              <a:rPr lang="en-US" sz="4200" b="1" spc="8">
                <a:solidFill>
                  <a:srgbClr val="FFFFFF"/>
                </a:solidFill>
                <a:latin typeface="Alice"/>
                <a:ea typeface="Poppins Bold"/>
                <a:cs typeface="Poppins Bold"/>
                <a:sym typeface="Poppins Bold"/>
              </a:rPr>
              <a:t>hiết kế Avatar</a:t>
            </a:r>
          </a:p>
        </p:txBody>
      </p:sp>
      <p:sp>
        <p:nvSpPr>
          <p:cNvPr id="7" name="TextBox 7"/>
          <p:cNvSpPr txBox="1"/>
          <p:nvPr/>
        </p:nvSpPr>
        <p:spPr>
          <a:xfrm>
            <a:off x="4751879" y="1177262"/>
            <a:ext cx="12714923" cy="348365"/>
          </a:xfrm>
          <a:prstGeom prst="rect">
            <a:avLst/>
          </a:prstGeom>
        </p:spPr>
        <p:txBody>
          <a:bodyPr lIns="0" tIns="0" rIns="0" bIns="0" rtlCol="0" anchor="t">
            <a:spAutoFit/>
          </a:bodyPr>
          <a:lstStyle/>
          <a:p>
            <a:pPr algn="ctr">
              <a:lnSpc>
                <a:spcPts val="2871"/>
              </a:lnSpc>
              <a:spcBef>
                <a:spcPct val="0"/>
              </a:spcBef>
            </a:pPr>
            <a:r>
              <a:rPr lang="en-US" sz="2051" spc="4">
                <a:solidFill>
                  <a:srgbClr val="FFFFFF"/>
                </a:solidFill>
                <a:latin typeface="Alice"/>
                <a:ea typeface="Poppins"/>
                <a:cs typeface="Poppins"/>
                <a:sym typeface="Poppins"/>
              </a:rPr>
              <a:t>Đầu tiền ,khi mở giao diện Register, chương trình load Avatar mặc định bằng LoadAvatarResized() </a:t>
            </a:r>
          </a:p>
        </p:txBody>
      </p:sp>
      <p:sp>
        <p:nvSpPr>
          <p:cNvPr id="8" name="TextBox 8"/>
          <p:cNvSpPr txBox="1"/>
          <p:nvPr/>
        </p:nvSpPr>
        <p:spPr>
          <a:xfrm>
            <a:off x="0" y="690835"/>
            <a:ext cx="4067964" cy="541174"/>
          </a:xfrm>
          <a:prstGeom prst="rect">
            <a:avLst/>
          </a:prstGeom>
        </p:spPr>
        <p:txBody>
          <a:bodyPr lIns="0" tIns="0" rIns="0" bIns="0" rtlCol="0" anchor="t">
            <a:spAutoFit/>
          </a:bodyPr>
          <a:lstStyle/>
          <a:p>
            <a:pPr algn="ctr">
              <a:lnSpc>
                <a:spcPts val="4480"/>
              </a:lnSpc>
              <a:spcBef>
                <a:spcPct val="0"/>
              </a:spcBef>
            </a:pPr>
            <a:r>
              <a:rPr lang="en-US" sz="3200" b="1" spc="6">
                <a:solidFill>
                  <a:srgbClr val="FFFFFF"/>
                </a:solidFill>
                <a:latin typeface="Alice"/>
                <a:ea typeface="Poppins Bold"/>
                <a:cs typeface="Poppins Bold"/>
                <a:sym typeface="Poppins Bold"/>
              </a:rPr>
              <a:t>Giao diện đăng ký</a:t>
            </a:r>
          </a:p>
        </p:txBody>
      </p:sp>
      <p:sp>
        <p:nvSpPr>
          <p:cNvPr id="9" name="TextBox 9"/>
          <p:cNvSpPr txBox="1"/>
          <p:nvPr/>
        </p:nvSpPr>
        <p:spPr>
          <a:xfrm>
            <a:off x="4751879" y="1680855"/>
            <a:ext cx="4192072" cy="348365"/>
          </a:xfrm>
          <a:prstGeom prst="rect">
            <a:avLst/>
          </a:prstGeom>
        </p:spPr>
        <p:txBody>
          <a:bodyPr lIns="0" tIns="0" rIns="0" bIns="0" rtlCol="0" anchor="t">
            <a:spAutoFit/>
          </a:bodyPr>
          <a:lstStyle/>
          <a:p>
            <a:pPr algn="ctr">
              <a:lnSpc>
                <a:spcPts val="2871"/>
              </a:lnSpc>
              <a:spcBef>
                <a:spcPct val="0"/>
              </a:spcBef>
            </a:pPr>
            <a:r>
              <a:rPr lang="en-US" sz="2051" spc="4">
                <a:solidFill>
                  <a:srgbClr val="FFFFFF"/>
                </a:solidFill>
                <a:latin typeface="Alice"/>
                <a:ea typeface="Poppins"/>
                <a:cs typeface="Poppins"/>
                <a:sym typeface="Poppins"/>
              </a:rPr>
              <a:t>Gọi MakeCircle() để bo tròn ảnh.</a:t>
            </a:r>
          </a:p>
        </p:txBody>
      </p:sp>
      <p:sp>
        <p:nvSpPr>
          <p:cNvPr id="10" name="TextBox 10"/>
          <p:cNvSpPr txBox="1"/>
          <p:nvPr/>
        </p:nvSpPr>
        <p:spPr>
          <a:xfrm>
            <a:off x="4751879" y="2205882"/>
            <a:ext cx="13536121" cy="696085"/>
          </a:xfrm>
          <a:prstGeom prst="rect">
            <a:avLst/>
          </a:prstGeom>
        </p:spPr>
        <p:txBody>
          <a:bodyPr lIns="0" tIns="0" rIns="0" bIns="0" rtlCol="0" anchor="t">
            <a:spAutoFit/>
          </a:bodyPr>
          <a:lstStyle/>
          <a:p>
            <a:pPr algn="l">
              <a:lnSpc>
                <a:spcPts val="2731"/>
              </a:lnSpc>
              <a:spcBef>
                <a:spcPct val="0"/>
              </a:spcBef>
            </a:pPr>
            <a:r>
              <a:rPr lang="en-US" sz="1951" spc="3">
                <a:solidFill>
                  <a:srgbClr val="FFFFFF"/>
                </a:solidFill>
                <a:latin typeface="Alice"/>
                <a:ea typeface="Poppins"/>
                <a:cs typeface="Poppins"/>
                <a:sym typeface="Poppins"/>
              </a:rPr>
              <a:t>Khi người dùng nhấn Chọn ảnh, hàm BtnChooseAvatar_Click() mở hộp thoại để chọn ảnh từ máy và hiển thị Preview. Sau đó ảnh được Resize, bo tròn và lưu lại dưới dạng PNG.</a:t>
            </a:r>
          </a:p>
        </p:txBody>
      </p:sp>
      <p:sp>
        <p:nvSpPr>
          <p:cNvPr id="11" name="TextBox 11"/>
          <p:cNvSpPr txBox="1"/>
          <p:nvPr/>
        </p:nvSpPr>
        <p:spPr>
          <a:xfrm>
            <a:off x="4672584" y="3035317"/>
            <a:ext cx="7679770" cy="2207849"/>
          </a:xfrm>
          <a:prstGeom prst="rect">
            <a:avLst/>
          </a:prstGeom>
        </p:spPr>
        <p:txBody>
          <a:bodyPr lIns="0" tIns="0" rIns="0" bIns="0" rtlCol="0" anchor="t">
            <a:spAutoFit/>
          </a:bodyPr>
          <a:lstStyle/>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Nội dung đoạn văn bảnTạo thư mục Resources/Avatars.</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Resize ảnh về kích thước 200 × 200.</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Lưu ảnh dưới định dạng PNG.</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Xử lý dữ liệu đăng ký.</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Chuyển Avatar thành Base64 nếu có ảnh.</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Gửi thông tin đăng ký thông qua RequestRegister().</a:t>
            </a:r>
          </a:p>
        </p:txBody>
      </p:sp>
      <p:sp>
        <p:nvSpPr>
          <p:cNvPr id="12" name="TextBox 12"/>
          <p:cNvSpPr txBox="1"/>
          <p:nvPr/>
        </p:nvSpPr>
        <p:spPr>
          <a:xfrm>
            <a:off x="8107662" y="6514314"/>
            <a:ext cx="10180338" cy="728946"/>
          </a:xfrm>
          <a:prstGeom prst="rect">
            <a:avLst/>
          </a:prstGeom>
        </p:spPr>
        <p:txBody>
          <a:bodyPr lIns="0" tIns="0" rIns="0" bIns="0" rtlCol="0" anchor="t">
            <a:spAutoFit/>
          </a:bodyPr>
          <a:lstStyle/>
          <a:p>
            <a:pPr algn="l">
              <a:lnSpc>
                <a:spcPts val="2871"/>
              </a:lnSpc>
              <a:spcBef>
                <a:spcPct val="0"/>
              </a:spcBef>
            </a:pPr>
            <a:r>
              <a:rPr lang="en-US" sz="2051" spc="4">
                <a:solidFill>
                  <a:srgbClr val="FFFFFF"/>
                </a:solidFill>
                <a:latin typeface="Alice"/>
                <a:ea typeface="Poppins"/>
                <a:cs typeface="Poppins"/>
                <a:sym typeface="Poppins"/>
              </a:rPr>
              <a:t>Khi người dùng đăng ký, Avatar được chuyển thành Base64 để gửi cùng thông tin tài khoản. Sau khi đăng nhập thành công, </a:t>
            </a:r>
          </a:p>
        </p:txBody>
      </p:sp>
      <p:sp>
        <p:nvSpPr>
          <p:cNvPr id="13" name="TextBox 13"/>
          <p:cNvSpPr txBox="1"/>
          <p:nvPr/>
        </p:nvSpPr>
        <p:spPr>
          <a:xfrm>
            <a:off x="8107662" y="7566185"/>
            <a:ext cx="6589514" cy="1452846"/>
          </a:xfrm>
          <a:prstGeom prst="rect">
            <a:avLst/>
          </a:prstGeom>
        </p:spPr>
        <p:txBody>
          <a:bodyPr lIns="0" tIns="0" rIns="0" bIns="0" rtlCol="0" anchor="t">
            <a:spAutoFit/>
          </a:bodyPr>
          <a:lstStyle/>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Load Avatar của người dùng hiện tại.</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Nếu không có ảnh thì sử dụng Avatar mặc định.</a:t>
            </a:r>
          </a:p>
          <a:p>
            <a:pPr marL="442888" lvl="1" indent="-221444" algn="l">
              <a:lnSpc>
                <a:spcPts val="2871"/>
              </a:lnSpc>
              <a:spcBef>
                <a:spcPct val="0"/>
              </a:spcBef>
              <a:buFont typeface="Arial"/>
              <a:buChar char="•"/>
            </a:pPr>
            <a:r>
              <a:rPr lang="en-US" sz="2051" spc="4">
                <a:solidFill>
                  <a:srgbClr val="FFFFFF"/>
                </a:solidFill>
                <a:latin typeface="Alice"/>
                <a:ea typeface="Poppins"/>
                <a:cs typeface="Poppins"/>
                <a:sym typeface="Poppins"/>
              </a:rPr>
              <a:t>Hiển thị Avatar trong Header của Client.</a:t>
            </a:r>
          </a:p>
          <a:p>
            <a:pPr algn="l">
              <a:lnSpc>
                <a:spcPts val="2871"/>
              </a:lnSpc>
              <a:spcBef>
                <a:spcPct val="0"/>
              </a:spcBef>
            </a:pPr>
            <a:endParaRPr lang="en-US" sz="2051" spc="4">
              <a:solidFill>
                <a:srgbClr val="FFFFFF"/>
              </a:solidFill>
              <a:latin typeface="Alice"/>
              <a:ea typeface="Poppins"/>
              <a:cs typeface="Poppins"/>
              <a:sym typeface="Poppi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9" name="TextBox 9"/>
          <p:cNvSpPr txBox="1"/>
          <p:nvPr/>
        </p:nvSpPr>
        <p:spPr>
          <a:xfrm>
            <a:off x="989876" y="536936"/>
            <a:ext cx="8154124" cy="615553"/>
          </a:xfrm>
          <a:prstGeom prst="rect">
            <a:avLst/>
          </a:prstGeom>
        </p:spPr>
        <p:txBody>
          <a:bodyPr lIns="0" tIns="0" rIns="0" bIns="0" rtlCol="0" anchor="t">
            <a:spAutoFit/>
          </a:bodyPr>
          <a:lstStyle/>
          <a:p>
            <a:pPr algn="l">
              <a:lnSpc>
                <a:spcPts val="4806"/>
              </a:lnSpc>
            </a:pPr>
            <a:r>
              <a:rPr lang="en-US" sz="4005" b="1">
                <a:solidFill>
                  <a:srgbClr val="00FFFF"/>
                </a:solidFill>
                <a:latin typeface="Alice"/>
                <a:ea typeface="Neo Sans Bold"/>
                <a:cs typeface="Neo Sans Bold"/>
                <a:sym typeface="Neo Sans Bold"/>
              </a:rPr>
              <a:t>KẾT QUẢ ĐẠT ĐƯỢC</a:t>
            </a:r>
          </a:p>
        </p:txBody>
      </p:sp>
      <p:sp>
        <p:nvSpPr>
          <p:cNvPr id="10" name="TextBox 10"/>
          <p:cNvSpPr txBox="1"/>
          <p:nvPr/>
        </p:nvSpPr>
        <p:spPr>
          <a:xfrm>
            <a:off x="710454" y="1650973"/>
            <a:ext cx="17514804" cy="6612836"/>
          </a:xfrm>
          <a:prstGeom prst="rect">
            <a:avLst/>
          </a:prstGeom>
        </p:spPr>
        <p:txBody>
          <a:bodyPr lIns="0" tIns="0" rIns="0" bIns="0" rtlCol="0" anchor="t">
            <a:spAutoFit/>
          </a:bodyPr>
          <a:lstStyle/>
          <a:p>
            <a:pPr algn="just">
              <a:lnSpc>
                <a:spcPts val="3663"/>
              </a:lnSpc>
            </a:pPr>
            <a:r>
              <a:rPr lang="en-US" sz="2617" spc="130">
                <a:solidFill>
                  <a:srgbClr val="FFFFFF"/>
                </a:solidFill>
                <a:latin typeface="Alice"/>
                <a:ea typeface="Poppins"/>
                <a:cs typeface="Poppins"/>
                <a:sym typeface="Poppins"/>
              </a:rPr>
              <a:t>Kiến trúc &amp; Kỹ thuật:</a:t>
            </a:r>
          </a:p>
          <a:p>
            <a:pPr algn="just">
              <a:lnSpc>
                <a:spcPts val="3663"/>
              </a:lnSpc>
            </a:pPr>
            <a:endParaRPr lang="en-US" sz="2617" spc="130">
              <a:solidFill>
                <a:srgbClr val="FFFFFF"/>
              </a:solidFill>
              <a:latin typeface="Alice"/>
              <a:ea typeface="Poppins"/>
              <a:cs typeface="Poppins"/>
              <a:sym typeface="Poppins"/>
            </a:endParaRP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 Xây dựng thành công mô hình Client-Server qua TCP/IP ổn định, không mất mát dữ liệu. </a:t>
            </a: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Chuẩn hóa giao thức truyền nhận dữ liệu qua JSON (đóng gói tin nhắn, Avatar Base64, Emoji Unicode). </a:t>
            </a: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Xử lý triệt để bài toán đụng độ luồng bằng async/await và Control.Invoke, giữ giao diện mượt mà (không Freeze UI).</a:t>
            </a:r>
          </a:p>
          <a:p>
            <a:pPr algn="just">
              <a:lnSpc>
                <a:spcPts val="3663"/>
              </a:lnSpc>
            </a:pPr>
            <a:endParaRPr lang="en-US" sz="2617" spc="130">
              <a:solidFill>
                <a:srgbClr val="FFFFFF"/>
              </a:solidFill>
              <a:latin typeface="Alice"/>
              <a:ea typeface="Poppins"/>
              <a:cs typeface="Poppins"/>
              <a:sym typeface="Poppins"/>
            </a:endParaRPr>
          </a:p>
          <a:p>
            <a:pPr algn="just">
              <a:lnSpc>
                <a:spcPts val="3663"/>
              </a:lnSpc>
            </a:pPr>
            <a:r>
              <a:rPr lang="en-US" sz="2617" spc="130">
                <a:solidFill>
                  <a:srgbClr val="FFFFFF"/>
                </a:solidFill>
                <a:latin typeface="Alice"/>
                <a:ea typeface="Poppins"/>
                <a:cs typeface="Poppins"/>
                <a:sym typeface="Poppins"/>
              </a:rPr>
              <a:t>Chức năng Ứng dụng:</a:t>
            </a:r>
          </a:p>
          <a:p>
            <a:pPr algn="just">
              <a:lnSpc>
                <a:spcPts val="3663"/>
              </a:lnSpc>
            </a:pPr>
            <a:endParaRPr lang="en-US" sz="2617" spc="130">
              <a:solidFill>
                <a:srgbClr val="FFFFFF"/>
              </a:solidFill>
              <a:latin typeface="Alice"/>
              <a:ea typeface="Poppins"/>
              <a:cs typeface="Poppins"/>
              <a:sym typeface="Poppins"/>
            </a:endParaRP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Đăng ký/Đăng nhập an toàn với mật khẩu đã mã hóa băm (PasswordHash). </a:t>
            </a: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Định tuyến mượt mà Chat 1-1, Chat Nhóm và cập nhật trạng thái Online/Offline thời gian thực. </a:t>
            </a:r>
          </a:p>
          <a:p>
            <a:pPr marL="565020" lvl="1" indent="-282510" algn="just">
              <a:lnSpc>
                <a:spcPts val="3663"/>
              </a:lnSpc>
              <a:buFont typeface="Arial"/>
              <a:buChar char="•"/>
            </a:pPr>
            <a:r>
              <a:rPr lang="en-US" sz="2617" spc="130">
                <a:solidFill>
                  <a:srgbClr val="FFFFFF"/>
                </a:solidFill>
                <a:latin typeface="Alice"/>
                <a:ea typeface="Poppins"/>
                <a:cs typeface="Poppins"/>
                <a:sym typeface="Poppins"/>
              </a:rPr>
              <a:t>Tích hợp trọn vẹn trải nghiệm OTT: Trích dẫn tin nhắn (Reply), Chuyển tiếp (Forward), Avatar và Emoji. </a:t>
            </a:r>
          </a:p>
          <a:p>
            <a:pPr algn="just">
              <a:lnSpc>
                <a:spcPts val="3663"/>
              </a:lnSpc>
              <a:spcBef>
                <a:spcPct val="0"/>
              </a:spcBef>
            </a:pPr>
            <a:endParaRPr lang="en-US" sz="2617" spc="130">
              <a:solidFill>
                <a:srgbClr val="FFFFFF"/>
              </a:solidFill>
              <a:latin typeface="Alice"/>
              <a:ea typeface="Poppins"/>
              <a:cs typeface="Poppins"/>
              <a:sym typeface="Poppins"/>
            </a:endParaRPr>
          </a:p>
          <a:p>
            <a:pPr marL="0" lvl="0" indent="0" algn="just">
              <a:lnSpc>
                <a:spcPts val="3663"/>
              </a:lnSpc>
              <a:spcBef>
                <a:spcPct val="0"/>
              </a:spcBef>
            </a:pPr>
            <a:endParaRPr lang="en-US" sz="2617" spc="130">
              <a:solidFill>
                <a:srgbClr val="FFFFFF"/>
              </a:solidFill>
              <a:latin typeface="Alice"/>
              <a:ea typeface="Poppins"/>
              <a:cs typeface="Poppins"/>
              <a:sym typeface="Poppi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9" name="TextBox 9"/>
          <p:cNvSpPr txBox="1"/>
          <p:nvPr/>
        </p:nvSpPr>
        <p:spPr>
          <a:xfrm>
            <a:off x="470128" y="601205"/>
            <a:ext cx="9670582" cy="1640812"/>
          </a:xfrm>
          <a:prstGeom prst="rect">
            <a:avLst/>
          </a:prstGeom>
        </p:spPr>
        <p:txBody>
          <a:bodyPr lIns="0" tIns="0" rIns="0" bIns="0" rtlCol="0" anchor="t">
            <a:spAutoFit/>
          </a:bodyPr>
          <a:lstStyle/>
          <a:p>
            <a:pPr algn="l">
              <a:lnSpc>
                <a:spcPts val="4159"/>
              </a:lnSpc>
            </a:pPr>
            <a:r>
              <a:rPr lang="en-US" sz="3466" b="1">
                <a:solidFill>
                  <a:srgbClr val="00FFFF"/>
                </a:solidFill>
                <a:latin typeface="Alice"/>
                <a:ea typeface="Neo Sans Bold"/>
                <a:cs typeface="Neo Sans Bold"/>
                <a:sym typeface="Neo Sans Bold"/>
              </a:rPr>
              <a:t>HẠN CHẾ VÀ HƯỚNG PHÁT TRIỂN</a:t>
            </a:r>
          </a:p>
          <a:p>
            <a:pPr algn="l">
              <a:lnSpc>
                <a:spcPts val="4159"/>
              </a:lnSpc>
            </a:pPr>
            <a:endParaRPr lang="en-US" sz="3466" b="1">
              <a:solidFill>
                <a:srgbClr val="00FFFF"/>
              </a:solidFill>
              <a:latin typeface="Alice"/>
              <a:ea typeface="Neo Sans Bold"/>
              <a:cs typeface="Neo Sans Bold"/>
              <a:sym typeface="Neo Sans Bold"/>
            </a:endParaRPr>
          </a:p>
          <a:p>
            <a:pPr algn="l">
              <a:lnSpc>
                <a:spcPts val="4159"/>
              </a:lnSpc>
            </a:pPr>
            <a:endParaRPr lang="en-US" sz="3466" b="1">
              <a:solidFill>
                <a:srgbClr val="00FFFF"/>
              </a:solidFill>
              <a:latin typeface="Alice"/>
              <a:ea typeface="Neo Sans Bold"/>
              <a:cs typeface="Neo Sans Bold"/>
              <a:sym typeface="Neo Sans Bold"/>
            </a:endParaRPr>
          </a:p>
        </p:txBody>
      </p:sp>
      <p:sp>
        <p:nvSpPr>
          <p:cNvPr id="10" name="TextBox 10"/>
          <p:cNvSpPr txBox="1"/>
          <p:nvPr/>
        </p:nvSpPr>
        <p:spPr>
          <a:xfrm>
            <a:off x="470128" y="1650973"/>
            <a:ext cx="17755130" cy="5663858"/>
          </a:xfrm>
          <a:prstGeom prst="rect">
            <a:avLst/>
          </a:prstGeom>
        </p:spPr>
        <p:txBody>
          <a:bodyPr lIns="0" tIns="0" rIns="0" bIns="0" rtlCol="0" anchor="t">
            <a:spAutoFit/>
          </a:bodyPr>
          <a:lstStyle/>
          <a:p>
            <a:pPr marL="565020" lvl="1" indent="-282510" algn="just">
              <a:lnSpc>
                <a:spcPts val="3663"/>
              </a:lnSpc>
              <a:buFont typeface="Arial"/>
              <a:buChar char="•"/>
            </a:pPr>
            <a:r>
              <a:rPr lang="en-US" sz="2617" spc="130" dirty="0" err="1">
                <a:solidFill>
                  <a:srgbClr val="FFFFFF"/>
                </a:solidFill>
                <a:latin typeface="Alice"/>
                <a:ea typeface="Poppins"/>
                <a:cs typeface="Poppins"/>
                <a:sym typeface="Poppins"/>
              </a:rPr>
              <a:t>Hạn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chế</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hiện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tại</a:t>
            </a:r>
            <a:r>
              <a:rPr lang="en-US" sz="2617" spc="130" dirty="0">
                <a:solidFill>
                  <a:srgbClr val="FFFFFF"/>
                </a:solidFill>
                <a:latin typeface="Alice"/>
                <a:ea typeface="Poppins"/>
                <a:cs typeface="Poppins"/>
                <a:sym typeface="Poppins"/>
              </a:rPr>
              <a:t>:</a:t>
            </a:r>
          </a:p>
          <a:p>
            <a:pPr algn="just">
              <a:lnSpc>
                <a:spcPts val="3663"/>
              </a:lnSpc>
            </a:pPr>
            <a:endParaRPr lang="en-US" sz="2617" spc="130" dirty="0">
              <a:solidFill>
                <a:srgbClr val="FFFFFF"/>
              </a:solidFill>
              <a:latin typeface="Alice"/>
              <a:ea typeface="Poppins"/>
              <a:cs typeface="Poppins"/>
              <a:sym typeface="Poppins"/>
            </a:endParaRPr>
          </a:p>
          <a:p>
            <a:pPr marL="1130040" lvl="2" indent="-376680" algn="just">
              <a:lnSpc>
                <a:spcPts val="3663"/>
              </a:lnSpc>
              <a:buFont typeface="Arial"/>
              <a:buChar char="⚬"/>
            </a:pPr>
            <a:r>
              <a:rPr lang="en-US" sz="2617" spc="130" dirty="0">
                <a:solidFill>
                  <a:srgbClr val="FFFFFF"/>
                </a:solidFill>
                <a:latin typeface="Alice"/>
                <a:ea typeface="Poppins"/>
                <a:cs typeface="Poppins"/>
                <a:sym typeface="Poppins"/>
              </a:rPr>
              <a:t>Bảo </a:t>
            </a:r>
            <a:r>
              <a:rPr lang="en-US" sz="2617" spc="130" dirty="0" err="1">
                <a:solidFill>
                  <a:srgbClr val="FFFFFF"/>
                </a:solidFill>
                <a:latin typeface="Alice"/>
                <a:ea typeface="Poppins"/>
                <a:cs typeface="Poppins"/>
                <a:sym typeface="Poppins"/>
              </a:rPr>
              <a:t>mật</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Dữ</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liệu</a:t>
            </a:r>
            <a:r>
              <a:rPr lang="en-US" sz="2617" spc="130" dirty="0">
                <a:solidFill>
                  <a:srgbClr val="FFFFFF"/>
                </a:solidFill>
                <a:latin typeface="Alice"/>
                <a:ea typeface="Poppins"/>
                <a:cs typeface="Poppins"/>
                <a:sym typeface="Poppins"/>
              </a:rPr>
              <a:t> JSON </a:t>
            </a:r>
            <a:r>
              <a:rPr lang="en-US" sz="2617" spc="130" dirty="0" err="1">
                <a:solidFill>
                  <a:srgbClr val="FFFFFF"/>
                </a:solidFill>
                <a:latin typeface="Alice"/>
                <a:ea typeface="Poppins"/>
                <a:cs typeface="Poppins"/>
                <a:sym typeface="Poppins"/>
              </a:rPr>
              <a:t>truyền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dạng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bản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rõ</a:t>
            </a:r>
            <a:r>
              <a:rPr lang="en-US" sz="2617" spc="130" dirty="0">
                <a:solidFill>
                  <a:srgbClr val="FFFFFF"/>
                </a:solidFill>
                <a:latin typeface="Alice"/>
                <a:ea typeface="Poppins"/>
                <a:cs typeface="Poppins"/>
                <a:sym typeface="Poppins"/>
              </a:rPr>
              <a:t> (Plaintext), </a:t>
            </a:r>
            <a:r>
              <a:rPr lang="en-US" sz="2617" spc="130" dirty="0" err="1">
                <a:solidFill>
                  <a:srgbClr val="FFFFFF"/>
                </a:solidFill>
                <a:latin typeface="Alice"/>
                <a:ea typeface="Poppins"/>
                <a:cs typeface="Poppins"/>
                <a:sym typeface="Poppins"/>
              </a:rPr>
              <a:t>chưa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mã</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hóa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đầu</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cuối</a:t>
            </a:r>
            <a:r>
              <a:rPr lang="en-US" sz="2617" spc="130" dirty="0">
                <a:solidFill>
                  <a:srgbClr val="FFFFFF"/>
                </a:solidFill>
                <a:latin typeface="Alice"/>
                <a:ea typeface="Poppins"/>
                <a:cs typeface="Poppins"/>
                <a:sym typeface="Poppins"/>
              </a:rPr>
              <a:t>. </a:t>
            </a:r>
          </a:p>
          <a:p>
            <a:pPr marL="1130040" lvl="2" indent="-376680" algn="just">
              <a:lnSpc>
                <a:spcPts val="3663"/>
              </a:lnSpc>
              <a:buFont typeface="Arial"/>
              <a:buChar char="⚬"/>
            </a:pPr>
            <a:r>
              <a:rPr lang="en-US" sz="2617" spc="130" dirty="0">
                <a:solidFill>
                  <a:srgbClr val="FFFFFF"/>
                </a:solidFill>
                <a:latin typeface="Alice"/>
                <a:ea typeface="Poppins"/>
                <a:cs typeface="Poppins"/>
                <a:sym typeface="Poppins"/>
              </a:rPr>
              <a:t>Hiệu </a:t>
            </a:r>
            <a:r>
              <a:rPr lang="en-US" sz="2617" spc="130" dirty="0" err="1">
                <a:solidFill>
                  <a:srgbClr val="FFFFFF"/>
                </a:solidFill>
                <a:latin typeface="Alice"/>
                <a:ea typeface="Poppins"/>
                <a:cs typeface="Poppins"/>
                <a:sym typeface="Poppins"/>
              </a:rPr>
              <a:t>năng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Mã</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hóa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ảnh</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bằng</a:t>
            </a:r>
            <a:r>
              <a:rPr lang="en-US" sz="2617" spc="130" dirty="0">
                <a:solidFill>
                  <a:srgbClr val="FFFFFF"/>
                </a:solidFill>
                <a:latin typeface="Alice"/>
                <a:ea typeface="Poppins"/>
                <a:cs typeface="Poppins"/>
                <a:sym typeface="Poppins"/>
              </a:rPr>
              <a:t> Base64 </a:t>
            </a:r>
            <a:r>
              <a:rPr lang="en-US" sz="2617" spc="130" dirty="0" err="1">
                <a:solidFill>
                  <a:srgbClr val="FFFFFF"/>
                </a:solidFill>
                <a:latin typeface="Alice"/>
                <a:ea typeface="Poppins"/>
                <a:cs typeface="Poppins"/>
                <a:sym typeface="Poppins"/>
              </a:rPr>
              <a:t>làm</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tăng</a:t>
            </a:r>
            <a:r>
              <a:rPr lang="en-US" sz="2617" spc="130" dirty="0">
                <a:solidFill>
                  <a:srgbClr val="FFFFFF"/>
                </a:solidFill>
                <a:latin typeface="Alice"/>
                <a:ea typeface="Poppins"/>
                <a:cs typeface="Poppins"/>
                <a:sym typeface="Poppins"/>
              </a:rPr>
              <a:t> 33% dung </a:t>
            </a:r>
            <a:r>
              <a:rPr lang="en-US" sz="2617" spc="130" dirty="0" err="1">
                <a:solidFill>
                  <a:srgbClr val="FFFFFF"/>
                </a:solidFill>
                <a:latin typeface="Alice"/>
                <a:ea typeface="Poppins"/>
                <a:cs typeface="Poppins"/>
                <a:sym typeface="Poppins"/>
              </a:rPr>
              <a:t>lượng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chưa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tối</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ưu</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cho</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tệp</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lớn</a:t>
            </a:r>
            <a:r>
              <a:rPr lang="en-US" sz="2617" spc="130" dirty="0">
                <a:solidFill>
                  <a:srgbClr val="FFFFFF"/>
                </a:solidFill>
                <a:latin typeface="Alice"/>
                <a:ea typeface="Poppins"/>
                <a:cs typeface="Poppins"/>
                <a:sym typeface="Poppins"/>
              </a:rPr>
              <a:t>. </a:t>
            </a:r>
          </a:p>
          <a:p>
            <a:pPr marL="1130040" lvl="2" indent="-376680" algn="just">
              <a:lnSpc>
                <a:spcPts val="3663"/>
              </a:lnSpc>
              <a:buFont typeface="Arial"/>
              <a:buChar char="⚬"/>
            </a:pPr>
            <a:r>
              <a:rPr lang="en-US" sz="2617" spc="130" dirty="0">
                <a:solidFill>
                  <a:srgbClr val="FFFFFF"/>
                </a:solidFill>
                <a:latin typeface="Alice"/>
                <a:ea typeface="Poppins"/>
                <a:cs typeface="Poppins"/>
                <a:sym typeface="Poppins"/>
              </a:rPr>
              <a:t>Giao </a:t>
            </a:r>
            <a:r>
              <a:rPr lang="en-US" sz="2617" spc="130" dirty="0" err="1">
                <a:solidFill>
                  <a:srgbClr val="FFFFFF"/>
                </a:solidFill>
                <a:latin typeface="Alice"/>
                <a:ea typeface="Poppins"/>
                <a:cs typeface="Poppins"/>
                <a:sym typeface="Poppins"/>
              </a:rPr>
              <a:t>diện</a:t>
            </a:r>
            <a:r>
              <a:rPr lang="en-US" sz="2617" spc="130" dirty="0">
                <a:solidFill>
                  <a:srgbClr val="FFFFFF"/>
                </a:solidFill>
                <a:latin typeface="Alice"/>
                <a:ea typeface="Poppins"/>
                <a:cs typeface="Poppins"/>
                <a:sym typeface="Poppins"/>
              </a:rPr>
              <a:t>: Windows Forms </a:t>
            </a:r>
            <a:r>
              <a:rPr lang="en-US" sz="2617" spc="130" dirty="0" err="1">
                <a:solidFill>
                  <a:srgbClr val="FFFFFF"/>
                </a:solidFill>
                <a:latin typeface="Alice"/>
                <a:ea typeface="Poppins"/>
                <a:cs typeface="Poppins"/>
                <a:sym typeface="Poppins"/>
              </a:rPr>
              <a:t>hạn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chế</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về</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hiệu</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ứng</a:t>
            </a:r>
            <a:r>
              <a:rPr lang="en-US" sz="2617" spc="130" dirty="0">
                <a:solidFill>
                  <a:srgbClr val="FFFFFF"/>
                </a:solidFill>
                <a:latin typeface="Alice"/>
                <a:ea typeface="Poppins"/>
                <a:cs typeface="Poppins"/>
                <a:sym typeface="Poppins"/>
              </a:rPr>
              <a:t> UI/UX </a:t>
            </a:r>
            <a:r>
              <a:rPr lang="en-US" sz="2617" spc="130" dirty="0" err="1">
                <a:solidFill>
                  <a:srgbClr val="FFFFFF"/>
                </a:solidFill>
                <a:latin typeface="Alice"/>
                <a:ea typeface="Poppins"/>
                <a:cs typeface="Poppins"/>
                <a:sym typeface="Poppins"/>
              </a:rPr>
              <a:t>và</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không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hỗ</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trợ</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đa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nền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tảng</a:t>
            </a:r>
            <a:r>
              <a:rPr lang="en-US" sz="2617" spc="130" dirty="0">
                <a:solidFill>
                  <a:srgbClr val="FFFFFF"/>
                </a:solidFill>
                <a:latin typeface="Alice"/>
                <a:ea typeface="Poppins"/>
                <a:cs typeface="Poppins"/>
                <a:sym typeface="Poppins"/>
              </a:rPr>
              <a:t>.</a:t>
            </a:r>
          </a:p>
          <a:p>
            <a:pPr algn="just">
              <a:lnSpc>
                <a:spcPts val="3663"/>
              </a:lnSpc>
            </a:pPr>
            <a:r>
              <a:rPr lang="en-US" sz="2617" spc="130" dirty="0">
                <a:solidFill>
                  <a:srgbClr val="FFFFFF"/>
                </a:solidFill>
                <a:latin typeface="Alice"/>
                <a:ea typeface="Poppins"/>
                <a:cs typeface="Poppins"/>
                <a:sym typeface="Poppins"/>
              </a:rPr>
              <a:t> </a:t>
            </a:r>
          </a:p>
          <a:p>
            <a:pPr marL="565020" lvl="1" indent="-282510" algn="just">
              <a:lnSpc>
                <a:spcPts val="3663"/>
              </a:lnSpc>
              <a:buFont typeface="Arial"/>
              <a:buChar char="•"/>
            </a:pPr>
            <a:r>
              <a:rPr lang="en-US" sz="2617" spc="130" dirty="0" err="1">
                <a:solidFill>
                  <a:srgbClr val="FFFFFF"/>
                </a:solidFill>
                <a:latin typeface="Alice"/>
                <a:ea typeface="Poppins"/>
                <a:cs typeface="Poppins"/>
                <a:sym typeface="Poppins"/>
              </a:rPr>
              <a:t>Hướng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phát</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triển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tương</a:t>
            </a:r>
            <a:r>
              <a:rPr lang="en-US" sz="2617" spc="130" dirty="0">
                <a:solidFill>
                  <a:srgbClr val="FFFFFF"/>
                </a:solidFill>
                <a:latin typeface="Alice"/>
                <a:ea typeface="Poppins"/>
                <a:cs typeface="Poppins"/>
                <a:sym typeface="Poppins"/>
              </a:rPr>
              <a:t> lai:</a:t>
            </a:r>
          </a:p>
          <a:p>
            <a:pPr algn="just">
              <a:lnSpc>
                <a:spcPts val="3663"/>
              </a:lnSpc>
            </a:pPr>
            <a:endParaRPr lang="en-US" sz="2617" spc="130" dirty="0">
              <a:solidFill>
                <a:srgbClr val="FFFFFF"/>
              </a:solidFill>
              <a:latin typeface="Alice"/>
              <a:ea typeface="Poppins"/>
              <a:cs typeface="Poppins"/>
              <a:sym typeface="Poppins"/>
            </a:endParaRPr>
          </a:p>
          <a:p>
            <a:pPr marL="1130040" lvl="2" indent="-376680" algn="just">
              <a:lnSpc>
                <a:spcPts val="3663"/>
              </a:lnSpc>
              <a:buFont typeface="Arial"/>
              <a:buChar char="⚬"/>
            </a:pPr>
            <a:r>
              <a:rPr lang="en-US" sz="2617" spc="130" dirty="0" err="1">
                <a:solidFill>
                  <a:srgbClr val="FFFFFF"/>
                </a:solidFill>
                <a:latin typeface="Alice"/>
                <a:ea typeface="Poppins"/>
                <a:cs typeface="Poppins"/>
                <a:sym typeface="Poppins"/>
              </a:rPr>
              <a:t>Nâng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cấp</a:t>
            </a:r>
            <a:r>
              <a:rPr lang="en-US" sz="2617" spc="130" dirty="0">
                <a:solidFill>
                  <a:srgbClr val="FFFFFF"/>
                </a:solidFill>
                <a:latin typeface="Alice"/>
                <a:ea typeface="Poppins"/>
                <a:cs typeface="Poppins"/>
                <a:sym typeface="Poppins"/>
              </a:rPr>
              <a:t> Bảo </a:t>
            </a:r>
            <a:r>
              <a:rPr lang="en-US" sz="2617" spc="130" dirty="0" err="1">
                <a:solidFill>
                  <a:srgbClr val="FFFFFF"/>
                </a:solidFill>
                <a:latin typeface="Alice"/>
                <a:ea typeface="Poppins"/>
                <a:cs typeface="Poppins"/>
                <a:sym typeface="Poppins"/>
              </a:rPr>
              <a:t>mật</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Áp</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dụng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giao</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thức</a:t>
            </a:r>
            <a:r>
              <a:rPr lang="en-US" sz="2617" spc="130" dirty="0">
                <a:solidFill>
                  <a:srgbClr val="FFFFFF"/>
                </a:solidFill>
                <a:latin typeface="Alice"/>
                <a:ea typeface="Poppins"/>
                <a:cs typeface="Poppins"/>
                <a:sym typeface="Poppins"/>
              </a:rPr>
              <a:t> TLS (</a:t>
            </a:r>
            <a:r>
              <a:rPr lang="en-US" sz="2617" spc="130" dirty="0" err="1">
                <a:solidFill>
                  <a:srgbClr val="FFFFFF"/>
                </a:solidFill>
                <a:latin typeface="Alice"/>
                <a:ea typeface="Poppins"/>
                <a:cs typeface="Poppins"/>
                <a:sym typeface="Poppins"/>
              </a:rPr>
              <a:t>SslStream</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để</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mã</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hóa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luồng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dữ</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liệu</a:t>
            </a:r>
            <a:r>
              <a:rPr lang="en-US" sz="2617" spc="130" dirty="0">
                <a:solidFill>
                  <a:srgbClr val="FFFFFF"/>
                </a:solidFill>
                <a:latin typeface="Alice"/>
                <a:ea typeface="Poppins"/>
                <a:cs typeface="Poppins"/>
                <a:sym typeface="Poppins"/>
              </a:rPr>
              <a:t> TCP. </a:t>
            </a:r>
          </a:p>
          <a:p>
            <a:pPr marL="1130040" lvl="2" indent="-376680" algn="just">
              <a:lnSpc>
                <a:spcPts val="3663"/>
              </a:lnSpc>
              <a:buFont typeface="Arial"/>
              <a:buChar char="⚬"/>
            </a:pPr>
            <a:r>
              <a:rPr lang="en-US" sz="2617" spc="130" dirty="0" err="1">
                <a:solidFill>
                  <a:srgbClr val="FFFFFF"/>
                </a:solidFill>
                <a:latin typeface="Alice"/>
                <a:ea typeface="Poppins"/>
                <a:cs typeface="Poppins"/>
                <a:sym typeface="Poppins"/>
              </a:rPr>
              <a:t>Đa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phương</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tiện</a:t>
            </a:r>
            <a:r>
              <a:rPr lang="en-US" sz="2617" spc="130" dirty="0">
                <a:solidFill>
                  <a:srgbClr val="FFFFFF"/>
                </a:solidFill>
                <a:latin typeface="Alice"/>
                <a:ea typeface="Poppins"/>
                <a:cs typeface="Poppins"/>
                <a:sym typeface="Poppins"/>
              </a:rPr>
              <a:t>: Chia </a:t>
            </a:r>
            <a:r>
              <a:rPr lang="en-US" sz="2617" spc="130" dirty="0" err="1">
                <a:solidFill>
                  <a:srgbClr val="FFFFFF"/>
                </a:solidFill>
                <a:latin typeface="Alice"/>
                <a:ea typeface="Poppins"/>
                <a:cs typeface="Poppins"/>
                <a:sym typeface="Poppins"/>
              </a:rPr>
              <a:t>nhỏ</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tệp</a:t>
            </a:r>
            <a:r>
              <a:rPr lang="en-US" sz="2617" spc="130" dirty="0">
                <a:solidFill>
                  <a:srgbClr val="FFFFFF"/>
                </a:solidFill>
                <a:latin typeface="Alice"/>
                <a:ea typeface="Poppins"/>
                <a:cs typeface="Poppins"/>
                <a:sym typeface="Poppins"/>
              </a:rPr>
              <a:t> (File Chunking) </a:t>
            </a:r>
            <a:r>
              <a:rPr lang="en-US" sz="2617" spc="130" dirty="0" err="1">
                <a:solidFill>
                  <a:srgbClr val="FFFFFF"/>
                </a:solidFill>
                <a:latin typeface="Alice"/>
                <a:ea typeface="Poppins"/>
                <a:cs typeface="Poppins"/>
                <a:sym typeface="Poppins"/>
              </a:rPr>
              <a:t>để</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gửi</a:t>
            </a:r>
            <a:r>
              <a:rPr lang="en-US" sz="2617" spc="130" dirty="0">
                <a:solidFill>
                  <a:srgbClr val="FFFFFF"/>
                </a:solidFill>
                <a:latin typeface="Alice"/>
                <a:ea typeface="Poppins"/>
                <a:cs typeface="Poppins"/>
                <a:sym typeface="Poppins"/>
              </a:rPr>
              <a:t> file </a:t>
            </a:r>
            <a:r>
              <a:rPr lang="en-US" sz="2617" spc="130" dirty="0" err="1">
                <a:solidFill>
                  <a:srgbClr val="FFFFFF"/>
                </a:solidFill>
                <a:latin typeface="Alice"/>
                <a:ea typeface="Poppins"/>
                <a:cs typeface="Poppins"/>
                <a:sym typeface="Poppins"/>
              </a:rPr>
              <a:t>lớn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và</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tích</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hợp</a:t>
            </a:r>
            <a:r>
              <a:rPr lang="en-US" sz="2617" spc="130" dirty="0">
                <a:solidFill>
                  <a:srgbClr val="FFFFFF"/>
                </a:solidFill>
                <a:latin typeface="Alice"/>
                <a:ea typeface="Poppins"/>
                <a:cs typeface="Poppins"/>
                <a:sym typeface="Poppins"/>
              </a:rPr>
              <a:t> WebRTC </a:t>
            </a:r>
            <a:r>
              <a:rPr lang="en-US" sz="2617" spc="130" dirty="0" err="1">
                <a:solidFill>
                  <a:srgbClr val="FFFFFF"/>
                </a:solidFill>
                <a:latin typeface="Alice"/>
                <a:ea typeface="Poppins"/>
                <a:cs typeface="Poppins"/>
                <a:sym typeface="Poppins"/>
              </a:rPr>
              <a:t>để</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gọi</a:t>
            </a:r>
            <a:r>
              <a:rPr lang="en-US" sz="2617" spc="130" dirty="0">
                <a:solidFill>
                  <a:srgbClr val="FFFFFF"/>
                </a:solidFill>
                <a:latin typeface="Alice"/>
                <a:ea typeface="Poppins"/>
                <a:cs typeface="Poppins"/>
                <a:sym typeface="Poppins"/>
              </a:rPr>
              <a:t> Voice/Video. </a:t>
            </a:r>
          </a:p>
          <a:p>
            <a:pPr marL="1130040" lvl="2" indent="-376680" algn="just">
              <a:lnSpc>
                <a:spcPts val="3663"/>
              </a:lnSpc>
              <a:spcBef>
                <a:spcPct val="0"/>
              </a:spcBef>
              <a:buFont typeface="Arial"/>
              <a:buChar char="⚬"/>
            </a:pPr>
            <a:r>
              <a:rPr lang="en-US" sz="2617" spc="130" dirty="0" err="1">
                <a:solidFill>
                  <a:srgbClr val="FFFFFF"/>
                </a:solidFill>
                <a:latin typeface="Alice"/>
                <a:ea typeface="Poppins"/>
                <a:cs typeface="Poppins"/>
                <a:sym typeface="Poppins"/>
              </a:rPr>
              <a:t>Cải</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tiến</a:t>
            </a:r>
            <a:r>
              <a:rPr lang="en-US" sz="2617" spc="130" dirty="0">
                <a:solidFill>
                  <a:srgbClr val="FFFFFF"/>
                </a:solidFill>
                <a:latin typeface="Alice"/>
                <a:ea typeface="Poppins"/>
                <a:cs typeface="Poppins"/>
                <a:sym typeface="Poppins"/>
              </a:rPr>
              <a:t> UI/UX: </a:t>
            </a:r>
            <a:r>
              <a:rPr lang="en-US" sz="2617" spc="130" dirty="0" err="1">
                <a:solidFill>
                  <a:srgbClr val="FFFFFF"/>
                </a:solidFill>
                <a:latin typeface="Alice"/>
                <a:ea typeface="Poppins"/>
                <a:cs typeface="Poppins"/>
                <a:sym typeface="Poppins"/>
              </a:rPr>
              <a:t>Chuyển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đổi</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nền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tảng</a:t>
            </a:r>
            <a:r>
              <a:rPr lang="en-US" sz="2617" spc="130" dirty="0">
                <a:solidFill>
                  <a:srgbClr val="FFFFFF"/>
                </a:solidFill>
                <a:latin typeface="Alice"/>
                <a:ea typeface="Poppins"/>
                <a:cs typeface="Poppins"/>
                <a:sym typeface="Poppins"/>
              </a:rPr>
              <a:t> sang WPF </a:t>
            </a:r>
            <a:r>
              <a:rPr lang="en-US" sz="2617" spc="130" dirty="0" err="1">
                <a:solidFill>
                  <a:srgbClr val="FFFFFF"/>
                </a:solidFill>
                <a:latin typeface="Alice"/>
                <a:ea typeface="Poppins"/>
                <a:cs typeface="Poppins"/>
                <a:sym typeface="Poppins"/>
              </a:rPr>
              <a:t>hoặc</a:t>
            </a:r>
            <a:r>
              <a:rPr lang="en-US" sz="2617" spc="130" dirty="0">
                <a:solidFill>
                  <a:srgbClr val="FFFFFF"/>
                </a:solidFill>
                <a:latin typeface="Alice"/>
                <a:ea typeface="Poppins"/>
                <a:cs typeface="Poppins"/>
                <a:sym typeface="Poppins"/>
              </a:rPr>
              <a:t> .NET MAUI </a:t>
            </a:r>
            <a:r>
              <a:rPr lang="en-US" sz="2617" spc="130" dirty="0" err="1">
                <a:solidFill>
                  <a:srgbClr val="FFFFFF"/>
                </a:solidFill>
                <a:latin typeface="Alice"/>
                <a:ea typeface="Poppins"/>
                <a:cs typeface="Poppins"/>
                <a:sym typeface="Poppins"/>
              </a:rPr>
              <a:t>để</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hỗ</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trợ</a:t>
            </a:r>
            <a:r>
              <a:rPr lang="en-US" sz="2617" spc="130" dirty="0">
                <a:solidFill>
                  <a:srgbClr val="FFFFFF"/>
                </a:solidFill>
                <a:latin typeface="Alice"/>
                <a:ea typeface="Poppins"/>
                <a:cs typeface="Poppins"/>
                <a:sym typeface="Poppins"/>
              </a:rPr>
              <a:t> Responsive </a:t>
            </a:r>
            <a:r>
              <a:rPr lang="en-US" sz="2617" spc="130" dirty="0" err="1">
                <a:solidFill>
                  <a:srgbClr val="FFFFFF"/>
                </a:solidFill>
                <a:latin typeface="Alice"/>
                <a:ea typeface="Poppins"/>
                <a:cs typeface="Poppins"/>
                <a:sym typeface="Poppins"/>
              </a:rPr>
              <a:t>và</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đa</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nền</a:t>
            </a:r>
            <a:r>
              <a:rPr lang="en-US" sz="2617" spc="130" dirty="0">
                <a:solidFill>
                  <a:srgbClr val="FFFFFF"/>
                </a:solidFill>
                <a:latin typeface="Alice"/>
                <a:ea typeface="Poppins"/>
                <a:cs typeface="Poppins"/>
                <a:sym typeface="Poppins"/>
              </a:rPr>
              <a:t> </a:t>
            </a:r>
            <a:r>
              <a:rPr lang="en-US" sz="2617" spc="130" dirty="0" err="1">
                <a:solidFill>
                  <a:srgbClr val="FFFFFF"/>
                </a:solidFill>
                <a:latin typeface="Alice"/>
                <a:ea typeface="Poppins"/>
                <a:cs typeface="Poppins"/>
                <a:sym typeface="Poppins"/>
              </a:rPr>
              <a:t>tảng</a:t>
            </a:r>
            <a:r>
              <a:rPr lang="en-US" sz="2617" spc="130" dirty="0">
                <a:solidFill>
                  <a:srgbClr val="FFFFFF"/>
                </a:solidFill>
                <a:latin typeface="Alice"/>
                <a:ea typeface="Poppins"/>
                <a:cs typeface="Poppins"/>
                <a:sym typeface="Poppins"/>
              </a:rPr>
              <a:t>. </a:t>
            </a:r>
          </a:p>
          <a:p>
            <a:pPr marL="0" lvl="0" indent="0" algn="just">
              <a:lnSpc>
                <a:spcPts val="3663"/>
              </a:lnSpc>
              <a:spcBef>
                <a:spcPct val="0"/>
              </a:spcBef>
            </a:pPr>
            <a:endParaRPr lang="en-US" sz="2617" spc="130" dirty="0">
              <a:solidFill>
                <a:srgbClr val="FFFFFF"/>
              </a:solidFill>
              <a:latin typeface="Alice"/>
              <a:ea typeface="Poppins"/>
              <a:cs typeface="Poppins"/>
              <a:sym typeface="Poppi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1860">
                <a:alpha val="100000"/>
              </a:srgbClr>
            </a:gs>
            <a:gs pos="100000">
              <a:srgbClr val="019CD6">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flipH="1">
            <a:off x="-1841395" y="8048208"/>
            <a:ext cx="10011099" cy="1474362"/>
          </a:xfrm>
          <a:custGeom>
            <a:avLst/>
            <a:gdLst/>
            <a:ahLst/>
            <a:cxnLst/>
            <a:rect l="l" t="t" r="r" b="b"/>
            <a:pathLst>
              <a:path w="10011099" h="1474362">
                <a:moveTo>
                  <a:pt x="10011100" y="0"/>
                </a:moveTo>
                <a:lnTo>
                  <a:pt x="0" y="0"/>
                </a:lnTo>
                <a:lnTo>
                  <a:pt x="0" y="1474362"/>
                </a:lnTo>
                <a:lnTo>
                  <a:pt x="10011100" y="1474362"/>
                </a:lnTo>
                <a:lnTo>
                  <a:pt x="100111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latin typeface="Alice"/>
            </a:endParaRPr>
          </a:p>
        </p:txBody>
      </p:sp>
      <p:grpSp>
        <p:nvGrpSpPr>
          <p:cNvPr id="3" name="Group 3"/>
          <p:cNvGrpSpPr/>
          <p:nvPr/>
        </p:nvGrpSpPr>
        <p:grpSpPr>
          <a:xfrm>
            <a:off x="7468702" y="9267825"/>
            <a:ext cx="132088" cy="1320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grpSp>
        <p:nvGrpSpPr>
          <p:cNvPr id="6" name="Group 6"/>
          <p:cNvGrpSpPr/>
          <p:nvPr/>
        </p:nvGrpSpPr>
        <p:grpSpPr>
          <a:xfrm>
            <a:off x="7999517" y="9427951"/>
            <a:ext cx="132088" cy="1320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FFFF"/>
            </a:solidFill>
          </p:spPr>
          <p:txBody>
            <a:bodyPr/>
            <a:lstStyle/>
            <a:p>
              <a:endParaRPr lang="en-US">
                <a:latin typeface="Alice"/>
              </a:endParaRPr>
            </a:p>
          </p:txBody>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871"/>
                </a:lnSpc>
              </a:pPr>
              <a:endParaRPr>
                <a:latin typeface="Alice"/>
              </a:endParaRPr>
            </a:p>
          </p:txBody>
        </p:sp>
      </p:grpSp>
      <p:sp>
        <p:nvSpPr>
          <p:cNvPr id="9" name="TextBox 9"/>
          <p:cNvSpPr txBox="1"/>
          <p:nvPr/>
        </p:nvSpPr>
        <p:spPr>
          <a:xfrm>
            <a:off x="470128" y="448360"/>
            <a:ext cx="9396061" cy="1211870"/>
          </a:xfrm>
          <a:prstGeom prst="rect">
            <a:avLst/>
          </a:prstGeom>
        </p:spPr>
        <p:txBody>
          <a:bodyPr lIns="0" tIns="0" rIns="0" bIns="0" rtlCol="0" anchor="t">
            <a:spAutoFit/>
          </a:bodyPr>
          <a:lstStyle/>
          <a:p>
            <a:pPr algn="l">
              <a:lnSpc>
                <a:spcPts val="4771"/>
              </a:lnSpc>
            </a:pPr>
            <a:r>
              <a:rPr lang="en-US" sz="3976" b="1">
                <a:solidFill>
                  <a:srgbClr val="00FFFF"/>
                </a:solidFill>
                <a:latin typeface="Alice"/>
                <a:ea typeface="Neo Sans Bold"/>
                <a:cs typeface="Neo Sans Bold"/>
                <a:sym typeface="Neo Sans Bold"/>
              </a:rPr>
              <a:t>KẾT LUẬN</a:t>
            </a:r>
          </a:p>
          <a:p>
            <a:pPr algn="l">
              <a:lnSpc>
                <a:spcPts val="4771"/>
              </a:lnSpc>
            </a:pPr>
            <a:endParaRPr lang="en-US" sz="3976" b="1">
              <a:solidFill>
                <a:srgbClr val="00FFFF"/>
              </a:solidFill>
              <a:latin typeface="Alice"/>
              <a:ea typeface="Neo Sans Bold"/>
              <a:cs typeface="Neo Sans Bold"/>
              <a:sym typeface="Neo Sans Bold"/>
            </a:endParaRPr>
          </a:p>
        </p:txBody>
      </p:sp>
      <p:sp>
        <p:nvSpPr>
          <p:cNvPr id="10" name="TextBox 10"/>
          <p:cNvSpPr txBox="1"/>
          <p:nvPr/>
        </p:nvSpPr>
        <p:spPr>
          <a:xfrm>
            <a:off x="1028700" y="2933904"/>
            <a:ext cx="16465881" cy="2472041"/>
          </a:xfrm>
          <a:prstGeom prst="rect">
            <a:avLst/>
          </a:prstGeom>
        </p:spPr>
        <p:txBody>
          <a:bodyPr lIns="0" tIns="0" rIns="0" bIns="0" rtlCol="0" anchor="t">
            <a:spAutoFit/>
          </a:bodyPr>
          <a:lstStyle/>
          <a:p>
            <a:pPr marL="565019" lvl="1" indent="-282510" algn="just">
              <a:lnSpc>
                <a:spcPts val="3925"/>
              </a:lnSpc>
              <a:buFont typeface="Arial"/>
              <a:buChar char="•"/>
            </a:pPr>
            <a:r>
              <a:rPr lang="en-US" sz="2617" spc="157">
                <a:solidFill>
                  <a:srgbClr val="FFFFFF"/>
                </a:solidFill>
                <a:latin typeface="Alice"/>
                <a:ea typeface="Poppins"/>
                <a:cs typeface="Poppins"/>
                <a:sym typeface="Poppins"/>
              </a:rPr>
              <a:t>Giá trị Học thuật: Giúp nhóm củng cố vững chắc lý thuyết mạng máy tính và thành thạo kỹ năng lập trình mạng thực tế trên C#/.NET. </a:t>
            </a:r>
          </a:p>
          <a:p>
            <a:pPr marL="565019" lvl="1" indent="-282510" algn="just">
              <a:lnSpc>
                <a:spcPts val="3925"/>
              </a:lnSpc>
              <a:buFont typeface="Arial"/>
              <a:buChar char="•"/>
            </a:pPr>
            <a:r>
              <a:rPr lang="en-US" sz="2617" spc="157">
                <a:solidFill>
                  <a:srgbClr val="FFFFFF"/>
                </a:solidFill>
                <a:latin typeface="Alice"/>
                <a:ea typeface="Poppins"/>
                <a:cs typeface="Poppins"/>
                <a:sym typeface="Poppins"/>
              </a:rPr>
              <a:t>Tính Ứng dụng: Đáp ứng trọn vẹn các tiêu chí của đồ á, tạo ra sản phẩm có cấu trúc mã nguồn tốt, sẵn sàng mở rộng thành ứng dụng liên lạc thực tế.</a:t>
            </a:r>
          </a:p>
          <a:p>
            <a:pPr marL="0" lvl="0" indent="0" algn="just">
              <a:lnSpc>
                <a:spcPts val="3925"/>
              </a:lnSpc>
            </a:pPr>
            <a:endParaRPr lang="en-US" sz="2617" spc="157">
              <a:solidFill>
                <a:srgbClr val="FFFFFF"/>
              </a:solidFill>
              <a:latin typeface="Alice"/>
              <a:ea typeface="Poppins"/>
              <a:cs typeface="Poppins"/>
              <a:sym typeface="Poppi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9CD6">
                <a:alpha val="100000"/>
              </a:srgbClr>
            </a:gs>
            <a:gs pos="100000">
              <a:srgbClr val="00186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0" y="-51435"/>
            <a:ext cx="18288000" cy="10389870"/>
            <a:chOff x="0" y="0"/>
            <a:chExt cx="2833290" cy="1609663"/>
          </a:xfrm>
        </p:grpSpPr>
        <p:sp>
          <p:nvSpPr>
            <p:cNvPr id="3" name="Freeform 3"/>
            <p:cNvSpPr/>
            <p:nvPr/>
          </p:nvSpPr>
          <p:spPr>
            <a:xfrm>
              <a:off x="0" y="0"/>
              <a:ext cx="2833290" cy="1609663"/>
            </a:xfrm>
            <a:custGeom>
              <a:avLst/>
              <a:gdLst/>
              <a:ahLst/>
              <a:cxnLst/>
              <a:rect l="l" t="t" r="r" b="b"/>
              <a:pathLst>
                <a:path w="2833290" h="1609663">
                  <a:moveTo>
                    <a:pt x="0" y="0"/>
                  </a:moveTo>
                  <a:lnTo>
                    <a:pt x="2833290" y="0"/>
                  </a:lnTo>
                  <a:lnTo>
                    <a:pt x="2833290" y="1609663"/>
                  </a:lnTo>
                  <a:lnTo>
                    <a:pt x="0" y="1609663"/>
                  </a:lnTo>
                  <a:close/>
                </a:path>
              </a:pathLst>
            </a:custGeom>
            <a:blipFill>
              <a:blip r:embed="rId2"/>
              <a:stretch>
                <a:fillRect l="-499" r="-499"/>
              </a:stretch>
            </a:blipFill>
          </p:spPr>
          <p:txBody>
            <a:bodyPr/>
            <a:lstStyle/>
            <a:p>
              <a:endParaRPr lang="en-US"/>
            </a:p>
          </p:txBody>
        </p:sp>
      </p:grpSp>
      <p:grpSp>
        <p:nvGrpSpPr>
          <p:cNvPr id="4" name="Group 4"/>
          <p:cNvGrpSpPr/>
          <p:nvPr/>
        </p:nvGrpSpPr>
        <p:grpSpPr>
          <a:xfrm>
            <a:off x="0" y="-38100"/>
            <a:ext cx="18288000" cy="10325100"/>
            <a:chOff x="0" y="0"/>
            <a:chExt cx="4816593" cy="2719368"/>
          </a:xfrm>
        </p:grpSpPr>
        <p:sp>
          <p:nvSpPr>
            <p:cNvPr id="5" name="Freeform 5"/>
            <p:cNvSpPr/>
            <p:nvPr/>
          </p:nvSpPr>
          <p:spPr>
            <a:xfrm>
              <a:off x="0" y="0"/>
              <a:ext cx="4816592" cy="2719368"/>
            </a:xfrm>
            <a:custGeom>
              <a:avLst/>
              <a:gdLst/>
              <a:ahLst/>
              <a:cxnLst/>
              <a:rect l="l" t="t" r="r" b="b"/>
              <a:pathLst>
                <a:path w="4816592" h="2719368">
                  <a:moveTo>
                    <a:pt x="0" y="0"/>
                  </a:moveTo>
                  <a:lnTo>
                    <a:pt x="4816592" y="0"/>
                  </a:lnTo>
                  <a:lnTo>
                    <a:pt x="4816592" y="2719368"/>
                  </a:lnTo>
                  <a:lnTo>
                    <a:pt x="0" y="2719368"/>
                  </a:lnTo>
                  <a:close/>
                </a:path>
              </a:pathLst>
            </a:custGeom>
            <a:gradFill rotWithShape="1">
              <a:gsLst>
                <a:gs pos="0">
                  <a:srgbClr val="00E0FF">
                    <a:alpha val="63000"/>
                  </a:srgbClr>
                </a:gs>
                <a:gs pos="100000">
                  <a:srgbClr val="1E53A0">
                    <a:alpha val="63000"/>
                  </a:srgbClr>
                </a:gs>
              </a:gsLst>
              <a:path path="circle">
                <a:fillToRect l="50000" t="50000" r="50000" b="50000"/>
              </a:path>
            </a:gradFill>
          </p:spPr>
          <p:txBody>
            <a:bodyPr/>
            <a:lstStyle/>
            <a:p>
              <a:endParaRPr lang="en-US"/>
            </a:p>
          </p:txBody>
        </p:sp>
        <p:sp>
          <p:nvSpPr>
            <p:cNvPr id="6" name="TextBox 6"/>
            <p:cNvSpPr txBox="1"/>
            <p:nvPr/>
          </p:nvSpPr>
          <p:spPr>
            <a:xfrm>
              <a:off x="0" y="-66675"/>
              <a:ext cx="4816593" cy="2786043"/>
            </a:xfrm>
            <a:prstGeom prst="rect">
              <a:avLst/>
            </a:prstGeom>
          </p:spPr>
          <p:txBody>
            <a:bodyPr lIns="50800" tIns="50800" rIns="50800" bIns="50800" rtlCol="0" anchor="ctr"/>
            <a:lstStyle/>
            <a:p>
              <a:pPr algn="ctr">
                <a:lnSpc>
                  <a:spcPts val="3392"/>
                </a:lnSpc>
              </a:pPr>
              <a:endParaRPr/>
            </a:p>
          </p:txBody>
        </p:sp>
      </p:grpSp>
      <p:sp>
        <p:nvSpPr>
          <p:cNvPr id="7" name="TextBox 7"/>
          <p:cNvSpPr txBox="1"/>
          <p:nvPr/>
        </p:nvSpPr>
        <p:spPr>
          <a:xfrm>
            <a:off x="2999289" y="2869882"/>
            <a:ext cx="8127373" cy="2368868"/>
          </a:xfrm>
          <a:prstGeom prst="rect">
            <a:avLst/>
          </a:prstGeom>
        </p:spPr>
        <p:txBody>
          <a:bodyPr lIns="0" tIns="0" rIns="0" bIns="0" rtlCol="0" anchor="t">
            <a:spAutoFit/>
          </a:bodyPr>
          <a:lstStyle/>
          <a:p>
            <a:pPr algn="ctr">
              <a:lnSpc>
                <a:spcPts val="16586"/>
              </a:lnSpc>
            </a:pPr>
            <a:r>
              <a:rPr lang="en-US" sz="13822" b="1">
                <a:solidFill>
                  <a:srgbClr val="FFFFFF"/>
                </a:solidFill>
                <a:latin typeface="Neo Sans Bold"/>
                <a:ea typeface="Neo Sans Bold"/>
                <a:cs typeface="Neo Sans Bold"/>
                <a:sym typeface="Neo Sans Bold"/>
              </a:rPr>
              <a:t>THANK</a:t>
            </a:r>
          </a:p>
        </p:txBody>
      </p:sp>
      <p:sp>
        <p:nvSpPr>
          <p:cNvPr id="8" name="TextBox 8"/>
          <p:cNvSpPr txBox="1"/>
          <p:nvPr/>
        </p:nvSpPr>
        <p:spPr>
          <a:xfrm>
            <a:off x="9756972" y="2869882"/>
            <a:ext cx="5188840" cy="2368868"/>
          </a:xfrm>
          <a:prstGeom prst="rect">
            <a:avLst/>
          </a:prstGeom>
        </p:spPr>
        <p:txBody>
          <a:bodyPr lIns="0" tIns="0" rIns="0" bIns="0" rtlCol="0" anchor="t">
            <a:spAutoFit/>
          </a:bodyPr>
          <a:lstStyle/>
          <a:p>
            <a:pPr algn="ctr">
              <a:lnSpc>
                <a:spcPts val="16586"/>
              </a:lnSpc>
            </a:pPr>
            <a:r>
              <a:rPr lang="en-US" sz="13822" b="1">
                <a:solidFill>
                  <a:srgbClr val="00FFFF"/>
                </a:solidFill>
                <a:latin typeface="Neo Sans Bold"/>
                <a:ea typeface="Neo Sans Bold"/>
                <a:cs typeface="Neo Sans Bold"/>
                <a:sym typeface="Neo Sans Bold"/>
              </a:rPr>
              <a:t>YOU</a:t>
            </a:r>
          </a:p>
        </p:txBody>
      </p:sp>
      <p:sp>
        <p:nvSpPr>
          <p:cNvPr id="9" name="TextBox 9"/>
          <p:cNvSpPr txBox="1"/>
          <p:nvPr/>
        </p:nvSpPr>
        <p:spPr>
          <a:xfrm>
            <a:off x="8496029" y="8806749"/>
            <a:ext cx="1274721" cy="451551"/>
          </a:xfrm>
          <a:prstGeom prst="rect">
            <a:avLst/>
          </a:prstGeom>
        </p:spPr>
        <p:txBody>
          <a:bodyPr lIns="0" tIns="0" rIns="0" bIns="0" rtlCol="0" anchor="t">
            <a:spAutoFit/>
          </a:bodyPr>
          <a:lstStyle/>
          <a:p>
            <a:pPr algn="ctr">
              <a:lnSpc>
                <a:spcPts val="3461"/>
              </a:lnSpc>
            </a:pPr>
            <a:r>
              <a:rPr lang="en-US" sz="2472" b="1">
                <a:solidFill>
                  <a:srgbClr val="FFFFFF"/>
                </a:solidFill>
                <a:latin typeface="Poppins Bold"/>
                <a:ea typeface="Poppins Bold"/>
                <a:cs typeface="Poppins Bold"/>
                <a:sym typeface="Poppi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3531</Words>
  <Application>Microsoft Office PowerPoint</Application>
  <PresentationFormat>Custom</PresentationFormat>
  <Paragraphs>252</Paragraphs>
  <Slides>49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Neo Sans Bold</vt:lpstr>
      <vt:lpstr>Poppins</vt:lpstr>
      <vt:lpstr>Arial</vt:lpstr>
      <vt:lpstr>Alice</vt:lpstr>
      <vt:lpstr>Calibri</vt:lpstr>
      <vt:lpstr>Poppins Bold</vt:lpstr>
      <vt:lpstr>Neo Sans</vt:lpstr>
      <vt:lpstr>Neo Sans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LTM</dc:title>
  <cp:lastModifiedBy>My Nguyễn</cp:lastModifiedBy>
  <cp:revision>2</cp:revision>
  <dcterms:created xsi:type="dcterms:W3CDTF">2006-08-16T00:00:00Z</dcterms:created>
  <dcterms:modified xsi:type="dcterms:W3CDTF">2026-09-21T12:08:57Z</dcterms:modified>
  <dc:identifier>DAHUsqrG5x8</dc:identifier>
</cp:coreProperties>
</file>